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4</c:v>
                </c:pt>
                <c:pt idx="2">
                  <c:v>7</c:v>
                </c:pt>
                <c:pt idx="3">
                  <c:v>11</c:v>
                </c:pt>
                <c:pt idx="4">
                  <c:v>13</c:v>
                </c:pt>
                <c:pt idx="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001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57500"/>
            <a:ext cx="9525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1" spc="-100">
                <a:solidFill>
                  <a:srgbClr val="141C28"/>
                </a:solidFill>
                <a:latin typeface="IBM Plex Mono"/>
              </a:rPr>
              <a:t>NetBase 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29050"/>
            <a:ext cx="7810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50" b="0">
                <a:solidFill>
                  <a:srgbClr val="54637A"/>
                </a:solidFill>
                <a:latin typeface="IBM Plex Sans"/>
              </a:rPr>
              <a:t>Turning real-time social listening into decisions product teams actually trust.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6057900"/>
            <a:ext cx="103632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229350"/>
            <a:ext cx="2667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57950"/>
            <a:ext cx="2667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Lead Product Designer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0" y="6229350"/>
            <a:ext cx="2667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TIMELINE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0" y="6457950"/>
            <a:ext cx="2667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2019 · 14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6229350"/>
            <a:ext cx="2667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6457950"/>
            <a:ext cx="2667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NetBase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The engagement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098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2050" y="2419350"/>
            <a:ext cx="27051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2686050"/>
            <a:ext cx="27051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Lead Product Designer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2098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9150" y="2419350"/>
            <a:ext cx="27051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2686050"/>
            <a:ext cx="27051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2 designers · 5 eng · 1 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8600" y="22098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6250" y="2419350"/>
            <a:ext cx="27051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0" y="2686050"/>
            <a:ext cx="27051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14 weeks · 2019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195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2050" y="3829050"/>
            <a:ext cx="27051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2050" y="4095750"/>
            <a:ext cx="27051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Responsive web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1500" y="36195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9150" y="3829050"/>
            <a:ext cx="27051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9150" y="4095750"/>
            <a:ext cx="27051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Figma · Maze · Dovetail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600" y="3619500"/>
            <a:ext cx="3200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6250" y="3829050"/>
            <a:ext cx="27051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0" y="4095750"/>
            <a:ext cx="27051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Research → UI →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2875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95450"/>
            <a:ext cx="571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0" b="1" spc="-400">
                <a:solidFill>
                  <a:srgbClr val="42A5F5"/>
                </a:solidFill>
                <a:latin typeface="IBM Plex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33800"/>
            <a:ext cx="952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1" spc="-100">
                <a:solidFill>
                  <a:srgbClr val="141C28"/>
                </a:solidFill>
                <a:latin typeface="IBM Plex Mono"/>
              </a:rPr>
              <a:t>Research &amp;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29150"/>
            <a:ext cx="685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54637A"/>
                </a:solidFill>
                <a:latin typeface="IBM Plex Sans"/>
              </a:rPr>
              <a:t>Eleven analyst interviews and a competitive teardown of the social-listening landscape.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381250"/>
            <a:ext cx="57150" cy="2857500"/>
          </a:xfrm>
          <a:prstGeom prst="rect">
            <a:avLst/>
          </a:prstGeom>
          <a:solidFill>
            <a:srgbClr val="B84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2381250"/>
            <a:ext cx="85725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0">
                <a:solidFill>
                  <a:srgbClr val="141C28"/>
                </a:solidFill>
                <a:latin typeface="IBM Plex Mono"/>
              </a:rPr>
              <a:t>“The redesign didn't just look better — it </a:t>
            </a:r>
            <a:r>
              <a:rPr sz="3300" b="0">
                <a:solidFill>
                  <a:srgbClr val="B8401B"/>
                </a:solidFill>
                <a:latin typeface="IBM Plex Mono"/>
              </a:rPr>
              <a:t>cut our reporting time from a day to an hour.</a:t>
            </a:r>
            <a:r>
              <a:rPr sz="3300" b="0">
                <a:solidFill>
                  <a:srgbClr val="141C28"/>
                </a:solidFill>
                <a:latin typeface="IBM Plex Mono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4476750"/>
            <a:ext cx="666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4637A"/>
                </a:solidFill>
                <a:latin typeface="IBM Plex Mono"/>
              </a:rPr>
              <a:t>— VP of Insights, NetBase Solutions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287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142875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66900"/>
            <a:ext cx="5334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spc="-100">
                <a:solidFill>
                  <a:srgbClr val="141C28"/>
                </a:solidFill>
                <a:latin typeface="IBM Plex Mono"/>
              </a:rPr>
              <a:t>Analysts drowned in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57500"/>
            <a:ext cx="4953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75" b="0">
                <a:solidFill>
                  <a:srgbClr val="54637A"/>
                </a:solidFill>
                <a:latin typeface="IBM Plex Sans"/>
              </a:rPr>
              <a:t>Brand teams tracked millions of conversations a day, but the old dashboard buried the one number that mattered under twelve that didn't.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152900"/>
            <a:ext cx="95250" cy="952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2050" y="4095750"/>
            <a:ext cx="447675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Insights took hours to assemble by hand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91050"/>
            <a:ext cx="95250" cy="952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2050" y="4533900"/>
            <a:ext cx="447675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No shared view between analysts and executives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029200"/>
            <a:ext cx="95250" cy="952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2050" y="4972050"/>
            <a:ext cx="447675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Alerts fired late — after the story had already broken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2250" y="2000250"/>
            <a:ext cx="470535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72250" y="2000250"/>
            <a:ext cx="4705350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0" y="2152650"/>
            <a:ext cx="3619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86780"/>
                </a:solidFill>
                <a:latin typeface="IBM Plex Mono"/>
              </a:rPr>
              <a:t>app.netbase.com /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1800" y="2190750"/>
            <a:ext cx="104775" cy="104775"/>
          </a:xfrm>
          <a:prstGeom prst="roundRect">
            <a:avLst/>
          </a:prstGeom>
          <a:solidFill>
            <a:srgbClr val="F0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72300" y="2190750"/>
            <a:ext cx="104775" cy="104775"/>
          </a:xfrm>
          <a:prstGeom prst="roundRect">
            <a:avLst/>
          </a:prstGeom>
          <a:solidFill>
            <a:srgbClr val="F0D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2800" y="2190750"/>
            <a:ext cx="104775" cy="104775"/>
          </a:xfrm>
          <a:prstGeom prst="roundRect">
            <a:avLst/>
          </a:prstGeom>
          <a:solidFill>
            <a:srgbClr val="C2D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72250" y="2495550"/>
            <a:ext cx="4705350" cy="255270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2250" y="3638550"/>
            <a:ext cx="47053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Replace with screenshot · 16:10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287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142875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66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What the redesign moved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48000"/>
            <a:ext cx="320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150" y="3314700"/>
            <a:ext cx="2628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NEW ENTERPRISE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150" y="3581400"/>
            <a:ext cx="26289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141C28"/>
                </a:solidFill>
                <a:latin typeface="IBM Plex Mono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467225"/>
            <a:ext cx="1714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2E7D32"/>
                </a:solidFill>
                <a:latin typeface="Material Icons"/>
              </a:rPr>
              <a:t>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9700" y="4476750"/>
            <a:ext cx="24193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7D32"/>
                </a:solidFill>
                <a:latin typeface="IBM Plex Sans"/>
              </a:rPr>
              <a:t>first quarter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3048000"/>
            <a:ext cx="320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7250" y="3314700"/>
            <a:ext cx="2628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ACCOUNTS UPGRADED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250" y="3581400"/>
            <a:ext cx="26289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141C28"/>
                </a:solidFill>
                <a:latin typeface="IBM Plex Mono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0" y="4467225"/>
            <a:ext cx="1714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2E7D32"/>
                </a:solidFill>
                <a:latin typeface="Material Icons"/>
              </a:rPr>
              <a:t>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0" y="4476750"/>
            <a:ext cx="24193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7D32"/>
                </a:solidFill>
                <a:latin typeface="IBM Plex Sans"/>
              </a:rPr>
              <a:t>+2 recovered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8600" y="3048000"/>
            <a:ext cx="32004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4350" y="3314700"/>
            <a:ext cx="2628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TASK SUCCESS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4350" y="3581400"/>
            <a:ext cx="26289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141C28"/>
                </a:solidFill>
                <a:latin typeface="IBM Plex Mono"/>
              </a:rPr>
              <a:t>43</a:t>
            </a:r>
            <a:r>
              <a:rPr sz="4200" b="1">
                <a:solidFill>
                  <a:srgbClr val="54637A"/>
                </a:solidFill>
                <a:latin typeface="IBM Plex Mono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4350" y="4476750"/>
            <a:ext cx="26289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up from 19% first-click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001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57500"/>
            <a:ext cx="9525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spc="-100">
                <a:solidFill>
                  <a:srgbClr val="141C28"/>
                </a:solidFill>
                <a:latin typeface="IBM Plex Mono"/>
              </a:rPr>
              <a:t>Let's build the next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05250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565C0"/>
                </a:solidFill>
                <a:latin typeface="Material Icons"/>
              </a:rPr>
              <a:t>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050" y="3905250"/>
            <a:ext cx="4000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565C0"/>
                </a:solidFill>
                <a:latin typeface="IBM Plex Mono"/>
              </a:rPr>
              <a:t>catherine@afocuseddesign.com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6750" y="3905250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1565C0"/>
                </a:solidFill>
                <a:latin typeface="Material Icons"/>
              </a:rPr>
              <a:t>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4400" y="3905250"/>
            <a:ext cx="3429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565C0"/>
                </a:solidFill>
                <a:latin typeface="IBM Plex Mono"/>
              </a:rPr>
              <a:t>afocuseddesign.com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057900"/>
            <a:ext cx="103632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229350"/>
            <a:ext cx="323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57950"/>
            <a:ext cx="3238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Catherine Hicks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1900" y="6229350"/>
            <a:ext cx="323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1900" y="6457950"/>
            <a:ext cx="3238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1">
                <a:solidFill>
                  <a:srgbClr val="141C28"/>
                </a:solidFill>
                <a:latin typeface="IBM Plex Sans"/>
              </a:rPr>
              <a:t>A Focused Design Studio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THE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From cluttered to decisive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52650"/>
            <a:ext cx="95250" cy="95250"/>
          </a:xfrm>
          <a:prstGeom prst="roundRect">
            <a:avLst/>
          </a:prstGeom>
          <a:solidFill>
            <a:srgbClr val="586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3950" y="20955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586780"/>
                </a:solidFill>
                <a:latin typeface="IBM Plex Mono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38400"/>
            <a:ext cx="4705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438400"/>
            <a:ext cx="470535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857500"/>
            <a:ext cx="4705350" cy="196215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5225"/>
            <a:ext cx="47053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Screenshot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53000"/>
            <a:ext cx="47053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Twelve equally-weighted widgets, no clear entry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152650"/>
            <a:ext cx="95250" cy="9525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5550" y="209550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1976D2"/>
                </a:solidFill>
                <a:latin typeface="IBM Plex Mono"/>
              </a:rPr>
              <a:t>AFTER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2438400"/>
            <a:ext cx="470535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0" y="2438400"/>
            <a:ext cx="470535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6000" y="2857500"/>
            <a:ext cx="4705350" cy="196215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0" y="3705225"/>
            <a:ext cx="47053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Screenshot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4953000"/>
            <a:ext cx="47053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One headline metric, drill-down on demand.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905000"/>
            <a:ext cx="53340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905000"/>
            <a:ext cx="5334000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81150" y="2057400"/>
            <a:ext cx="3810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86780"/>
                </a:solidFill>
                <a:latin typeface="IBM Plex Mono"/>
              </a:rPr>
              <a:t>app.netbase.com / compare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00300"/>
            <a:ext cx="5334000" cy="255270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43300"/>
            <a:ext cx="5334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Feature screenshot · 16:10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0" y="2038350"/>
            <a:ext cx="1428750" cy="32385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1800" y="2105025"/>
            <a:ext cx="19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1565C0"/>
                </a:solidFill>
                <a:latin typeface="Material Icons"/>
              </a:rPr>
              <a:t>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0400" y="2114550"/>
            <a:ext cx="1238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100">
                <a:solidFill>
                  <a:srgbClr val="1565C0"/>
                </a:solidFill>
                <a:latin typeface="IBM Plex Mono"/>
              </a:rPr>
              <a:t>FEATURE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2552700"/>
            <a:ext cx="46101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300" b="1" spc="-100">
                <a:solidFill>
                  <a:srgbClr val="141C28"/>
                </a:solidFill>
                <a:latin typeface="IBM Plex Mono"/>
              </a:rPr>
              <a:t>Side-by-side 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7500" y="3543300"/>
            <a:ext cx="447675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75" b="0">
                <a:solidFill>
                  <a:srgbClr val="54637A"/>
                </a:solidFill>
                <a:latin typeface="IBM Plex Sans"/>
              </a:rPr>
              <a:t>Analysts pit up to four brands against each other on the same axes — the feature that closed the most enterprise deals.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7500" y="457200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6100" y="4514850"/>
            <a:ext cx="4381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Drag any metric onto the shared axis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500" y="493395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96100" y="4876800"/>
            <a:ext cx="4381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Snapshot to a shareable report in one 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0" y="529590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6100" y="5238750"/>
            <a:ext cx="43815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Saved comparisons sync across the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1430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11430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HOW WE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8115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Four phases, fourteen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9650" y="3429000"/>
            <a:ext cx="7772400" cy="28575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352800"/>
            <a:ext cx="1905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52850"/>
            <a:ext cx="23050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100">
                <a:solidFill>
                  <a:srgbClr val="1565C0"/>
                </a:solidFill>
                <a:latin typeface="IBM Plex Mono"/>
              </a:rPr>
              <a:t>WEEKS 1–3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81450"/>
            <a:ext cx="23050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05300"/>
            <a:ext cx="2209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11 analyst interviews + competitive teardown.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5200" y="3352800"/>
            <a:ext cx="1905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200" y="3752850"/>
            <a:ext cx="23050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100">
                <a:solidFill>
                  <a:srgbClr val="1565C0"/>
                </a:solidFill>
                <a:latin typeface="IBM Plex Mono"/>
              </a:rPr>
              <a:t>WEEKS 4–6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3981450"/>
            <a:ext cx="23050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5200" y="4305300"/>
            <a:ext cx="2209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IA, job stories, and the new metric hierarchy.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3352800"/>
            <a:ext cx="1905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3752850"/>
            <a:ext cx="23050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100">
                <a:solidFill>
                  <a:srgbClr val="1565C0"/>
                </a:solidFill>
                <a:latin typeface="IBM Plex Mono"/>
              </a:rPr>
              <a:t>WEEKS 7–11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981450"/>
            <a:ext cx="23050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305300"/>
            <a:ext cx="2209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Wireframes → hi-fi, tested in two Maze rounds.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3352800"/>
            <a:ext cx="190500" cy="19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3752850"/>
            <a:ext cx="23050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100">
                <a:solidFill>
                  <a:srgbClr val="1565C0"/>
                </a:solidFill>
                <a:latin typeface="IBM Plex Mono"/>
              </a:rPr>
              <a:t>WEEKS 12–14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981450"/>
            <a:ext cx="23050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05300"/>
            <a:ext cx="22098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Spec, component handoff, and launch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287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142875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OUTCOME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95500"/>
            <a:ext cx="5334000" cy="1238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2050" y="23241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REPORTING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2050" y="2552700"/>
            <a:ext cx="4762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41C28"/>
                </a:solidFill>
                <a:latin typeface="IBM Plex Mono"/>
              </a:rPr>
              <a:t>1</a:t>
            </a:r>
            <a:r>
              <a:rPr sz="3400" b="1">
                <a:solidFill>
                  <a:srgbClr val="54637A"/>
                </a:solidFill>
                <a:latin typeface="IBM Plex Mono"/>
              </a:rPr>
              <a:t> day → 1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038475"/>
            <a:ext cx="1714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2E7D32"/>
                </a:solidFill>
                <a:latin typeface="Material Icons"/>
              </a:rPr>
              <a:t>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480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E7D32"/>
                </a:solidFill>
                <a:latin typeface="IBM Plex Sans"/>
              </a:rPr>
              <a:t>8× faster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24250"/>
            <a:ext cx="5334000" cy="1238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2050" y="375285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586780"/>
                </a:solidFill>
                <a:latin typeface="IBM Plex Mono"/>
              </a:rPr>
              <a:t>NEW ENTERPRISE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3981450"/>
            <a:ext cx="4762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41C28"/>
                </a:solidFill>
                <a:latin typeface="IBM Plex Mono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4467225"/>
            <a:ext cx="1714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2E7D32"/>
                </a:solidFill>
                <a:latin typeface="Material Icons"/>
              </a:rPr>
              <a:t>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7675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E7D32"/>
                </a:solidFill>
                <a:latin typeface="IBM Plex Sans"/>
              </a:rPr>
              <a:t>first two quarters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81250"/>
            <a:ext cx="57150" cy="228600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0" y="2381250"/>
            <a:ext cx="40005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0">
                <a:solidFill>
                  <a:srgbClr val="141C28"/>
                </a:solidFill>
                <a:latin typeface="IBM Plex Mono"/>
              </a:rPr>
              <a:t>“It </a:t>
            </a:r>
            <a:r>
              <a:rPr sz="2700" b="0">
                <a:solidFill>
                  <a:srgbClr val="1976D2"/>
                </a:solidFill>
                <a:latin typeface="IBM Plex Mono"/>
              </a:rPr>
              <a:t>cut our reporting time from a day to an hour.</a:t>
            </a:r>
            <a:r>
              <a:rPr sz="2700" b="0">
                <a:solidFill>
                  <a:srgbClr val="141C28"/>
                </a:solidFill>
                <a:latin typeface="IBM Plex Mono"/>
              </a:rPr>
              <a:t>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0" y="430530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54637A"/>
                </a:solidFill>
                <a:latin typeface="IBM Plex Mono"/>
              </a:rPr>
              <a:t>— VP of Insights, NetBase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One language, every surface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09800"/>
            <a:ext cx="5067300" cy="207645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14675"/>
            <a:ext cx="50673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300" y="2209800"/>
            <a:ext cx="5067300" cy="207645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0300" y="3114675"/>
            <a:ext cx="50673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Compare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14850"/>
            <a:ext cx="5067300" cy="207645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19725"/>
            <a:ext cx="50673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300" y="4514850"/>
            <a:ext cx="5067300" cy="207645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300" y="5419725"/>
            <a:ext cx="50673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Report export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WHO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The insights analyst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09800"/>
            <a:ext cx="2857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85950" y="2514600"/>
            <a:ext cx="914400" cy="91440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5950" y="2781300"/>
            <a:ext cx="914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IBM Plex Mono"/>
              </a:rPr>
              <a:t>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00450"/>
            <a:ext cx="285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41C28"/>
                </a:solidFill>
                <a:latin typeface="IBM Plex Mono"/>
              </a:rPr>
              <a:t>Maya 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0525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Senior Insights Analyst · Global CPG brand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9100" y="2286000"/>
            <a:ext cx="323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100">
                <a:solidFill>
                  <a:srgbClr val="1565C0"/>
                </a:solidFill>
                <a:latin typeface="IBM Plex Mono"/>
              </a:rPr>
              <a:t>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9100" y="2724150"/>
            <a:ext cx="76200" cy="76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9600" y="26670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Spot a trend before the news cycle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9100" y="3238500"/>
            <a:ext cx="76200" cy="76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18135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Ship a board-ready read by Monday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29100" y="3752850"/>
            <a:ext cx="76200" cy="76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9600" y="36957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Defend every number with a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8600" y="2286000"/>
            <a:ext cx="3238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100">
                <a:solidFill>
                  <a:srgbClr val="1565C0"/>
                </a:solidFill>
                <a:latin typeface="IBM Plex Mono"/>
              </a:rPr>
              <a:t>FRUSTRATIONS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48600" y="2724150"/>
            <a:ext cx="76200" cy="76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9100" y="26670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Rebuilds the same report every week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48600" y="3238500"/>
            <a:ext cx="76200" cy="76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39100" y="318135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Exports break formatting in the deck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8600" y="3752850"/>
            <a:ext cx="76200" cy="76200"/>
          </a:xfrm>
          <a:prstGeom prst="rect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9100" y="3695700"/>
            <a:ext cx="3048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Alerts arrive after the moment passes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9525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Three findings that shaped everything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81250"/>
            <a:ext cx="1433512" cy="3429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5850" y="2457450"/>
            <a:ext cx="1433512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100">
                <a:solidFill>
                  <a:srgbClr val="1565C0"/>
                </a:solidFill>
                <a:latin typeface="IBM Plex Mono"/>
              </a:rPr>
              <a:t>11 interviews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2212" y="2381250"/>
            <a:ext cx="2000250" cy="3429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662" y="2457450"/>
            <a:ext cx="2000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100">
                <a:solidFill>
                  <a:srgbClr val="1565C0"/>
                </a:solidFill>
                <a:latin typeface="IBM Plex Mono"/>
              </a:rPr>
              <a:t>15-platform teardown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6762" y="2381250"/>
            <a:ext cx="2162175" cy="3429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8212" y="2457450"/>
            <a:ext cx="2162175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100">
                <a:solidFill>
                  <a:srgbClr val="1565C0"/>
                </a:solidFill>
                <a:latin typeface="IBM Plex Mono"/>
              </a:rPr>
              <a:t>First-click test · n=9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38500"/>
            <a:ext cx="57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42A5F5"/>
                </a:solidFill>
                <a:latin typeface="IBM Plex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3238500"/>
            <a:ext cx="4191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Analysts trusted a number only when they could see its source in one click.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0" y="3238500"/>
            <a:ext cx="57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42A5F5"/>
                </a:solidFill>
                <a:latin typeface="IBM Plex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6550" y="3238500"/>
            <a:ext cx="4191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The weekly report was rebuilt by hand — the same steps, every single Monday.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76750"/>
            <a:ext cx="57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42A5F5"/>
                </a:solidFill>
                <a:latin typeface="IBM Plex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4476750"/>
            <a:ext cx="4191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Executives wanted one headline, not a wall of equally-weighted widgets.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476750"/>
            <a:ext cx="571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42A5F5"/>
                </a:solidFill>
                <a:latin typeface="IBM Plex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6550" y="4476750"/>
            <a:ext cx="4191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Late alerts were worse than none — they arrived after the story had broken.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66800"/>
            <a:ext cx="74295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spc="-100">
                <a:solidFill>
                  <a:srgbClr val="141C28"/>
                </a:solidFill>
                <a:latin typeface="IBM Plex Mono"/>
              </a:rPr>
              <a:t>Make the one number that matters impossible to miss.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43300"/>
            <a:ext cx="32004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543300"/>
            <a:ext cx="57150" cy="14287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37719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1565C0"/>
                </a:solidFill>
                <a:latin typeface="IBM Plex Mono"/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057650"/>
            <a:ext cx="27813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 b="0">
                <a:solidFill>
                  <a:srgbClr val="141C28"/>
                </a:solidFill>
                <a:latin typeface="IBM Plex Sans"/>
              </a:rPr>
              <a:t>Cut weekly reporting from a day to under an hour.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543300"/>
            <a:ext cx="32004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3543300"/>
            <a:ext cx="57150" cy="14287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37719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1565C0"/>
                </a:solidFill>
                <a:latin typeface="IBM Plex Mono"/>
              </a:rPr>
              <a:t>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4057650"/>
            <a:ext cx="27813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 b="0">
                <a:solidFill>
                  <a:srgbClr val="141C28"/>
                </a:solidFill>
                <a:latin typeface="IBM Plex Sans"/>
              </a:rPr>
              <a:t>Every metric traceable to its source in one click.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543300"/>
            <a:ext cx="32004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543300"/>
            <a:ext cx="57150" cy="14287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9100" y="37719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75" b="0" spc="200">
                <a:solidFill>
                  <a:srgbClr val="1565C0"/>
                </a:solidFill>
                <a:latin typeface="IBM Plex Mono"/>
              </a:rPr>
              <a:t>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9100" y="4057650"/>
            <a:ext cx="27813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25" b="0">
                <a:solidFill>
                  <a:srgbClr val="141C28"/>
                </a:solidFill>
                <a:latin typeface="IBM Plex Sans"/>
              </a:rPr>
              <a:t>Win 10+ enterprise accounts in two quarters.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WHAT I DESIGNED AGAINST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Three principles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1100" y="2571750"/>
            <a:ext cx="438150" cy="43815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571750"/>
            <a:ext cx="4381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1976D2"/>
                </a:solidFill>
                <a:latin typeface="Material Icons"/>
              </a:rPr>
              <a:t>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2194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Signal over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638550"/>
            <a:ext cx="2743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Every screen answers one question first. Everything else earns its place or gets cut.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1500" y="2286000"/>
            <a:ext cx="32004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48200" y="2571750"/>
            <a:ext cx="438150" cy="43815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8200" y="2571750"/>
            <a:ext cx="4381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1976D2"/>
                </a:solidFill>
                <a:latin typeface="Material Icons"/>
              </a:rPr>
              <a:t>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32194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Trust every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3638550"/>
            <a:ext cx="2743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No metric appears without a one-click path to the data behind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8600" y="2286000"/>
            <a:ext cx="32004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15300" y="2571750"/>
            <a:ext cx="438150" cy="43815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5300" y="2571750"/>
            <a:ext cx="4381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1976D2"/>
                </a:solidFill>
                <a:latin typeface="Material Icons"/>
              </a:rPr>
              <a:t>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5300" y="32194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Fast by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300" y="3638550"/>
            <a:ext cx="27432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The common read takes zero setup. Depth is available, never required.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HOW WE APPROACHED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Three moves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1100" y="2590800"/>
            <a:ext cx="95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42A5F5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9908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Cut to one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409950"/>
            <a:ext cx="27432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Chose a single headline number per view and demoted the rest to drill-downs.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500" y="2286000"/>
            <a:ext cx="32004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8200" y="2590800"/>
            <a:ext cx="95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42A5F5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29908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Source on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409950"/>
            <a:ext cx="27432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Attached a traceable data path to every figure, one click away.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48600" y="2286000"/>
            <a:ext cx="3200400" cy="2400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5300" y="2590800"/>
            <a:ext cx="952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42A5F5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5300" y="2990850"/>
            <a:ext cx="2762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Alert in real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5300" y="3409950"/>
            <a:ext cx="27432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Moved notifications from nightly batch to the moment a threshold breaks.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171700"/>
            <a:ext cx="57150" cy="2381250"/>
          </a:xfrm>
          <a:prstGeom prst="rect">
            <a:avLst/>
          </a:prstGeom>
          <a:solidFill>
            <a:srgbClr val="B84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2171700"/>
            <a:ext cx="6858000" cy="180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0">
                <a:solidFill>
                  <a:srgbClr val="141C28"/>
                </a:solidFill>
                <a:latin typeface="IBM Plex Mono"/>
              </a:rPr>
              <a:t>“She turned a wall of dashboards into something my whole team actually reads on Monday morning.”</a:t>
            </a:r>
          </a:p>
        </p:txBody>
      </p:sp>
      <p:sp>
        <p:nvSpPr>
          <p:cNvPr id="5" name="Oval 4"/>
          <p:cNvSpPr/>
          <p:nvPr/>
        </p:nvSpPr>
        <p:spPr>
          <a:xfrm>
            <a:off x="1295400" y="4305300"/>
            <a:ext cx="647700" cy="64770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400" y="4476750"/>
            <a:ext cx="6477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FFFFF"/>
                </a:solidFill>
                <a:latin typeface="IBM Plex Mono"/>
              </a:rPr>
              <a:t>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4343400"/>
            <a:ext cx="4762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41C28"/>
                </a:solidFill>
                <a:latin typeface="IBM Plex Sans"/>
              </a:rPr>
              <a:t>Derek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3600" y="462915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4637A"/>
                </a:solidFill>
                <a:latin typeface="IBM Plex Sans"/>
              </a:rPr>
              <a:t>VP of Insights · NetBase Solutions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spc="-100">
                <a:solidFill>
                  <a:srgbClr val="141C28"/>
                </a:solidFill>
                <a:latin typeface="IBM Plex Mono"/>
              </a:rPr>
              <a:t>Enterprise seats, first two quarters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57250" y="2381250"/>
          <a:ext cx="66675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24800" y="3067050"/>
            <a:ext cx="3429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1976D2"/>
                </a:solidFill>
                <a:latin typeface="IBM Plex Mono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800" y="3829050"/>
            <a:ext cx="3238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4637A"/>
                </a:solidFill>
                <a:latin typeface="IBM Plex Sans"/>
              </a:rPr>
              <a:t>new enterprise accounts by end of Q2 — 8 of them upgrades from the free tier.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WHERE WE COULD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The competitive gap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324100"/>
          <a:ext cx="103632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/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586780"/>
                          </a:solidFill>
                          <a:latin typeface="IBM Plex Mono"/>
                        </a:rPr>
                        <a:t>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86780"/>
                          </a:solidFill>
                          <a:latin typeface="IBM Plex Mono"/>
                        </a:rPr>
                        <a:t>Real-time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86780"/>
                          </a:solidFill>
                          <a:latin typeface="IBM Plex Mono"/>
                        </a:rPr>
                        <a:t>Compare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86780"/>
                          </a:solidFill>
                          <a:latin typeface="IBM Plex Mono"/>
                        </a:rPr>
                        <a:t>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586780"/>
                          </a:solidFill>
                          <a:latin typeface="IBM Plex Mono"/>
                        </a:rPr>
                        <a:t>Analyst-ready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565C0"/>
                          </a:solidFill>
                          <a:latin typeface="IBM Plex Mono"/>
                        </a:rPr>
                        <a:t>NetBase Pro</a:t>
                      </a:r>
                    </a:p>
                  </a:txBody>
                  <a:tcPr anchor="ctr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4F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4F8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1C28"/>
                          </a:solidFill>
                          <a:latin typeface="IBM Plex Mono"/>
                        </a:rPr>
                        <a:t>Brandwatch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F6C00"/>
                          </a:solidFill>
                          <a:latin typeface="Material Icons"/>
                        </a:rPr>
                        <a:t>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C4D3E6"/>
                          </a:solidFill>
                          <a:latin typeface="Material Icons"/>
                        </a:rPr>
                        <a:t>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1C28"/>
                          </a:solidFill>
                          <a:latin typeface="IBM Plex Mono"/>
                        </a:rPr>
                        <a:t>Sprinklr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F6C00"/>
                          </a:solidFill>
                          <a:latin typeface="Material Icons"/>
                        </a:rPr>
                        <a:t>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C4D3E6"/>
                          </a:solidFill>
                          <a:latin typeface="Material Icons"/>
                        </a:rPr>
                        <a:t>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F6C00"/>
                          </a:solidFill>
                          <a:latin typeface="Material Icons"/>
                        </a:rPr>
                        <a:t>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41C28"/>
                          </a:solidFill>
                          <a:latin typeface="IBM Plex Mono"/>
                        </a:rPr>
                        <a:t>Talkwalker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2E7D32"/>
                          </a:solidFill>
                          <a:latin typeface="Material Icons"/>
                        </a:rPr>
                        <a:t>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C4D3E6"/>
                          </a:solidFill>
                          <a:latin typeface="Material Icons"/>
                        </a:rPr>
                        <a:t>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EF6C00"/>
                          </a:solidFill>
                          <a:latin typeface="Material Icons"/>
                        </a:rPr>
                        <a:t>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C4D3E6"/>
                          </a:solidFill>
                          <a:latin typeface="Material Icons"/>
                        </a:rPr>
                        <a:t>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9144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THE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One flow, end to 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29000"/>
            <a:ext cx="17335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38550"/>
            <a:ext cx="1733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2A5F5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8100"/>
            <a:ext cx="1733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C28"/>
                </a:solidFill>
                <a:latin typeface="IBM Plex Mono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4171950"/>
            <a:ext cx="1428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54637A"/>
                </a:solidFill>
                <a:latin typeface="IBM Plex Sans"/>
              </a:rPr>
              <a:t>Pick a template or start blank.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7950" y="4019550"/>
            <a:ext cx="4191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42A5F5"/>
                </a:solidFill>
                <a:latin typeface="Material Icons"/>
              </a:rPr>
              <a:t>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7050" y="3429000"/>
            <a:ext cx="17335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7050" y="3638550"/>
            <a:ext cx="1733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2A5F5"/>
                </a:solidFill>
                <a:latin typeface="IBM Plex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7050" y="3848100"/>
            <a:ext cx="1733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C28"/>
                </a:solidFill>
                <a:latin typeface="IBM Plex Mono"/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9450" y="4171950"/>
            <a:ext cx="1428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54637A"/>
                </a:solidFill>
                <a:latin typeface="IBM Plex Sans"/>
              </a:rPr>
              <a:t>Set metrics, axes, and thresholds.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4019550"/>
            <a:ext cx="4191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42A5F5"/>
                </a:solidFill>
                <a:latin typeface="Material Icons"/>
              </a:rPr>
              <a:t>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9700" y="3429000"/>
            <a:ext cx="17335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9700" y="3638550"/>
            <a:ext cx="1733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2A5F5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700" y="3848100"/>
            <a:ext cx="1733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C28"/>
                </a:solidFill>
                <a:latin typeface="IBM Plex Mono"/>
              </a:rPr>
              <a:t>Preview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2100" y="4171950"/>
            <a:ext cx="1428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54637A"/>
                </a:solidFill>
                <a:latin typeface="IBM Plex Sans"/>
              </a:rPr>
              <a:t>See the live read before you share.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0" y="4019550"/>
            <a:ext cx="4191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42A5F5"/>
                </a:solidFill>
                <a:latin typeface="Material Icons"/>
              </a:rPr>
              <a:t>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2350" y="3429000"/>
            <a:ext cx="17335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2350" y="3638550"/>
            <a:ext cx="1733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2A5F5"/>
                </a:solidFill>
                <a:latin typeface="IBM Plex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2350" y="3848100"/>
            <a:ext cx="1733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C28"/>
                </a:solidFill>
                <a:latin typeface="IBM Plex Mono"/>
              </a:rPr>
              <a:t>Distribute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0" y="4171950"/>
            <a:ext cx="1428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54637A"/>
                </a:solidFill>
                <a:latin typeface="IBM Plex Sans"/>
              </a:rPr>
              <a:t>Share, schedule, or set alerts.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5900" y="4019550"/>
            <a:ext cx="4191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0">
                <a:solidFill>
                  <a:srgbClr val="42A5F5"/>
                </a:solidFill>
                <a:latin typeface="Material Icons"/>
              </a:rPr>
              <a:t>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5000" y="3429000"/>
            <a:ext cx="173355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5000" y="3638550"/>
            <a:ext cx="17335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42A5F5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0" y="3848100"/>
            <a:ext cx="17335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C28"/>
                </a:solidFill>
                <a:latin typeface="IBM Plex Mono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400" y="4171950"/>
            <a:ext cx="142875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>
                <a:solidFill>
                  <a:srgbClr val="54637A"/>
                </a:solidFill>
                <a:latin typeface="IBM Plex Sans"/>
              </a:rPr>
              <a:t>Monitor and iterate over time.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WHO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Three people, one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32004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1100" y="2571750"/>
            <a:ext cx="609600" cy="60960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724150"/>
            <a:ext cx="609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Mono"/>
              </a:rPr>
              <a:t>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3333750"/>
            <a:ext cx="2762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41C28"/>
                </a:solidFill>
                <a:latin typeface="IBM Plex Mono"/>
              </a:rPr>
              <a:t>Maya ·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3619500"/>
            <a:ext cx="2762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Lives in the data all 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1100" y="3943350"/>
            <a:ext cx="26670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1100" y="4057650"/>
            <a:ext cx="2743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41C28"/>
                </a:solidFill>
                <a:latin typeface="IBM Plex Sans"/>
              </a:rPr>
              <a:t>Needs to ship a board-ready read by Monday.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1500" y="2286000"/>
            <a:ext cx="32004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48200" y="2571750"/>
            <a:ext cx="609600" cy="60960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8200" y="2724150"/>
            <a:ext cx="609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Mono"/>
              </a:rPr>
              <a:t>TK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333750"/>
            <a:ext cx="2762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41C28"/>
                </a:solidFill>
                <a:latin typeface="IBM Plex Mono"/>
              </a:rPr>
              <a:t>Theo · Executive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3619500"/>
            <a:ext cx="2762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Has 30 seconds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8200" y="3943350"/>
            <a:ext cx="26670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8200" y="4057650"/>
            <a:ext cx="2743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41C28"/>
                </a:solidFill>
                <a:latin typeface="IBM Plex Sans"/>
              </a:rPr>
              <a:t>Needs to one headline he can trust.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48600" y="2286000"/>
            <a:ext cx="3200400" cy="2381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15300" y="2571750"/>
            <a:ext cx="609600" cy="609600"/>
          </a:xfrm>
          <a:prstGeom prst="ellipse">
            <a:avLst/>
          </a:prstGeom>
          <a:solidFill>
            <a:srgbClr val="42A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5300" y="2724150"/>
            <a:ext cx="6096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IBM Plex Mono"/>
              </a:rPr>
              <a:t>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5300" y="3333750"/>
            <a:ext cx="27622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41C28"/>
                </a:solidFill>
                <a:latin typeface="IBM Plex Mono"/>
              </a:rPr>
              <a:t>Sana · Strategist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5300" y="3619500"/>
            <a:ext cx="27622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Plans the next quarter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5300" y="3943350"/>
            <a:ext cx="26670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5300" y="4057650"/>
            <a:ext cx="2743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41C28"/>
                </a:solidFill>
                <a:latin typeface="IBM Plex Sans"/>
              </a:rPr>
              <a:t>Needs to spot a trend before the news cycle.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Where this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38750" y="2247900"/>
            <a:ext cx="1714500" cy="457200"/>
          </a:xfrm>
          <a:prstGeom prst="round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8750" y="23812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IBM Plex Mono"/>
              </a:rPr>
              <a:t>NetBase Pro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6475" y="2705100"/>
            <a:ext cx="19050" cy="285750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7750" y="3143250"/>
            <a:ext cx="247650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750" y="3257550"/>
            <a:ext cx="247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41C28"/>
                </a:solidFill>
                <a:latin typeface="IBM Plex Mono"/>
              </a:rPr>
              <a:t>Monitor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750" y="3733800"/>
            <a:ext cx="571500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750" y="3810000"/>
            <a:ext cx="571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Feed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5450" y="3733800"/>
            <a:ext cx="742950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5450" y="3810000"/>
            <a:ext cx="742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Alerts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95700" y="3143250"/>
            <a:ext cx="247650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5700" y="3257550"/>
            <a:ext cx="247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565C0"/>
                </a:solidFill>
                <a:latin typeface="IBM Plex Mono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8350" y="3219450"/>
            <a:ext cx="1905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976D2"/>
                </a:solidFill>
                <a:latin typeface="Material Icons"/>
              </a:rPr>
              <a:t>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95700" y="3733800"/>
            <a:ext cx="914400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5700" y="3810000"/>
            <a:ext cx="914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Overview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6300" y="3733800"/>
            <a:ext cx="828675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6300" y="3810000"/>
            <a:ext cx="828675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Compare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1175" y="3733800"/>
            <a:ext cx="828675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1175" y="3810000"/>
            <a:ext cx="828675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3650" y="3143250"/>
            <a:ext cx="247650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3650" y="3257550"/>
            <a:ext cx="247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41C28"/>
                </a:solidFill>
                <a:latin typeface="IBM Plex Mono"/>
              </a:rPr>
              <a:t>Explore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43650" y="3733800"/>
            <a:ext cx="742950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3650" y="3810000"/>
            <a:ext cx="742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62800" y="3733800"/>
            <a:ext cx="914400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62800" y="3810000"/>
            <a:ext cx="914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Segments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91600" y="3143250"/>
            <a:ext cx="2476500" cy="419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91600" y="3257550"/>
            <a:ext cx="2476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41C28"/>
                </a:solidFill>
                <a:latin typeface="IBM Plex Mono"/>
              </a:rPr>
              <a:t>Admin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91600" y="3733800"/>
            <a:ext cx="571500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91600" y="3810000"/>
            <a:ext cx="571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Team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39300" y="3733800"/>
            <a:ext cx="828675" cy="304800"/>
          </a:xfrm>
          <a:prstGeom prst="roundRect">
            <a:avLst/>
          </a:prstGeom>
          <a:solidFill>
            <a:srgbClr val="F4F8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39300" y="3810000"/>
            <a:ext cx="828675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4637A"/>
                </a:solidFill>
                <a:latin typeface="IBM Plex Mono"/>
              </a:rPr>
              <a:t>Billing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WHAT I TOOK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Three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2343150"/>
            <a:ext cx="3238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0">
                <a:solidFill>
                  <a:srgbClr val="1976D2"/>
                </a:solidFill>
                <a:latin typeface="Material Icons"/>
              </a:rPr>
              <a:t>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57500"/>
            <a:ext cx="285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Subtraction is the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43300"/>
            <a:ext cx="2857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The biggest usability win came from what we removed, not what we added.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2450" y="2343150"/>
            <a:ext cx="3238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0">
                <a:solidFill>
                  <a:srgbClr val="1976D2"/>
                </a:solidFill>
                <a:latin typeface="Material Icons"/>
              </a:rPr>
              <a:t>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2857500"/>
            <a:ext cx="285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Trust is a UI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3543300"/>
            <a:ext cx="2857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People believe a number when they can reach its source — proximity beats persuasion.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9550" y="2343150"/>
            <a:ext cx="3238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0">
                <a:solidFill>
                  <a:srgbClr val="1976D2"/>
                </a:solidFill>
                <a:latin typeface="Material Icons"/>
              </a:rPr>
              <a:t>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857500"/>
            <a:ext cx="285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141C28"/>
                </a:solidFill>
                <a:latin typeface="IBM Plex Mono"/>
              </a:rPr>
              <a:t>Timing is a design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3543300"/>
            <a:ext cx="2857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Moving alerts earlier changed the product's value more than any layout choice.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62050"/>
            <a:ext cx="60960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>
                <a:solidFill>
                  <a:srgbClr val="141C28"/>
                </a:solidFill>
                <a:latin typeface="IBM Plex Mono"/>
              </a:rPr>
              <a:t>Analysts will trust the new dashboard because </a:t>
            </a:r>
            <a:r>
              <a:rPr sz="3000" b="0">
                <a:solidFill>
                  <a:srgbClr val="1976D2"/>
                </a:solidFill>
                <a:latin typeface="IBM Plex Mono"/>
              </a:rPr>
              <a:t>every number links to its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857250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57150" cy="1428750"/>
          </a:xfrm>
          <a:prstGeom prst="rect">
            <a:avLst/>
          </a:prstGeom>
          <a:solidFill>
            <a:srgbClr val="B84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3886200"/>
            <a:ext cx="8096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200">
                <a:solidFill>
                  <a:srgbClr val="B8401B"/>
                </a:solidFill>
                <a:latin typeface="IBM Plex Mono"/>
              </a:rPr>
              <a:t>THE UNTESTED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152900"/>
            <a:ext cx="8001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41C28"/>
                </a:solidFill>
                <a:latin typeface="IBM Plex Sans"/>
              </a:rPr>
              <a:t>Baked into that sentence: that a faster read matters more to them than the depth they'd lose. We hadn't earned it by asking anyone — so we flagged it before drawing.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733550"/>
            <a:ext cx="571500" cy="571500"/>
          </a:xfrm>
          <a:prstGeom prst="roundRect">
            <a:avLst/>
          </a:prstGeom>
          <a:solidFill>
            <a:srgbClr val="F6E4DC"/>
          </a:solidFill>
          <a:ln w="12700">
            <a:solidFill>
              <a:srgbClr val="E6C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3550"/>
            <a:ext cx="571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B8401B"/>
                </a:solidFill>
                <a:latin typeface="Material Icons"/>
              </a:rPr>
              <a:t>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527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B8401B"/>
                </a:solidFill>
                <a:latin typeface="IBM Plex Mono"/>
              </a:rPr>
              <a:t>THE REAL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57500"/>
            <a:ext cx="4953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spc="-100">
                <a:solidFill>
                  <a:srgbClr val="141C28"/>
                </a:solidFill>
                <a:latin typeface="IBM Plex Mono"/>
              </a:rPr>
              <a:t>Everything had to run on the live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10000"/>
            <a:ext cx="43815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4637A"/>
                </a:solidFill>
                <a:latin typeface="IBM Plex Sans"/>
              </a:rPr>
              <a:t>No nightly batch to lean on — every view had to render off a pipeline that refreshed every 90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18097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586780"/>
                </a:solidFill>
                <a:latin typeface="IBM Plex Mono"/>
              </a:rPr>
              <a:t>HOW IT RESHAPED THE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2209800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B8401B"/>
                </a:solidFill>
                <a:latin typeface="Material Icons"/>
              </a:rPr>
              <a:t>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2228850"/>
            <a:ext cx="4381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Designed loading &amp; partial states into every screen, not as an afterthought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086100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B8401B"/>
                </a:solidFill>
                <a:latin typeface="Material Icons"/>
              </a:rPr>
              <a:t>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5150" y="3105150"/>
            <a:ext cx="4381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Capped the historical range so live queries stayed fast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962400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B8401B"/>
                </a:solidFill>
                <a:latin typeface="Material Icons"/>
              </a:rPr>
              <a:t>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3981450"/>
            <a:ext cx="43815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Scoped v1 to the three highest-traffic views; deferred custom widgets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The honest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857500"/>
            <a:ext cx="50292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857500"/>
            <a:ext cx="5029200" cy="476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200" y="3190875"/>
            <a:ext cx="1714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1565C0"/>
                </a:solidFill>
                <a:latin typeface="Material Icons"/>
              </a:rPr>
              <a:t>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3200400"/>
            <a:ext cx="438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200">
                <a:solidFill>
                  <a:srgbClr val="1565C0"/>
                </a:solidFill>
                <a:latin typeface="IBM Plex Mono"/>
              </a:rPr>
              <a:t>THE MEASURE THAT MATTERED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543300"/>
            <a:ext cx="44767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141C28"/>
                </a:solidFill>
                <a:latin typeface="IBM Plex Sans"/>
              </a:rPr>
              <a:t>Feature adoption — would teams build their weekly read here instead of exporting to a slide?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400" y="2857500"/>
            <a:ext cx="5029200" cy="2095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400" y="2857500"/>
            <a:ext cx="5029200" cy="4762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200" y="3190875"/>
            <a:ext cx="1714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2E7D32"/>
                </a:solidFill>
                <a:latin typeface="Material Icons"/>
              </a:rPr>
              <a:t>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2750" y="3200400"/>
            <a:ext cx="438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200">
                <a:solidFill>
                  <a:srgbClr val="2E7D32"/>
                </a:solidFill>
                <a:latin typeface="IBM Plex Mono"/>
              </a:rPr>
              <a:t>WHAT IT ACTUALLY PRODUCED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543300"/>
            <a:ext cx="447675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141C28"/>
                </a:solidFill>
                <a:latin typeface="IBM Plex Sans"/>
              </a:rPr>
              <a:t>A scoped, constraint-aware concept the team could pick up and build — a one-line prompt turned buildable.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BEFORE I DESIGNED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8572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I checked the premise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24100"/>
            <a:ext cx="3238500" cy="2324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28850" y="2628900"/>
            <a:ext cx="609600" cy="609600"/>
          </a:xfrm>
          <a:prstGeom prst="ellipse">
            <a:avLst/>
          </a:prstGeom>
          <a:solidFill>
            <a:srgbClr val="E3F0E4"/>
          </a:solidFill>
          <a:ln>
            <a:solidFill>
              <a:srgbClr val="BCDC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8850" y="262890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0">
                <a:solidFill>
                  <a:srgbClr val="2E7D32"/>
                </a:solidFill>
                <a:latin typeface="Material Icons"/>
              </a:rPr>
              <a:t>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90900"/>
            <a:ext cx="3238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141C28"/>
                </a:solidFill>
                <a:latin typeface="IBM Plex Mono"/>
              </a:rPr>
              <a:t>5 analysts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695700"/>
            <a:ext cx="2857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>
                <a:solidFill>
                  <a:srgbClr val="54637A"/>
                </a:solidFill>
                <a:latin typeface="IBM Plex Sans"/>
              </a:rPr>
              <a:t>across 3 accounts, before a single wireframe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2381250"/>
            <a:ext cx="3810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1565C0"/>
                </a:solidFill>
                <a:latin typeface="IBM Plex Mono"/>
              </a:rPr>
              <a:t>WHAT THEY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250" y="275272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E7D32"/>
                </a:solidFill>
                <a:latin typeface="Material Icons"/>
              </a:rPr>
              <a:t>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0" y="2762250"/>
            <a:ext cx="590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The source-of-truth problem was real — trust broke without a traceable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250" y="334327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E7D32"/>
                </a:solidFill>
                <a:latin typeface="Material Icons"/>
              </a:rPr>
              <a:t>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3352800"/>
            <a:ext cx="590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Speed beat customization for the daily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0" y="393382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>
                <a:solidFill>
                  <a:srgbClr val="2E7D32"/>
                </a:solidFill>
                <a:latin typeface="Material Icons"/>
              </a:rPr>
              <a:t>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3000" y="3943350"/>
            <a:ext cx="59055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Late alerts were the most-wanted gap, not a nice-to-have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6800"/>
            <a:ext cx="85725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How to use this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4500"/>
            <a:ext cx="8382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4637A"/>
                </a:solidFill>
                <a:latin typeface="IBM Plex Sans"/>
              </a:rPr>
              <a:t>Every slide is a finished 16:9 template. Duplicate the one you need, replace the placeholder text and image slots, and you have a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52700"/>
            <a:ext cx="50292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52700"/>
            <a:ext cx="5029200" cy="476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2857500"/>
            <a:ext cx="438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200">
                <a:solidFill>
                  <a:srgbClr val="1565C0"/>
                </a:solidFill>
                <a:latin typeface="IBM Plex Mono"/>
              </a:rPr>
              <a:t>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22897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976D2"/>
                </a:solidFill>
                <a:latin typeface="Material Icons"/>
              </a:rPr>
              <a:t>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4950" y="323850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Duplicate the slide you need and type over the placeholders.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74332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976D2"/>
                </a:solidFill>
                <a:latin typeface="Material Icons"/>
              </a:rPr>
              <a:t>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4950" y="375285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Keep one idea per slide — a third bullet often wants its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25767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976D2"/>
                </a:solidFill>
                <a:latin typeface="Material Icons"/>
              </a:rPr>
              <a:t>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4950" y="426720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Use the signal accent for a single emphasis per slide.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200" y="477202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1976D2"/>
                </a:solidFill>
                <a:latin typeface="Material Icons"/>
              </a:rPr>
              <a:t>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4950" y="478155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Keep body text readable from the back of the room.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400" y="2552700"/>
            <a:ext cx="502920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8400" y="2552700"/>
            <a:ext cx="5029200" cy="47625"/>
          </a:xfrm>
          <a:prstGeom prst="rect">
            <a:avLst/>
          </a:prstGeom>
          <a:solidFill>
            <a:srgbClr val="B84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2250" y="2857500"/>
            <a:ext cx="438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spc="200">
                <a:solidFill>
                  <a:srgbClr val="B8401B"/>
                </a:solidFill>
                <a:latin typeface="IBM Plex Mono"/>
              </a:rPr>
              <a:t>DON'T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22897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B8401B"/>
                </a:solidFill>
                <a:latin typeface="Material Icons"/>
              </a:rPr>
              <a:t>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8950" y="323850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Rebuild a layout from scratch — start from a template.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374332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B8401B"/>
                </a:solidFill>
                <a:latin typeface="Material Icons"/>
              </a:rPr>
              <a:t>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8950" y="375285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Restyle the colors, fonts, or spacing; consistency is the 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425767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B8401B"/>
                </a:solidFill>
                <a:latin typeface="Material Icons"/>
              </a:rPr>
              <a:t>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8950" y="426720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Shrink text to cram more on — cut the content instead.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772025"/>
            <a:ext cx="20955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B8401B"/>
                </a:solidFill>
                <a:latin typeface="Material Icons"/>
              </a:rPr>
              <a:t>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8950" y="4781550"/>
            <a:ext cx="413385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Paint the whole slide in the accent color.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68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spc="-100">
                <a:solidFill>
                  <a:srgbClr val="141C28"/>
                </a:solidFill>
                <a:latin typeface="IBM Plex Mono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09800"/>
            <a:ext cx="47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2A5F5"/>
                </a:solidFill>
                <a:latin typeface="IBM Plex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800" y="2190750"/>
            <a:ext cx="4286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565C0"/>
                </a:solidFill>
                <a:latin typeface="IBM Plex Mono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7800" y="24955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The problem, the client, and my role.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86100"/>
            <a:ext cx="4800600" cy="4762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0" y="2209800"/>
            <a:ext cx="47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2A5F5"/>
                </a:solidFill>
                <a:latin typeface="IBM Plex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190750"/>
            <a:ext cx="4286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C28"/>
                </a:solidFill>
                <a:latin typeface="IBM Plex Mono"/>
              </a:rP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1800" y="24955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Who we talked to and what we learned.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8400" y="3086100"/>
            <a:ext cx="48006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7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2A5F5"/>
                </a:solidFill>
                <a:latin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7800" y="3409950"/>
            <a:ext cx="4286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C28"/>
                </a:solidFill>
                <a:latin typeface="IBM Plex Mono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7800" y="37147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The decisions that shaped the design.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05300"/>
            <a:ext cx="48006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0" y="3429000"/>
            <a:ext cx="47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2A5F5"/>
                </a:solidFill>
                <a:latin typeface="IBM Plex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3409950"/>
            <a:ext cx="4286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C28"/>
                </a:solidFill>
                <a:latin typeface="IBM Plex Mono"/>
              </a:rPr>
              <a:t>The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7147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Key screens and features up close.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4305300"/>
            <a:ext cx="48006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48200"/>
            <a:ext cx="47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2A5F5"/>
                </a:solidFill>
                <a:latin typeface="IBM Plex Mon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4629150"/>
            <a:ext cx="4286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C28"/>
                </a:solidFill>
                <a:latin typeface="IBM Plex Mono"/>
              </a:rPr>
              <a:t>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7800" y="49339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What changed, and how we know.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24500"/>
            <a:ext cx="48006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648200"/>
            <a:ext cx="47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42A5F5"/>
                </a:solidFill>
                <a:latin typeface="IBM Plex Mono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4629150"/>
            <a:ext cx="4286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C28"/>
                </a:solidFill>
                <a:latin typeface="IBM Plex Mono"/>
              </a:rPr>
              <a:t>Reflection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4933950"/>
            <a:ext cx="428625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75" b="0">
                <a:solidFill>
                  <a:srgbClr val="54637A"/>
                </a:solidFill>
                <a:latin typeface="IBM Plex Sans"/>
              </a:rPr>
              <a:t>What I'd carry into the next project.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8400" y="5524500"/>
            <a:ext cx="4800600" cy="4762"/>
          </a:xfrm>
          <a:prstGeom prst="rect">
            <a:avLst/>
          </a:prstGeom>
          <a:solidFill>
            <a:srgbClr val="C4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9144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SECTION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28750"/>
            <a:ext cx="9144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1" spc="-100">
                <a:solidFill>
                  <a:srgbClr val="141C28"/>
                </a:solidFill>
                <a:latin typeface="IBM Plex Mono"/>
              </a:rPr>
              <a:t>A clear, single-idea headline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43150"/>
            <a:ext cx="81915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0">
                <a:solidFill>
                  <a:srgbClr val="54637A"/>
                </a:solidFill>
                <a:latin typeface="IBM Plex Sans"/>
              </a:rPr>
              <a:t>The everyday workhorse: one heading and a paragraph or a short list. Reach for it whenever a slide doesn't need a special layout — most of them don't.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29050"/>
            <a:ext cx="95250" cy="952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2050" y="3771900"/>
            <a:ext cx="7239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Swap this list for a paragraph, or delete it entirely.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86250"/>
            <a:ext cx="95250" cy="952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2050" y="4229100"/>
            <a:ext cx="7239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Three points is plenty; a fourth usually means a second slide.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743450"/>
            <a:ext cx="95250" cy="95250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2050" y="4686300"/>
            <a:ext cx="72390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Lead with the takeaway, then support it.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976D2"/>
                </a:solidFill>
                <a:latin typeface="IBM Plex Mono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2550" y="91440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SECTION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35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900" b="1" spc="-100">
                <a:solidFill>
                  <a:srgbClr val="141C28"/>
                </a:solidFill>
                <a:latin typeface="IBM Plex Mono"/>
              </a:rPr>
              <a:t>Two things,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241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1565C0"/>
                </a:solidFill>
                <a:latin typeface="IBM Plex Mono"/>
              </a:rPr>
              <a:t>LEFT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86050"/>
            <a:ext cx="4762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Use this layout for anything that comes in pairs — problem and solution, two related ideas, or “us vs. them” told in 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5290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095750"/>
            <a:ext cx="4476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A supporting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53390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76750"/>
            <a:ext cx="4476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A supporting point.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324100"/>
            <a:ext cx="476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1565C0"/>
                </a:solidFill>
                <a:latin typeface="IBM Plex Mono"/>
              </a:rPr>
              <a:t>RIGHT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2686050"/>
            <a:ext cx="47625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41C28"/>
                </a:solidFill>
                <a:latin typeface="IBM Plex Sans"/>
              </a:rPr>
              <a:t>Keep both columns balanced in length. If one side runs much longer than the other, it probably wants to be its own slide.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415290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7000" y="4095750"/>
            <a:ext cx="4476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A supporting 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4533900"/>
            <a:ext cx="85725" cy="85725"/>
          </a:xfrm>
          <a:prstGeom prst="rect">
            <a:avLst/>
          </a:prstGeom>
          <a:solidFill>
            <a:srgbClr val="197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0" y="4476750"/>
            <a:ext cx="44767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141C28"/>
                </a:solidFill>
                <a:latin typeface="IBM Plex Sans"/>
              </a:rPr>
              <a:t>A supporting point.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E9EFF7"/>
          </a:solidFill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295650"/>
            <a:ext cx="121920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86780"/>
                </a:solidFill>
                <a:latin typeface="IBM Plex Mono"/>
              </a:rPr>
              <a:t>Replace with full-bleed image · 16:9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solidFill>
            <a:srgbClr val="14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9100" y="5715000"/>
            <a:ext cx="666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spc="200">
                <a:solidFill>
                  <a:srgbClr val="CFE0F5"/>
                </a:solidFill>
                <a:latin typeface="IBM Plex Mono"/>
              </a:rPr>
              <a:t>OPTIONAL CAPTION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6000750"/>
            <a:ext cx="9525000" cy="476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>
                <a:solidFill>
                  <a:srgbClr val="FFFFFF"/>
                </a:solidFill>
                <a:latin typeface="IBM Plex Mono"/>
              </a:rPr>
              <a:t>One line that frames what we're looking at.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28750"/>
            <a:ext cx="6667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1976D2"/>
                </a:solidFill>
                <a:latin typeface="IBM Plex Mono"/>
              </a:rPr>
              <a:t>PART THREE OF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95450"/>
            <a:ext cx="5715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0" b="1" spc="-400">
                <a:solidFill>
                  <a:srgbClr val="42A5F5"/>
                </a:solidFill>
                <a:latin typeface="IBM Plex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33800"/>
            <a:ext cx="952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1" spc="-100">
                <a:solidFill>
                  <a:srgbClr val="141C28"/>
                </a:solidFill>
                <a:latin typeface="IBM Plex Mono"/>
              </a:rPr>
              <a:t>Designing the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800600"/>
            <a:ext cx="1485900" cy="438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900" y="4924425"/>
            <a:ext cx="28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2A5F5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4924425"/>
            <a:ext cx="10096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4637A"/>
                </a:solidFill>
                <a:latin typeface="IBM Plex Mono"/>
              </a:rPr>
              <a:t>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3650" y="4800600"/>
            <a:ext cx="1485900" cy="438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24150" y="4924425"/>
            <a:ext cx="28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2A5F5"/>
                </a:solidFill>
                <a:latin typeface="IBM Plex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9900" y="4924425"/>
            <a:ext cx="10096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4637A"/>
                </a:solidFill>
                <a:latin typeface="IBM Plex Mono"/>
              </a:rP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52900" y="4800600"/>
            <a:ext cx="1304925" cy="438150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1976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4924425"/>
            <a:ext cx="28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CFE6FF"/>
                </a:solidFill>
                <a:latin typeface="IBM Plex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4924425"/>
            <a:ext cx="82867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IBM Plex Mono"/>
              </a:rPr>
              <a:t>Design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1175" y="4800600"/>
            <a:ext cx="1395412" cy="438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81675" y="4924425"/>
            <a:ext cx="28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2A5F5"/>
                </a:solidFill>
                <a:latin typeface="IBM Plex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7425" y="4924425"/>
            <a:ext cx="91916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86780"/>
                </a:solidFill>
                <a:latin typeface="IBM Plex Mono"/>
              </a:rPr>
              <a:t>Results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19937" y="4800600"/>
            <a:ext cx="1666875" cy="438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0437" y="4924425"/>
            <a:ext cx="2857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2A5F5"/>
                </a:solidFill>
                <a:latin typeface="IBM Plex Mono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6187" y="4924425"/>
            <a:ext cx="119062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586780"/>
                </a:solidFill>
                <a:latin typeface="IBM Plex Mono"/>
              </a:rPr>
              <a:t>Reflection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ank-acc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28750"/>
            <a:ext cx="3810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25" b="0" spc="300">
                <a:solidFill>
                  <a:srgbClr val="B8401B"/>
                </a:solidFill>
                <a:latin typeface="IBM Plex Mono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866900"/>
            <a:ext cx="3810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0" b="1">
                <a:solidFill>
                  <a:srgbClr val="C4D3E6"/>
                </a:solidFill>
                <a:latin typeface="IBM Plex Mono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33800"/>
            <a:ext cx="9525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500" b="1" spc="-100">
                <a:solidFill>
                  <a:srgbClr val="141C28"/>
                </a:solidFill>
                <a:latin typeface="IBM Plex Mono"/>
              </a:rPr>
              <a:t>Backup &amp;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29150"/>
            <a:ext cx="7239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54637A"/>
                </a:solidFill>
                <a:latin typeface="IBM Plex Sans"/>
              </a:rPr>
              <a:t>Supporting material for the deep questions — pull these in only if the room asks. The main story ended on the previous slide.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19750"/>
            <a:ext cx="3543300" cy="419100"/>
          </a:xfrm>
          <a:prstGeom prst="roundRect">
            <a:avLst/>
          </a:prstGeom>
          <a:noFill/>
          <a:ln w="12700">
            <a:solidFill>
              <a:srgbClr val="C4D3E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5850" y="5734050"/>
            <a:ext cx="19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586780"/>
                </a:solidFill>
                <a:latin typeface="Material Icons"/>
              </a:rPr>
              <a:t>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5734050"/>
            <a:ext cx="342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75" b="0">
                <a:solidFill>
                  <a:srgbClr val="586780"/>
                </a:solidFill>
                <a:latin typeface="IBM Plex Mono"/>
              </a:rPr>
              <a:t>Everything past here is optional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