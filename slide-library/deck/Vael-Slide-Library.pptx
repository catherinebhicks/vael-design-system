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</p:sldIdLst>
  <p:notesMasterIdLst>
    <p:notesMasterId r:id="rId9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notesMaster" Target="notesMasters/notesMaster1.xml"/><Relationship Id="rId95" Type="http://schemas.openxmlformats.org/officeDocument/2006/relationships/presProps" Target="presProps.xml"/><Relationship Id="rId96" Type="http://schemas.openxmlformats.org/officeDocument/2006/relationships/viewProps" Target="viewProps.xml"/><Relationship Id="rId97" Type="http://schemas.openxmlformats.org/officeDocument/2006/relationships/theme" Target="theme/theme1.xml"/><Relationship Id="rId9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 use layout from the Vael Slide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 layout from the Vael Slide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layout from the Vael Slide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 layout from the Vael Slide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 layout from the Vael Slide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progress layout from the Vael Slide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Statement layout from the Vael Slide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+ body layout from the Vael Slide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column layout from the Vael Slide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Text + image layout from the Vael Slide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Full-bleed image layout from the Vael Slide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Metric layout from the Vael Slide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Metrics + quote layout from the Vael Slide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chart layout from the Vael Slide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Goals layout from the Vael Slide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Principles layout from the Vael Slide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Approach layout from the Vael Slide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Feature layout from the Vael Slide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/ after layout from the Vael Slide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Timeline layout from the Vael Slide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User flow layout from the Vael Slide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Sitemap / IA layout from the Vael Slide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 grid layout from the Vael Slide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Hypothesis layout from the Vael Slide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Constraint layout from the Vael Slide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Persona layout from the Vael Slide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Personas grid layout from the Vael Slide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Research summary layout from the Vael Slide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Competitive matrix layout from the Vael Slide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Testimonial layout from the Vael Slide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Validation layout from the Vael Slide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Results (honest) layout from the Vael Slide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Learnings layout from the Vael Slide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Table of contents layout from the Vael Slide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Q&amp;A / discussion prompt layout from the Vael Slide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 / bios grid layout from the Vael Slide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Quote-only big statement layout from the Vael Slide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Generic comparison table layout from the Vael Slide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 / phases ahead layout from the Vael Slide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Pricing / packages layout from the Vael Slide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Single big-number stat layout from the Vael Slide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Process / methodology diagram layout from the Vael Slide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+ caption gallery (3-up) layout from the Vael Slide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Call-to-action / next steps layout from the Vael Slide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Definitions / glossary layout from the Vael Slide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layout from the Vael Slide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persona with icon and large quote, from the Vael Slide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personas with quotes, from the Vael Slide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personas with quotes, from the Vael Slide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compact personas with quotes, from the Vael Slide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highlight persona with three supporting, from the Vael Slide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highlight personas with two supporting, from the Vael Slide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Two-panel problem and solution, from the Vael Slide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Bar chart layout, from the Vael Slide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 / key takeaways, from the Vael Slide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Logo wall for clients or partners, from the Vael Slide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testimonials side by side, from the Vael Slide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Checklist / requirements, from the Vael Slide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FAQ with question and answer pairs, from the Vael Slide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Contact / how to reach us, from the Vael Slide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we've been and where we're going, from the Vael Slide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Big statement with supporting line, from the Vael Slide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Side-by-side comparison cards, from the Vael Slide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Composition / parts of a whole, from the Vael Slide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Raw data table of rows and columns, from the Vael Slide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Compact KPI row with deltas, from the Vael Slide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Three-column feature / benefit grid with icons, from the Vael Slide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Numbered vertical step-by-step, from the Vael Slide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Grid of short pull-quotes as evidence, from the Vael Slide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Feature-by-tier pricing comparison table, from the Vael Slide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Single centered closing line, from the Vael Slide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 owned vs the team, from the Vael Slide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brief said X, the real problem was Y, from the Vael Slide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v1 to v3 of one screen, from the Vael Slide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Sketch to wireframe to hi-fi, from the Vael Slide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Options considered with the chosen one marked, from the Vael Slide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Hero screen with numbered callouts, from the Vael Slide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decision, rationale, and tradeoff, from the Vael Slide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Issue observed paired with the change made, from the Vael Slide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Tokens and components built, from the Vael Slide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Accessibility notes, from the Vael Slide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screen across breakpoints, from the Vael Slide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 personal reflection, from the Vael Slide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 layout from the Vael Slide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Backup: full research methodology if the room asks how we know.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Backup: the complete competitive matrix behind the summary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Backup: the underlying adoption curve if asked to show the trend, not just the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Backup: what we deferred and why, in case the room asks about the roadmap.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Backup: the fuller numbers behind the headline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Backup: the week-by-week timeline if asked about process pacing.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Backup: risks and unknowns still open at handoff.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Backup: references and data sources cited throughout the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5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image" Target="../media/image-6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7-1.png"/><Relationship Id="rId2" Type="http://schemas.openxmlformats.org/officeDocument/2006/relationships/image" Target="../media/image-8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2DDEC">
                  <a:alpha val="100000"/>
                </a:srgbClr>
              </a:gs>
              <a:gs pos="100000">
                <a:srgbClr val="E9EFF7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685800"/>
            <a:ext cx="163244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372"/>
              </a:lnSpc>
              <a:buNone/>
            </a:pPr>
            <a:r>
              <a:rPr lang="en-US" sz="1425" spc="314" kern="0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HERE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914400" y="1057275"/>
            <a:ext cx="113995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308"/>
              </a:lnSpc>
              <a:buNone/>
            </a:pPr>
            <a:r>
              <a:rPr lang="en-US" sz="3000" b="1" spc="-60" kern="0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to use this kit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1609725"/>
            <a:ext cx="8437245" cy="65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1575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slide is a finished 16:9 template. Duplicate the one you need, replace the placeholder text and image slots, and you have a deck — no layout work required.</a:t>
            </a:r>
            <a:endParaRPr lang="en-US" sz="1575" dirty="0"/>
          </a:p>
        </p:txBody>
      </p:sp>
      <p:sp>
        <p:nvSpPr>
          <p:cNvPr id="6" name="Shape 4"/>
          <p:cNvSpPr/>
          <p:nvPr/>
        </p:nvSpPr>
        <p:spPr>
          <a:xfrm>
            <a:off x="914400" y="2610743"/>
            <a:ext cx="4991100" cy="3391495"/>
          </a:xfrm>
          <a:prstGeom prst="roundRect">
            <a:avLst>
              <a:gd name="adj" fmla="val 39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0" dist="171450" dir="5400000">
              <a:srgbClr val="141C28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5992713"/>
            <a:ext cx="4991100" cy="9525"/>
          </a:xfrm>
          <a:prstGeom prst="rect">
            <a:avLst/>
          </a:prstGeom>
          <a:solidFill>
            <a:srgbClr val="C4D3E6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2610743"/>
            <a:ext cx="4991100" cy="38100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2610743"/>
            <a:ext cx="9525" cy="3391495"/>
          </a:xfrm>
          <a:prstGeom prst="rect">
            <a:avLst/>
          </a:prstGeom>
          <a:solidFill>
            <a:srgbClr val="C4D3E6"/>
          </a:solidFill>
          <a:ln/>
        </p:spPr>
      </p:sp>
      <p:sp>
        <p:nvSpPr>
          <p:cNvPr id="10" name="Shape 8"/>
          <p:cNvSpPr/>
          <p:nvPr/>
        </p:nvSpPr>
        <p:spPr>
          <a:xfrm>
            <a:off x="5895975" y="2610743"/>
            <a:ext cx="9525" cy="3391495"/>
          </a:xfrm>
          <a:prstGeom prst="rect">
            <a:avLst/>
          </a:prstGeom>
          <a:solidFill>
            <a:srgbClr val="C4D3E6"/>
          </a:solidFill>
          <a:ln/>
        </p:spPr>
      </p:sp>
      <p:sp>
        <p:nvSpPr>
          <p:cNvPr id="11" name="Text 9"/>
          <p:cNvSpPr/>
          <p:nvPr/>
        </p:nvSpPr>
        <p:spPr>
          <a:xfrm>
            <a:off x="1247775" y="2934593"/>
            <a:ext cx="475678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68" kern="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127760" y="3272730"/>
            <a:ext cx="4520565" cy="24723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the slide you need and type over the placeholders.</a:t>
            </a:r>
            <a:endParaRPr lang="en-US" sz="13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one idea per slide — a third bullet often wants its own slide.</a:t>
            </a:r>
            <a:endParaRPr lang="en-US" sz="13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signal accent for a single point of emphasis per slide.</a:t>
            </a:r>
            <a:endParaRPr lang="en-US" sz="13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body text large enough to read from the back of the room.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86500" y="2610743"/>
            <a:ext cx="4991100" cy="3391495"/>
          </a:xfrm>
          <a:prstGeom prst="roundRect">
            <a:avLst>
              <a:gd name="adj" fmla="val 39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0" dist="171450" dir="5400000">
              <a:srgbClr val="141C28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86500" y="5992713"/>
            <a:ext cx="4991100" cy="9525"/>
          </a:xfrm>
          <a:prstGeom prst="rect">
            <a:avLst/>
          </a:prstGeom>
          <a:solidFill>
            <a:srgbClr val="C4D3E6"/>
          </a:solidFill>
          <a:ln/>
        </p:spPr>
      </p:sp>
      <p:sp>
        <p:nvSpPr>
          <p:cNvPr id="15" name="Shape 13"/>
          <p:cNvSpPr/>
          <p:nvPr/>
        </p:nvSpPr>
        <p:spPr>
          <a:xfrm>
            <a:off x="6286500" y="2610743"/>
            <a:ext cx="4991100" cy="38100"/>
          </a:xfrm>
          <a:prstGeom prst="rect">
            <a:avLst/>
          </a:prstGeom>
          <a:solidFill>
            <a:srgbClr val="B8401B"/>
          </a:solidFill>
          <a:ln/>
        </p:spPr>
      </p:sp>
      <p:sp>
        <p:nvSpPr>
          <p:cNvPr id="16" name="Shape 14"/>
          <p:cNvSpPr/>
          <p:nvPr/>
        </p:nvSpPr>
        <p:spPr>
          <a:xfrm>
            <a:off x="6286500" y="2610743"/>
            <a:ext cx="9525" cy="3391495"/>
          </a:xfrm>
          <a:prstGeom prst="rect">
            <a:avLst/>
          </a:prstGeom>
          <a:solidFill>
            <a:srgbClr val="C4D3E6"/>
          </a:solidFill>
          <a:ln/>
        </p:spPr>
      </p:sp>
      <p:sp>
        <p:nvSpPr>
          <p:cNvPr id="17" name="Shape 15"/>
          <p:cNvSpPr/>
          <p:nvPr/>
        </p:nvSpPr>
        <p:spPr>
          <a:xfrm>
            <a:off x="11268075" y="2610743"/>
            <a:ext cx="9525" cy="3391495"/>
          </a:xfrm>
          <a:prstGeom prst="rect">
            <a:avLst/>
          </a:prstGeom>
          <a:solidFill>
            <a:srgbClr val="C4D3E6"/>
          </a:solidFill>
          <a:ln/>
        </p:spPr>
      </p:sp>
      <p:sp>
        <p:nvSpPr>
          <p:cNvPr id="18" name="Text 16"/>
          <p:cNvSpPr/>
          <p:nvPr/>
        </p:nvSpPr>
        <p:spPr>
          <a:xfrm>
            <a:off x="6619875" y="2934593"/>
            <a:ext cx="475678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68" kern="0" dirty="0">
                <a:solidFill>
                  <a:srgbClr val="B840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DON'T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99860" y="3272730"/>
            <a:ext cx="4520565" cy="24723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Rebuild a layout from scratch — start from a template every time.</a:t>
            </a:r>
            <a:endParaRPr lang="en-US" sz="13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Restyle the colors, fonts, or spacing; consistency is the point.</a:t>
            </a:r>
            <a:endParaRPr lang="en-US" sz="13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Shrink text to cram more on — cut the content instead.</a:t>
            </a:r>
            <a:endParaRPr lang="en-US" sz="13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Paint the whole slide in the accent color; rare is what makes it work.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2DDEC">
                  <a:alpha val="100000"/>
                </a:srgbClr>
              </a:gs>
              <a:gs pos="100000">
                <a:srgbClr val="E9EFF7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685800"/>
            <a:ext cx="96663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372"/>
              </a:lnSpc>
              <a:buNone/>
            </a:pPr>
            <a:r>
              <a:rPr lang="en-US" sz="1425" spc="314" kern="0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AGENDA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914400" y="1057275"/>
            <a:ext cx="11399520" cy="458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842"/>
              </a:lnSpc>
              <a:buNone/>
            </a:pPr>
            <a:r>
              <a:rPr lang="en-US" sz="3150" b="1" spc="-63" kern="0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What's inside</a:t>
            </a:r>
            <a:endParaRPr lang="en-US" sz="3150" dirty="0"/>
          </a:p>
        </p:txBody>
      </p:sp>
      <p:sp>
        <p:nvSpPr>
          <p:cNvPr id="5" name="Shape 3"/>
          <p:cNvSpPr/>
          <p:nvPr/>
        </p:nvSpPr>
        <p:spPr>
          <a:xfrm>
            <a:off x="914400" y="2560216"/>
            <a:ext cx="4876800" cy="9525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96368"/>
            <a:ext cx="5143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136"/>
              </a:lnSpc>
              <a:buNone/>
            </a:pPr>
            <a:r>
              <a:rPr lang="en-US" sz="1950" b="1" dirty="0">
                <a:solidFill>
                  <a:srgbClr val="42A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562100" y="1910655"/>
            <a:ext cx="2581721" cy="268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800"/>
              </a:lnSpc>
              <a:buNone/>
            </a:pPr>
            <a:r>
              <a:rPr lang="en-US" sz="1650" b="1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Overview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562100" y="2188741"/>
            <a:ext cx="258172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125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problem, the client, and my role.</a:t>
            </a:r>
            <a:endParaRPr lang="en-US" sz="1125" dirty="0"/>
          </a:p>
        </p:txBody>
      </p:sp>
      <p:sp>
        <p:nvSpPr>
          <p:cNvPr id="9" name="Shape 7"/>
          <p:cNvSpPr/>
          <p:nvPr/>
        </p:nvSpPr>
        <p:spPr>
          <a:xfrm>
            <a:off x="6400800" y="2560216"/>
            <a:ext cx="4876800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1896368"/>
            <a:ext cx="5143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136"/>
              </a:lnSpc>
              <a:buNone/>
            </a:pPr>
            <a:r>
              <a:rPr lang="en-US" sz="1950" b="1" dirty="0">
                <a:solidFill>
                  <a:srgbClr val="42A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048500" y="1910655"/>
            <a:ext cx="2764832" cy="268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800"/>
              </a:lnSpc>
              <a:buNone/>
            </a:pPr>
            <a:r>
              <a:rPr lang="en-US" sz="165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Research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7048500" y="2188741"/>
            <a:ext cx="276483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125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we talked to and what we learned.</a:t>
            </a:r>
            <a:endParaRPr lang="en-US" sz="1125" dirty="0"/>
          </a:p>
        </p:txBody>
      </p:sp>
      <p:sp>
        <p:nvSpPr>
          <p:cNvPr id="13" name="Shape 11"/>
          <p:cNvSpPr/>
          <p:nvPr/>
        </p:nvSpPr>
        <p:spPr>
          <a:xfrm>
            <a:off x="914400" y="3443139"/>
            <a:ext cx="4876800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779291"/>
            <a:ext cx="5143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136"/>
              </a:lnSpc>
              <a:buNone/>
            </a:pPr>
            <a:r>
              <a:rPr lang="en-US" sz="1950" b="1" dirty="0">
                <a:solidFill>
                  <a:srgbClr val="42A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562100" y="2793578"/>
            <a:ext cx="2657192" cy="268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800"/>
              </a:lnSpc>
              <a:buNone/>
            </a:pPr>
            <a:r>
              <a:rPr lang="en-US" sz="165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Approach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562100" y="3071664"/>
            <a:ext cx="265719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125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decisions that shaped the design.</a:t>
            </a:r>
            <a:endParaRPr lang="en-US" sz="1125" dirty="0"/>
          </a:p>
        </p:txBody>
      </p:sp>
      <p:sp>
        <p:nvSpPr>
          <p:cNvPr id="17" name="Shape 15"/>
          <p:cNvSpPr/>
          <p:nvPr/>
        </p:nvSpPr>
        <p:spPr>
          <a:xfrm>
            <a:off x="6400800" y="3443139"/>
            <a:ext cx="4876800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2779291"/>
            <a:ext cx="5143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136"/>
              </a:lnSpc>
              <a:buNone/>
            </a:pPr>
            <a:r>
              <a:rPr lang="en-US" sz="1950" b="1" dirty="0">
                <a:solidFill>
                  <a:srgbClr val="42A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7048500" y="2793578"/>
            <a:ext cx="2437656" cy="268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800"/>
              </a:lnSpc>
              <a:buNone/>
            </a:pPr>
            <a:r>
              <a:rPr lang="en-US" sz="165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work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7048500" y="3071664"/>
            <a:ext cx="243765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125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screens and features up close.</a:t>
            </a:r>
            <a:endParaRPr lang="en-US" sz="1125" dirty="0"/>
          </a:p>
        </p:txBody>
      </p:sp>
      <p:sp>
        <p:nvSpPr>
          <p:cNvPr id="21" name="Shape 19"/>
          <p:cNvSpPr/>
          <p:nvPr/>
        </p:nvSpPr>
        <p:spPr>
          <a:xfrm>
            <a:off x="914400" y="4326062"/>
            <a:ext cx="4876800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3662214"/>
            <a:ext cx="5143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136"/>
              </a:lnSpc>
              <a:buNone/>
            </a:pPr>
            <a:r>
              <a:rPr lang="en-US" sz="1950" b="1" dirty="0">
                <a:solidFill>
                  <a:srgbClr val="42A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562100" y="3676501"/>
            <a:ext cx="2383386" cy="268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800"/>
              </a:lnSpc>
              <a:buNone/>
            </a:pPr>
            <a:r>
              <a:rPr lang="en-US" sz="165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562100" y="3954587"/>
            <a:ext cx="238338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125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changed, and how we know.</a:t>
            </a:r>
            <a:endParaRPr lang="en-US" sz="1125" dirty="0"/>
          </a:p>
        </p:txBody>
      </p:sp>
      <p:sp>
        <p:nvSpPr>
          <p:cNvPr id="25" name="Shape 23"/>
          <p:cNvSpPr/>
          <p:nvPr/>
        </p:nvSpPr>
        <p:spPr>
          <a:xfrm>
            <a:off x="6400800" y="4326062"/>
            <a:ext cx="4876800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3662214"/>
            <a:ext cx="5143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136"/>
              </a:lnSpc>
              <a:buNone/>
            </a:pPr>
            <a:r>
              <a:rPr lang="en-US" sz="1950" b="1" dirty="0">
                <a:solidFill>
                  <a:srgbClr val="42A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7048500" y="3676501"/>
            <a:ext cx="2487097" cy="268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800"/>
              </a:lnSpc>
              <a:buNone/>
            </a:pPr>
            <a:r>
              <a:rPr lang="en-US" sz="165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Reflection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7048500" y="3954587"/>
            <a:ext cx="248709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125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I'd carry into the next project.</a:t>
            </a:r>
            <a:endParaRPr lang="en-US" sz="11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2DDEC">
                  <a:alpha val="100000"/>
                </a:srgbClr>
              </a:gs>
              <a:gs pos="100000">
                <a:srgbClr val="E9EFF7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685800"/>
            <a:ext cx="163244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372"/>
              </a:lnSpc>
              <a:buNone/>
            </a:pPr>
            <a:r>
              <a:rPr lang="en-US" sz="1425" spc="314" kern="0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STUDY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914400" y="2502694"/>
            <a:ext cx="1139952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647"/>
              </a:lnSpc>
              <a:buNone/>
            </a:pPr>
            <a:r>
              <a:rPr lang="en-US" sz="4500" b="1" spc="-90" kern="0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NetBase Pro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914400" y="3331369"/>
            <a:ext cx="7040133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real-time social listening into decisions product teams actually trust.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914400" y="5519738"/>
            <a:ext cx="10363200" cy="9525"/>
          </a:xfrm>
          <a:prstGeom prst="rect">
            <a:avLst/>
          </a:prstGeom>
          <a:solidFill>
            <a:srgbClr val="C4D3E6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5719763"/>
            <a:ext cx="205547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58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914400" y="5938838"/>
            <a:ext cx="2055473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Product Designer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3316412" y="5719763"/>
            <a:ext cx="150925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58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TIMELINE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3316412" y="5938838"/>
            <a:ext cx="1509251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2019 · 14 weeks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5221858" y="5719763"/>
            <a:ext cx="167590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58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5221858" y="5938838"/>
            <a:ext cx="1675909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NetBase Solutions</a:t>
            </a:r>
            <a:endParaRPr lang="en-US" sz="14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2DDEC">
                  <a:alpha val="100000"/>
                </a:srgbClr>
              </a:gs>
              <a:gs pos="100000">
                <a:srgbClr val="E9EFF7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762000"/>
            <a:ext cx="3505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b="1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41165" y="785813"/>
            <a:ext cx="126340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372"/>
              </a:lnSpc>
              <a:buNone/>
            </a:pPr>
            <a:r>
              <a:rPr lang="en-US" sz="1425" spc="314" kern="0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OVERVIEW</a:t>
            </a:r>
            <a:endParaRPr lang="en-US" sz="1425" dirty="0"/>
          </a:p>
        </p:txBody>
      </p:sp>
      <p:sp>
        <p:nvSpPr>
          <p:cNvPr id="5" name="Text 3"/>
          <p:cNvSpPr/>
          <p:nvPr/>
        </p:nvSpPr>
        <p:spPr>
          <a:xfrm>
            <a:off x="914400" y="1181100"/>
            <a:ext cx="11399520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42"/>
              </a:lnSpc>
              <a:buNone/>
            </a:pPr>
            <a:r>
              <a:rPr lang="en-US" sz="3900" b="1" spc="-78" kern="0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engagement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914400" y="2082105"/>
            <a:ext cx="3276600" cy="1299121"/>
          </a:xfrm>
          <a:prstGeom prst="roundRect">
            <a:avLst>
              <a:gd name="adj" fmla="val 8798"/>
            </a:avLst>
          </a:prstGeom>
          <a:solidFill>
            <a:srgbClr val="FFFFFF"/>
          </a:solidFill>
          <a:ln w="9525">
            <a:solidFill>
              <a:srgbClr val="C4D3E6"/>
            </a:solidFill>
            <a:prstDash val="solid"/>
          </a:ln>
          <a:effectLst>
            <a:outerShdw sx="100000" sy="100000" kx="0" ky="0" algn="bl" rotWithShape="0" blurRad="381000" dist="171450" dir="5400000">
              <a:srgbClr val="141C28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71575" y="2320230"/>
            <a:ext cx="303847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58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1171575" y="2577405"/>
            <a:ext cx="3038475" cy="320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800"/>
              </a:lnSpc>
              <a:buNone/>
            </a:pPr>
            <a:r>
              <a:rPr lang="en-US" sz="165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Product Designer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4457700" y="2082105"/>
            <a:ext cx="3276600" cy="1299121"/>
          </a:xfrm>
          <a:prstGeom prst="roundRect">
            <a:avLst>
              <a:gd name="adj" fmla="val 8798"/>
            </a:avLst>
          </a:prstGeom>
          <a:solidFill>
            <a:srgbClr val="FFFFFF"/>
          </a:solidFill>
          <a:ln w="9525">
            <a:solidFill>
              <a:srgbClr val="C4D3E6"/>
            </a:solidFill>
            <a:prstDash val="solid"/>
          </a:ln>
          <a:effectLst>
            <a:outerShdw sx="100000" sy="100000" kx="0" ky="0" algn="bl" rotWithShape="0" blurRad="381000" dist="171450" dir="5400000">
              <a:srgbClr val="141C28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14875" y="2320230"/>
            <a:ext cx="303847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58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4714875" y="2577405"/>
            <a:ext cx="2845118" cy="603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800"/>
              </a:lnSpc>
              <a:buNone/>
            </a:pPr>
            <a:r>
              <a:rPr lang="en-US" sz="165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designers · 5 engineers · 1 PM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8001000" y="2082105"/>
            <a:ext cx="3276600" cy="1299121"/>
          </a:xfrm>
          <a:prstGeom prst="roundRect">
            <a:avLst>
              <a:gd name="adj" fmla="val 8798"/>
            </a:avLst>
          </a:prstGeom>
          <a:solidFill>
            <a:srgbClr val="FFFFFF"/>
          </a:solidFill>
          <a:ln w="9525">
            <a:solidFill>
              <a:srgbClr val="C4D3E6"/>
            </a:solidFill>
            <a:prstDash val="solid"/>
          </a:ln>
          <a:effectLst>
            <a:outerShdw sx="100000" sy="100000" kx="0" ky="0" algn="bl" rotWithShape="0" blurRad="381000" dist="171450" dir="5400000">
              <a:srgbClr val="141C28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58175" y="2320230"/>
            <a:ext cx="303847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58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TIMELINE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8258175" y="2577405"/>
            <a:ext cx="3038475" cy="320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800"/>
              </a:lnSpc>
              <a:buNone/>
            </a:pPr>
            <a:r>
              <a:rPr lang="en-US" sz="165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weeks · 2019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914400" y="3647926"/>
            <a:ext cx="3276600" cy="1299121"/>
          </a:xfrm>
          <a:prstGeom prst="roundRect">
            <a:avLst>
              <a:gd name="adj" fmla="val 8798"/>
            </a:avLst>
          </a:prstGeom>
          <a:solidFill>
            <a:srgbClr val="FFFFFF"/>
          </a:solidFill>
          <a:ln w="9525">
            <a:solidFill>
              <a:srgbClr val="C4D3E6"/>
            </a:solidFill>
            <a:prstDash val="solid"/>
          </a:ln>
          <a:effectLst>
            <a:outerShdw sx="100000" sy="100000" kx="0" ky="0" algn="bl" rotWithShape="0" blurRad="381000" dist="171450" dir="5400000">
              <a:srgbClr val="141C28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171575" y="3886051"/>
            <a:ext cx="303847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58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PLATFORM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1171575" y="4143226"/>
            <a:ext cx="3038475" cy="320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800"/>
              </a:lnSpc>
              <a:buNone/>
            </a:pPr>
            <a:r>
              <a:rPr lang="en-US" sz="165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web app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4457700" y="3647926"/>
            <a:ext cx="3276600" cy="1299121"/>
          </a:xfrm>
          <a:prstGeom prst="roundRect">
            <a:avLst>
              <a:gd name="adj" fmla="val 8798"/>
            </a:avLst>
          </a:prstGeom>
          <a:solidFill>
            <a:srgbClr val="FFFFFF"/>
          </a:solidFill>
          <a:ln w="9525">
            <a:solidFill>
              <a:srgbClr val="C4D3E6"/>
            </a:solidFill>
            <a:prstDash val="solid"/>
          </a:ln>
          <a:effectLst>
            <a:outerShdw sx="100000" sy="100000" kx="0" ky="0" algn="bl" rotWithShape="0" blurRad="381000" dist="171450" dir="5400000">
              <a:srgbClr val="141C28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14875" y="3886051"/>
            <a:ext cx="303847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58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4714875" y="4143226"/>
            <a:ext cx="3038475" cy="320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800"/>
              </a:lnSpc>
              <a:buNone/>
            </a:pPr>
            <a:r>
              <a:rPr lang="en-US" sz="165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Figma · Maze · Dovetail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8001000" y="3647926"/>
            <a:ext cx="3276600" cy="1299121"/>
          </a:xfrm>
          <a:prstGeom prst="roundRect">
            <a:avLst>
              <a:gd name="adj" fmla="val 8798"/>
            </a:avLst>
          </a:prstGeom>
          <a:solidFill>
            <a:srgbClr val="FFFFFF"/>
          </a:solidFill>
          <a:ln w="9525">
            <a:solidFill>
              <a:srgbClr val="C4D3E6"/>
            </a:solidFill>
            <a:prstDash val="solid"/>
          </a:ln>
          <a:effectLst>
            <a:outerShdw sx="100000" sy="100000" kx="0" ky="0" algn="bl" rotWithShape="0" blurRad="381000" dist="171450" dir="5400000">
              <a:srgbClr val="141C28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258175" y="3886051"/>
            <a:ext cx="303847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58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SCOPE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8258175" y="4143226"/>
            <a:ext cx="2845118" cy="603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800"/>
              </a:lnSpc>
              <a:buNone/>
            </a:pPr>
            <a:r>
              <a:rPr lang="en-US" sz="165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→ IA → UI → handoff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BE4F0">
                  <a:alpha val="100000"/>
                </a:srgbClr>
              </a:gs>
              <a:gs pos="100000">
                <a:srgbClr val="F4F8FF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1566863"/>
            <a:ext cx="126340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372"/>
              </a:lnSpc>
              <a:buNone/>
            </a:pPr>
            <a:r>
              <a:rPr lang="en-US" sz="1425" spc="314" kern="0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TWO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857250" y="1938337"/>
            <a:ext cx="11462385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470"/>
              </a:lnSpc>
              <a:buNone/>
            </a:pPr>
            <a:r>
              <a:rPr lang="en-US" sz="15000" b="1" spc="-600" kern="0" dirty="0">
                <a:solidFill>
                  <a:srgbClr val="42A5F5">
                    <a:alpha val="9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914400" y="3729038"/>
            <a:ext cx="1139952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spc="-90" kern="0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Research &amp; discovery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914400" y="4605338"/>
            <a:ext cx="621603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Eleven analyst interviews and a competitive teardown of the social-listening landscape.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BE4F0">
                  <a:alpha val="100000"/>
                </a:srgbClr>
              </a:gs>
              <a:gs pos="100000">
                <a:srgbClr val="F4F8FF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1581150"/>
            <a:ext cx="293836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372"/>
              </a:lnSpc>
              <a:buNone/>
            </a:pPr>
            <a:r>
              <a:rPr lang="en-US" sz="1425" spc="314" kern="0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THREE OF FIVE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857250" y="1952625"/>
            <a:ext cx="11462385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470"/>
              </a:lnSpc>
              <a:buNone/>
            </a:pPr>
            <a:r>
              <a:rPr lang="en-US" sz="15000" b="1" spc="-600" kern="0" dirty="0">
                <a:solidFill>
                  <a:srgbClr val="42A5F5">
                    <a:alpha val="9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914400" y="3743325"/>
            <a:ext cx="1139952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spc="-90" kern="0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Designing the solution</a:t>
            </a:r>
            <a:endParaRPr lang="en-US" sz="4500" dirty="0"/>
          </a:p>
        </p:txBody>
      </p:sp>
      <p:sp>
        <p:nvSpPr>
          <p:cNvPr id="6" name="Shape 4"/>
          <p:cNvSpPr/>
          <p:nvPr/>
        </p:nvSpPr>
        <p:spPr>
          <a:xfrm>
            <a:off x="914400" y="4848225"/>
            <a:ext cx="1466924" cy="4286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4D3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3475" y="4974431"/>
            <a:ext cx="25911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2A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30685" y="4962525"/>
            <a:ext cx="8077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46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Overview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14674" y="4848225"/>
            <a:ext cx="1466924" cy="4286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4D3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33749" y="4974431"/>
            <a:ext cx="25911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2A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30959" y="4962525"/>
            <a:ext cx="8077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46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Research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949" y="4848225"/>
            <a:ext cx="1284015" cy="428625"/>
          </a:xfrm>
          <a:prstGeom prst="roundRect">
            <a:avLst>
              <a:gd name="adj" fmla="val 50000"/>
            </a:avLst>
          </a:prstGeom>
          <a:solidFill>
            <a:srgbClr val="1976D2"/>
          </a:solidFill>
          <a:ln w="9525">
            <a:solidFill>
              <a:srgbClr val="1976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34024" y="4974431"/>
            <a:ext cx="25911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F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31234" y="4962525"/>
            <a:ext cx="62485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532313" y="4848225"/>
            <a:ext cx="1375470" cy="4286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4D3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51388" y="4974431"/>
            <a:ext cx="25911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2A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48598" y="4962525"/>
            <a:ext cx="71631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8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041133" y="4848225"/>
            <a:ext cx="1649760" cy="4286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4D3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60208" y="4974431"/>
            <a:ext cx="25911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2A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557418" y="4962525"/>
            <a:ext cx="9906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8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Reflection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2DDEC">
                  <a:alpha val="100000"/>
                </a:srgbClr>
              </a:gs>
              <a:gs pos="100000">
                <a:srgbClr val="E9EFF7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914400" y="1653629"/>
            <a:ext cx="38100" cy="3550741"/>
          </a:xfrm>
          <a:prstGeom prst="rect">
            <a:avLst/>
          </a:prstGeom>
          <a:solidFill>
            <a:srgbClr val="B8401B"/>
          </a:solidFill>
          <a:ln/>
        </p:spPr>
      </p:sp>
      <p:sp>
        <p:nvSpPr>
          <p:cNvPr id="4" name="Text 2"/>
          <p:cNvSpPr/>
          <p:nvPr/>
        </p:nvSpPr>
        <p:spPr>
          <a:xfrm>
            <a:off x="1333500" y="1653629"/>
            <a:ext cx="4465807" cy="3055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3300" spc="-33" kern="0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“The redesign didn't just look better — it </a:t>
            </a:r>
            <a:pPr algn="l" indent="0" marL="0">
              <a:lnSpc>
                <a:spcPct val="106667"/>
              </a:lnSpc>
              <a:buNone/>
            </a:pPr>
            <a:r>
              <a:rPr lang="en-US" sz="3300" spc="-33" kern="0" dirty="0">
                <a:solidFill>
                  <a:srgbClr val="B840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cut our reporting time from a day to an hour. </a:t>
            </a:r>
            <a:pPr algn="l" indent="0" marL="0">
              <a:lnSpc>
                <a:spcPct val="106667"/>
              </a:lnSpc>
              <a:buNone/>
            </a:pPr>
            <a:r>
              <a:rPr lang="en-US" sz="3300" spc="-33" kern="0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”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1333500" y="4975771"/>
            <a:ext cx="476930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1500" spc="-15" kern="0" dirty="0">
                <a:solidFill>
                  <a:srgbClr val="546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VP of Insights, NetBase Solutions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2DDEC">
                  <a:alpha val="100000"/>
                </a:srgbClr>
              </a:gs>
              <a:gs pos="100000">
                <a:srgbClr val="E9EFF7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685800"/>
            <a:ext cx="3505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b="1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41165" y="709613"/>
            <a:ext cx="212218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372"/>
              </a:lnSpc>
              <a:buNone/>
            </a:pPr>
            <a:r>
              <a:rPr lang="en-US" sz="1425" spc="314" kern="0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LABEL</a:t>
            </a:r>
            <a:endParaRPr lang="en-US" sz="1425" dirty="0"/>
          </a:p>
        </p:txBody>
      </p:sp>
      <p:sp>
        <p:nvSpPr>
          <p:cNvPr id="5" name="Text 3"/>
          <p:cNvSpPr/>
          <p:nvPr/>
        </p:nvSpPr>
        <p:spPr>
          <a:xfrm>
            <a:off x="914400" y="1162050"/>
            <a:ext cx="11399520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42"/>
              </a:lnSpc>
              <a:buNone/>
            </a:pPr>
            <a:r>
              <a:rPr lang="en-US" sz="3900" b="1" spc="-78" kern="0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clear, single-idea headline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914400" y="1891605"/>
            <a:ext cx="8241030" cy="10123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400"/>
              </a:lnSpc>
              <a:buNone/>
            </a:pPr>
            <a:r>
              <a:rPr lang="en-US" sz="1650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everyday workhorse: one heading and a paragraph or a short list. Reach for it whenever a slide doesn't need a special layout — most of them don't. Keep the copy to one idea and let the whitespace do the work.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81050" y="3113484"/>
            <a:ext cx="4781550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15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 this list for a paragraph, or delete it entirely.</a:t>
            </a:r>
            <a:endParaRPr lang="en-US" sz="1500" dirty="0"/>
          </a:p>
          <a:p>
            <a:pPr algn="l" indent="0" marL="0">
              <a:lnSpc>
                <a:spcPct val="124444"/>
              </a:lnSpc>
              <a:buNone/>
            </a:pPr>
            <a:r>
              <a:rPr lang="en-US" sz="15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points is plenty; a fourth usually means a second slide.</a:t>
            </a:r>
            <a:endParaRPr lang="en-US" sz="1500" dirty="0"/>
          </a:p>
          <a:p>
            <a:pPr algn="l" indent="0" marL="0">
              <a:lnSpc>
                <a:spcPct val="124444"/>
              </a:lnSpc>
              <a:buNone/>
            </a:pPr>
            <a:r>
              <a:rPr lang="en-US" sz="15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with the takeaway, then support it.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2DDEC">
                  <a:alpha val="100000"/>
                </a:srgbClr>
              </a:gs>
              <a:gs pos="100000">
                <a:srgbClr val="E9EFF7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685800"/>
            <a:ext cx="3505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b="1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41165" y="709613"/>
            <a:ext cx="212218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372"/>
              </a:lnSpc>
              <a:buNone/>
            </a:pPr>
            <a:r>
              <a:rPr lang="en-US" sz="1425" spc="314" kern="0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LABEL</a:t>
            </a:r>
            <a:endParaRPr lang="en-US" sz="1425" dirty="0"/>
          </a:p>
        </p:txBody>
      </p:sp>
      <p:sp>
        <p:nvSpPr>
          <p:cNvPr id="5" name="Text 3"/>
          <p:cNvSpPr/>
          <p:nvPr/>
        </p:nvSpPr>
        <p:spPr>
          <a:xfrm>
            <a:off x="914400" y="1162050"/>
            <a:ext cx="11399520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42"/>
              </a:lnSpc>
              <a:buNone/>
            </a:pPr>
            <a:r>
              <a:rPr lang="en-US" sz="3900" b="1" spc="-78" kern="0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Two things, side by side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914400" y="2101155"/>
            <a:ext cx="532257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58" kern="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COLUMN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914400" y="2439293"/>
            <a:ext cx="4983861" cy="12781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1575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this layout for anything that comes in pairs — problem and solution, two related ideas, or "us vs. them" told in words. It's the flexible catch-all for two of anything.</a:t>
            </a:r>
            <a:endParaRPr lang="en-US" sz="1575" dirty="0"/>
          </a:p>
        </p:txBody>
      </p:sp>
      <p:sp>
        <p:nvSpPr>
          <p:cNvPr id="8" name="Text 6"/>
          <p:cNvSpPr/>
          <p:nvPr/>
        </p:nvSpPr>
        <p:spPr>
          <a:xfrm>
            <a:off x="781050" y="3869829"/>
            <a:ext cx="478155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15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supporting point.</a:t>
            </a:r>
            <a:endParaRPr lang="en-US" sz="1500" dirty="0"/>
          </a:p>
          <a:p>
            <a:pPr algn="l" indent="0" marL="0">
              <a:lnSpc>
                <a:spcPct val="124444"/>
              </a:lnSpc>
              <a:buNone/>
            </a:pPr>
            <a:r>
              <a:rPr lang="en-US" sz="15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Another supporting point.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38900" y="2101155"/>
            <a:ext cx="532257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58" kern="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 COLUMN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6438900" y="2439293"/>
            <a:ext cx="4983861" cy="968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1575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both columns balanced in length. If one side runs much longer than the other, it probably wants to be its own slide instead.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6305550" y="3559820"/>
            <a:ext cx="478155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15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supporting point.</a:t>
            </a:r>
            <a:endParaRPr lang="en-US" sz="1500" dirty="0"/>
          </a:p>
          <a:p>
            <a:pPr algn="l" indent="0" marL="0">
              <a:lnSpc>
                <a:spcPct val="124444"/>
              </a:lnSpc>
              <a:buNone/>
            </a:pPr>
            <a:r>
              <a:rPr lang="en-US" sz="15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Another supporting point.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2DDEC">
                  <a:alpha val="100000"/>
                </a:srgbClr>
              </a:gs>
              <a:gs pos="100000">
                <a:srgbClr val="E9EFF7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685949"/>
            <a:ext cx="3505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b="1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41165" y="709761"/>
            <a:ext cx="212218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372"/>
              </a:lnSpc>
              <a:buNone/>
            </a:pPr>
            <a:r>
              <a:rPr lang="en-US" sz="1425" spc="314" kern="0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CHALLENGE</a:t>
            </a:r>
            <a:endParaRPr lang="en-US" sz="1425" dirty="0"/>
          </a:p>
        </p:txBody>
      </p:sp>
      <p:sp>
        <p:nvSpPr>
          <p:cNvPr id="5" name="Text 3"/>
          <p:cNvSpPr/>
          <p:nvPr/>
        </p:nvSpPr>
        <p:spPr>
          <a:xfrm>
            <a:off x="914400" y="1105049"/>
            <a:ext cx="4236251" cy="15981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42"/>
              </a:lnSpc>
              <a:buNone/>
            </a:pPr>
            <a:r>
              <a:rPr lang="en-US" sz="3900" b="1" spc="-78" kern="0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Analysts drowned in signal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914400" y="2874615"/>
            <a:ext cx="4236251" cy="12781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1575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teams tracked millions of conversations a day, but the old dashboard buried the one number that mattered under twelve that didn't.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781050" y="4381351"/>
            <a:ext cx="4322415" cy="167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15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Insights took hours to assemble by hand</a:t>
            </a:r>
            <a:endParaRPr lang="en-US" sz="1500" dirty="0"/>
          </a:p>
          <a:p>
            <a:pPr algn="l" indent="0" marL="0">
              <a:lnSpc>
                <a:spcPct val="124444"/>
              </a:lnSpc>
              <a:buNone/>
            </a:pPr>
            <a:r>
              <a:rPr lang="en-US" sz="15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shared view between analysts and executives</a:t>
            </a:r>
            <a:endParaRPr lang="en-US" sz="1500" dirty="0"/>
          </a:p>
          <a:p>
            <a:pPr algn="l" indent="0" marL="0">
              <a:lnSpc>
                <a:spcPct val="124444"/>
              </a:lnSpc>
              <a:buNone/>
            </a:pPr>
            <a:r>
              <a:rPr lang="en-US" sz="15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 fired late — after the story had already broken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713065" y="1378744"/>
            <a:ext cx="5564535" cy="4100513"/>
          </a:xfrm>
          <a:prstGeom prst="roundRect">
            <a:avLst>
              <a:gd name="adj" fmla="val 4181"/>
            </a:avLst>
          </a:prstGeom>
          <a:solidFill>
            <a:srgbClr val="FFFFFF"/>
          </a:solidFill>
          <a:ln w="9525">
            <a:solidFill>
              <a:srgbClr val="C4D3E6"/>
            </a:solidFill>
            <a:prstDash val="solid"/>
          </a:ln>
          <a:effectLst>
            <a:outerShdw sx="100000" sy="100000" kx="0" ky="0" algn="bl" rotWithShape="0" blurRad="571500" dist="228600" dir="5400000">
              <a:srgbClr val="141C28">
                <a:alpha val="4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722590" y="1840706"/>
            <a:ext cx="5545485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10" name="Shape 8"/>
          <p:cNvSpPr/>
          <p:nvPr/>
        </p:nvSpPr>
        <p:spPr>
          <a:xfrm>
            <a:off x="5894040" y="1562100"/>
            <a:ext cx="104775" cy="104775"/>
          </a:xfrm>
          <a:prstGeom prst="ellipse">
            <a:avLst/>
          </a:prstGeom>
          <a:solidFill>
            <a:srgbClr val="E1552F">
              <a:alpha val="4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075015" y="1562100"/>
            <a:ext cx="104775" cy="104775"/>
          </a:xfrm>
          <a:prstGeom prst="ellipse">
            <a:avLst/>
          </a:prstGeom>
          <a:solidFill>
            <a:srgbClr val="E0A62F">
              <a:alpha val="4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255990" y="1562100"/>
            <a:ext cx="104775" cy="104775"/>
          </a:xfrm>
          <a:prstGeom prst="ellipse">
            <a:avLst/>
          </a:prstGeom>
          <a:solidFill>
            <a:srgbClr val="2E7D32">
              <a:alpha val="4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513165" y="1521619"/>
            <a:ext cx="2546033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58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app.netbase.com / dashboard</a:t>
            </a:r>
            <a:endParaRPr lang="en-US" sz="1125" dirty="0"/>
          </a:p>
        </p:txBody>
      </p:sp>
      <p:sp>
        <p:nvSpPr>
          <p:cNvPr id="14" name="Shape 12"/>
          <p:cNvSpPr/>
          <p:nvPr/>
        </p:nvSpPr>
        <p:spPr>
          <a:xfrm>
            <a:off x="5722590" y="1850231"/>
            <a:ext cx="5545485" cy="3619500"/>
          </a:xfrm>
          <a:prstGeom prst="rect">
            <a:avLst/>
          </a:prstGeom>
          <a:solidFill>
            <a:srgbClr val="EEF3FA"/>
          </a:solidFill>
          <a:ln/>
        </p:spPr>
      </p:sp>
      <p:sp>
        <p:nvSpPr>
          <p:cNvPr id="15" name="Shape 13"/>
          <p:cNvSpPr/>
          <p:nvPr/>
        </p:nvSpPr>
        <p:spPr>
          <a:xfrm>
            <a:off x="6871767" y="3462338"/>
            <a:ext cx="3247132" cy="395288"/>
          </a:xfrm>
          <a:prstGeom prst="roundRect">
            <a:avLst>
              <a:gd name="adj" fmla="val 19277"/>
            </a:avLst>
          </a:prstGeom>
          <a:solidFill>
            <a:srgbClr val="FFFFFF">
              <a:alpha val="70000"/>
            </a:srgbClr>
          </a:solidFill>
          <a:ln w="9525">
            <a:solidFill>
              <a:srgbClr val="C4D3E6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6984985" y="3567113"/>
            <a:ext cx="3020696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spc="68" kern="0" dirty="0">
                <a:solidFill>
                  <a:srgbClr val="58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Replace with screenshot · 16:10</a:t>
            </a:r>
            <a:endParaRPr lang="en-US" sz="11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2DDEC">
                  <a:alpha val="100000"/>
                </a:srgbClr>
              </a:gs>
              <a:gs pos="100000">
                <a:srgbClr val="E9EFF7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F3FA"/>
          </a:solidFill>
          <a:ln/>
        </p:spPr>
      </p:sp>
      <p:sp>
        <p:nvSpPr>
          <p:cNvPr id="4" name="Shape 2"/>
          <p:cNvSpPr/>
          <p:nvPr/>
        </p:nvSpPr>
        <p:spPr>
          <a:xfrm>
            <a:off x="4236690" y="3231356"/>
            <a:ext cx="3718620" cy="395288"/>
          </a:xfrm>
          <a:prstGeom prst="roundRect">
            <a:avLst>
              <a:gd name="adj" fmla="val 19277"/>
            </a:avLst>
          </a:prstGeom>
          <a:solidFill>
            <a:srgbClr val="FFFFFF">
              <a:alpha val="70000"/>
            </a:srgbClr>
          </a:solidFill>
          <a:ln w="9525">
            <a:solidFill>
              <a:srgbClr val="C4D3E6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4342836" y="3336131"/>
            <a:ext cx="3506328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spc="68" kern="0" dirty="0">
                <a:solidFill>
                  <a:srgbClr val="58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Replace with full-bleed image · 16:9</a:t>
            </a:r>
            <a:endParaRPr lang="en-US" sz="1125" dirty="0"/>
          </a:p>
        </p:txBody>
      </p:sp>
      <p:sp>
        <p:nvSpPr>
          <p:cNvPr id="6" name="Shape 4"/>
          <p:cNvSpPr/>
          <p:nvPr/>
        </p:nvSpPr>
        <p:spPr>
          <a:xfrm>
            <a:off x="0" y="5621685"/>
            <a:ext cx="12192000" cy="1236315"/>
          </a:xfrm>
          <a:prstGeom prst="rect">
            <a:avLst/>
          </a:prstGeom>
          <a:gradFill rotWithShape="1">
            <a:gsLst>
              <a:gs pos="0">
                <a:srgbClr val="141C28">
                  <a:alpha val="78000"/>
                </a:srgbClr>
              </a:gs>
              <a:gs pos="100000">
                <a:srgbClr val="141C28">
                  <a:alpha val="0"/>
                </a:srgbClr>
              </a:gs>
            </a:gsLst>
            <a:lin ang="16200000" scaled="0"/>
          </a:gradFill>
          <a:ln/>
        </p:spPr>
      </p:sp>
      <p:sp>
        <p:nvSpPr>
          <p:cNvPr id="7" name="Text 5"/>
          <p:cNvSpPr/>
          <p:nvPr/>
        </p:nvSpPr>
        <p:spPr>
          <a:xfrm>
            <a:off x="419100" y="5878860"/>
            <a:ext cx="2611844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372"/>
              </a:lnSpc>
              <a:buNone/>
            </a:pPr>
            <a:r>
              <a:rPr lang="en-US" sz="1425" spc="314" kern="0" dirty="0">
                <a:solidFill>
                  <a:srgbClr val="CFE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OPTIONAL CAPTION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419100" y="6221760"/>
            <a:ext cx="9429750" cy="388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222"/>
              </a:lnSpc>
              <a:buNone/>
            </a:pPr>
            <a:r>
              <a:rPr lang="en-US" sz="2400" b="1" spc="-24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line that frames what we're looking at.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2DDEC">
                  <a:alpha val="100000"/>
                </a:srgbClr>
              </a:gs>
              <a:gs pos="100000">
                <a:srgbClr val="E9EFF7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1880741"/>
            <a:ext cx="3505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b="1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41165" y="1904554"/>
            <a:ext cx="96663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372"/>
              </a:lnSpc>
              <a:buNone/>
            </a:pPr>
            <a:r>
              <a:rPr lang="en-US" sz="1425" spc="314" kern="0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IMPACT</a:t>
            </a:r>
            <a:endParaRPr lang="en-US" sz="1425" dirty="0"/>
          </a:p>
        </p:txBody>
      </p:sp>
      <p:sp>
        <p:nvSpPr>
          <p:cNvPr id="5" name="Text 3"/>
          <p:cNvSpPr/>
          <p:nvPr/>
        </p:nvSpPr>
        <p:spPr>
          <a:xfrm>
            <a:off x="914400" y="2299841"/>
            <a:ext cx="11399520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42"/>
              </a:lnSpc>
              <a:buNone/>
            </a:pPr>
            <a:r>
              <a:rPr lang="en-US" sz="3900" b="1" spc="-78" kern="0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the redesign moved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914400" y="3238946"/>
            <a:ext cx="3276600" cy="1738313"/>
          </a:xfrm>
          <a:prstGeom prst="roundRect">
            <a:avLst>
              <a:gd name="adj" fmla="val 7671"/>
            </a:avLst>
          </a:prstGeom>
          <a:solidFill>
            <a:srgbClr val="FFFFFF"/>
          </a:solidFill>
          <a:ln w="9525">
            <a:solidFill>
              <a:srgbClr val="C4D3E6"/>
            </a:solidFill>
            <a:prstDash val="solid"/>
          </a:ln>
          <a:effectLst>
            <a:outerShdw sx="100000" sy="100000" kx="0" ky="0" algn="bl" rotWithShape="0" blurRad="381000" dist="171450" dir="5400000">
              <a:srgbClr val="141C28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09675" y="3515171"/>
            <a:ext cx="295465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58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ENTERPRISE USERS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1209675" y="3791396"/>
            <a:ext cx="295465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189"/>
              </a:lnSpc>
              <a:buNone/>
            </a:pPr>
            <a:r>
              <a:rPr lang="en-US" sz="420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1209675" y="4477196"/>
            <a:ext cx="1074465" cy="219075"/>
          </a:xfrm>
          <a:prstGeom prst="roundRect">
            <a:avLst>
              <a:gd name="adj" fmla="val 50000"/>
            </a:avLst>
          </a:prstGeom>
          <a:solidFill>
            <a:srgbClr val="2E7D32">
              <a:alpha val="12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304925" y="4515296"/>
            <a:ext cx="219075" cy="1809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125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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1514475" y="4510534"/>
            <a:ext cx="750615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500"/>
              </a:lnSpc>
              <a:buNone/>
            </a:pPr>
            <a:r>
              <a:rPr lang="en-US" sz="10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quarter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457700" y="3238946"/>
            <a:ext cx="3276600" cy="1738313"/>
          </a:xfrm>
          <a:prstGeom prst="roundRect">
            <a:avLst>
              <a:gd name="adj" fmla="val 7671"/>
            </a:avLst>
          </a:prstGeom>
          <a:solidFill>
            <a:srgbClr val="FFFFFF"/>
          </a:solidFill>
          <a:ln w="9525">
            <a:solidFill>
              <a:srgbClr val="C4D3E6"/>
            </a:solidFill>
            <a:prstDash val="solid"/>
          </a:ln>
          <a:effectLst>
            <a:outerShdw sx="100000" sy="100000" kx="0" ky="0" algn="bl" rotWithShape="0" blurRad="381000" dist="171450" dir="5400000">
              <a:srgbClr val="141C28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2975" y="3515171"/>
            <a:ext cx="295465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58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ACCOUNTS UPGRADED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4752975" y="3791396"/>
            <a:ext cx="295465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189"/>
              </a:lnSpc>
              <a:buNone/>
            </a:pPr>
            <a:r>
              <a:rPr lang="en-US" sz="420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4200" dirty="0"/>
          </a:p>
        </p:txBody>
      </p:sp>
      <p:sp>
        <p:nvSpPr>
          <p:cNvPr id="15" name="Shape 13"/>
          <p:cNvSpPr/>
          <p:nvPr/>
        </p:nvSpPr>
        <p:spPr>
          <a:xfrm>
            <a:off x="4752975" y="4477196"/>
            <a:ext cx="1530474" cy="219075"/>
          </a:xfrm>
          <a:prstGeom prst="roundRect">
            <a:avLst>
              <a:gd name="adj" fmla="val 50000"/>
            </a:avLst>
          </a:prstGeom>
          <a:solidFill>
            <a:srgbClr val="2E7D32">
              <a:alpha val="12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848225" y="4515296"/>
            <a:ext cx="219075" cy="1809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125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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5057775" y="4510534"/>
            <a:ext cx="1206624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500"/>
              </a:lnSpc>
              <a:buNone/>
            </a:pPr>
            <a:r>
              <a:rPr lang="en-US" sz="10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 recovered sales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01000" y="3238946"/>
            <a:ext cx="3276600" cy="1738313"/>
          </a:xfrm>
          <a:prstGeom prst="roundRect">
            <a:avLst>
              <a:gd name="adj" fmla="val 7671"/>
            </a:avLst>
          </a:prstGeom>
          <a:solidFill>
            <a:srgbClr val="FFFFFF"/>
          </a:solidFill>
          <a:ln w="9525">
            <a:solidFill>
              <a:srgbClr val="C4D3E6"/>
            </a:solidFill>
            <a:prstDash val="solid"/>
          </a:ln>
          <a:effectLst>
            <a:outerShdw sx="100000" sy="100000" kx="0" ky="0" algn="bl" rotWithShape="0" blurRad="381000" dist="171450" dir="5400000">
              <a:srgbClr val="141C28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296275" y="3515171"/>
            <a:ext cx="295465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58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 SUCCESS RATE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8296275" y="3791396"/>
            <a:ext cx="295465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189"/>
              </a:lnSpc>
              <a:buNone/>
            </a:pPr>
            <a:r>
              <a:rPr lang="en-US" sz="420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</a:t>
            </a:r>
            <a:pPr algn="l" indent="0" marL="0">
              <a:lnSpc>
                <a:spcPct val="88189"/>
              </a:lnSpc>
              <a:buNone/>
            </a:pPr>
            <a:r>
              <a:rPr lang="en-US" sz="2250" b="1" dirty="0">
                <a:solidFill>
                  <a:srgbClr val="546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4200" dirty="0"/>
          </a:p>
        </p:txBody>
      </p:sp>
      <p:sp>
        <p:nvSpPr>
          <p:cNvPr id="21" name="Text 19"/>
          <p:cNvSpPr/>
          <p:nvPr/>
        </p:nvSpPr>
        <p:spPr>
          <a:xfrm>
            <a:off x="8296275" y="4439096"/>
            <a:ext cx="295465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from 19% in first-click test</a:t>
            </a:r>
            <a:endParaRPr lang="en-US" sz="11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2DDEC">
                  <a:alpha val="100000"/>
                </a:srgbClr>
              </a:gs>
              <a:gs pos="100000">
                <a:srgbClr val="E9EFF7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1423988"/>
            <a:ext cx="3505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b="1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41165" y="1447800"/>
            <a:ext cx="111502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372"/>
              </a:lnSpc>
              <a:buNone/>
            </a:pPr>
            <a:r>
              <a:rPr lang="en-US" sz="1425" spc="314" kern="0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OUTCOME</a:t>
            </a:r>
            <a:endParaRPr lang="en-US" sz="1425" dirty="0"/>
          </a:p>
        </p:txBody>
      </p:sp>
      <p:sp>
        <p:nvSpPr>
          <p:cNvPr id="5" name="Shape 3"/>
          <p:cNvSpPr/>
          <p:nvPr/>
        </p:nvSpPr>
        <p:spPr>
          <a:xfrm>
            <a:off x="914400" y="2071688"/>
            <a:ext cx="5320085" cy="1566863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9525">
            <a:solidFill>
              <a:srgbClr val="C4D3E6"/>
            </a:solidFill>
            <a:prstDash val="solid"/>
          </a:ln>
          <a:effectLst>
            <a:outerShdw sx="100000" sy="100000" kx="0" ky="0" algn="bl" rotWithShape="0" blurRad="381000" dist="171450" dir="5400000">
              <a:srgbClr val="141C28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71575" y="2309813"/>
            <a:ext cx="528630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58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REPORTING TIME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1171575" y="2586038"/>
            <a:ext cx="5286308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619"/>
              </a:lnSpc>
              <a:buNone/>
            </a:pPr>
            <a:r>
              <a:rPr lang="en-US" sz="345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ct val="87619"/>
              </a:lnSpc>
              <a:buNone/>
            </a:pPr>
            <a:r>
              <a:rPr lang="en-US" sz="2250" b="1" dirty="0">
                <a:solidFill>
                  <a:srgbClr val="546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→ 1 hr</a:t>
            </a:r>
            <a:endParaRPr lang="en-US" sz="3450" dirty="0"/>
          </a:p>
        </p:txBody>
      </p:sp>
      <p:sp>
        <p:nvSpPr>
          <p:cNvPr id="8" name="Shape 6"/>
          <p:cNvSpPr/>
          <p:nvPr/>
        </p:nvSpPr>
        <p:spPr>
          <a:xfrm>
            <a:off x="1171575" y="3176588"/>
            <a:ext cx="922660" cy="219075"/>
          </a:xfrm>
          <a:prstGeom prst="roundRect">
            <a:avLst>
              <a:gd name="adj" fmla="val 50000"/>
            </a:avLst>
          </a:prstGeom>
          <a:solidFill>
            <a:srgbClr val="2E7D32">
              <a:alpha val="12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266825" y="3214688"/>
            <a:ext cx="219075" cy="1809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125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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1476375" y="3209925"/>
            <a:ext cx="59881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500"/>
              </a:lnSpc>
              <a:buNone/>
            </a:pPr>
            <a:r>
              <a:rPr lang="en-US" sz="10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8× faster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14400" y="3867150"/>
            <a:ext cx="5320085" cy="1566863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9525">
            <a:solidFill>
              <a:srgbClr val="C4D3E6"/>
            </a:solidFill>
            <a:prstDash val="solid"/>
          </a:ln>
          <a:effectLst>
            <a:outerShdw sx="100000" sy="100000" kx="0" ky="0" algn="bl" rotWithShape="0" blurRad="381000" dist="171450" dir="5400000">
              <a:srgbClr val="141C28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171575" y="4105275"/>
            <a:ext cx="528630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58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ENTERPRISE ACCOUNTS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1171575" y="4381500"/>
            <a:ext cx="5286308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619"/>
              </a:lnSpc>
              <a:buNone/>
            </a:pPr>
            <a:r>
              <a:rPr lang="en-US" sz="345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3450" dirty="0"/>
          </a:p>
        </p:txBody>
      </p:sp>
      <p:sp>
        <p:nvSpPr>
          <p:cNvPr id="14" name="Shape 12"/>
          <p:cNvSpPr/>
          <p:nvPr/>
        </p:nvSpPr>
        <p:spPr>
          <a:xfrm>
            <a:off x="1171575" y="4972050"/>
            <a:ext cx="1385664" cy="219075"/>
          </a:xfrm>
          <a:prstGeom prst="roundRect">
            <a:avLst>
              <a:gd name="adj" fmla="val 50000"/>
            </a:avLst>
          </a:prstGeom>
          <a:solidFill>
            <a:srgbClr val="2E7D32">
              <a:alpha val="12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266825" y="5010150"/>
            <a:ext cx="219075" cy="1809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125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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1476375" y="5005388"/>
            <a:ext cx="1061814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500"/>
              </a:lnSpc>
              <a:buNone/>
            </a:pPr>
            <a:r>
              <a:rPr lang="en-US" sz="10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two quarters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844085" y="1539329"/>
            <a:ext cx="38100" cy="3779341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18" name="Text 16"/>
          <p:cNvSpPr/>
          <p:nvPr/>
        </p:nvSpPr>
        <p:spPr>
          <a:xfrm>
            <a:off x="7263185" y="1539329"/>
            <a:ext cx="2770540" cy="3055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3300" spc="-33" kern="0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“It </a:t>
            </a:r>
            <a:pPr algn="l" indent="0" marL="0">
              <a:lnSpc>
                <a:spcPct val="106667"/>
              </a:lnSpc>
              <a:buNone/>
            </a:pPr>
            <a:r>
              <a:rPr lang="en-US" sz="3300" spc="-33" kern="0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cut our reporting time from a day to an hour. </a:t>
            </a:r>
            <a:pPr algn="l" indent="0" marL="0">
              <a:lnSpc>
                <a:spcPct val="106667"/>
              </a:lnSpc>
              <a:buNone/>
            </a:pPr>
            <a:r>
              <a:rPr lang="en-US" sz="3300" spc="-33" kern="0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”</a:t>
            </a:r>
            <a:endParaRPr lang="en-US" sz="3300" dirty="0"/>
          </a:p>
        </p:txBody>
      </p:sp>
      <p:sp>
        <p:nvSpPr>
          <p:cNvPr id="19" name="Text 17"/>
          <p:cNvSpPr/>
          <p:nvPr/>
        </p:nvSpPr>
        <p:spPr>
          <a:xfrm>
            <a:off x="7263185" y="4861471"/>
            <a:ext cx="277054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1500" spc="-15" kern="0" dirty="0">
                <a:solidFill>
                  <a:srgbClr val="546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VP of Insights, NetBase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2DDEC">
                  <a:alpha val="100000"/>
                </a:srgbClr>
              </a:gs>
              <a:gs pos="100000">
                <a:srgbClr val="E9EFF7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762000"/>
            <a:ext cx="3505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b="1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41165" y="785813"/>
            <a:ext cx="126340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372"/>
              </a:lnSpc>
              <a:buNone/>
            </a:pPr>
            <a:r>
              <a:rPr lang="en-US" sz="1425" spc="314" kern="0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ADOPTION</a:t>
            </a:r>
            <a:endParaRPr lang="en-US" sz="1425" dirty="0"/>
          </a:p>
        </p:txBody>
      </p:sp>
      <p:sp>
        <p:nvSpPr>
          <p:cNvPr id="5" name="Text 3"/>
          <p:cNvSpPr/>
          <p:nvPr/>
        </p:nvSpPr>
        <p:spPr>
          <a:xfrm>
            <a:off x="914400" y="1181100"/>
            <a:ext cx="11399520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42"/>
              </a:lnSpc>
              <a:buNone/>
            </a:pPr>
            <a:r>
              <a:rPr lang="en-US" sz="3900" b="1" spc="-78" kern="0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Enterprise seats, first two quarters</a:t>
            </a:r>
            <a:endParaRPr lang="en-US" sz="3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82105"/>
            <a:ext cx="7048500" cy="3619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20100" y="3191768"/>
            <a:ext cx="31432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136"/>
              </a:lnSpc>
              <a:buNone/>
            </a:pPr>
            <a:r>
              <a:rPr lang="en-US" sz="3900" b="1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3900" dirty="0"/>
          </a:p>
        </p:txBody>
      </p:sp>
      <p:sp>
        <p:nvSpPr>
          <p:cNvPr id="8" name="Text 5"/>
          <p:cNvSpPr/>
          <p:nvPr/>
        </p:nvSpPr>
        <p:spPr>
          <a:xfrm>
            <a:off x="8420100" y="3820418"/>
            <a:ext cx="2943225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350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enterprise accounts by end of Q2 — 8 of them upgrades from the free tier.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2DDEC">
                  <a:alpha val="100000"/>
                </a:srgbClr>
              </a:gs>
              <a:gs pos="100000">
                <a:srgbClr val="E9EFF7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762000"/>
            <a:ext cx="3505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b="1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41165" y="785813"/>
            <a:ext cx="126340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372"/>
              </a:lnSpc>
              <a:buNone/>
            </a:pPr>
            <a:r>
              <a:rPr lang="en-US" sz="1425" spc="314" kern="0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GOAL</a:t>
            </a:r>
            <a:endParaRPr lang="en-US" sz="1425" dirty="0"/>
          </a:p>
        </p:txBody>
      </p:sp>
      <p:sp>
        <p:nvSpPr>
          <p:cNvPr id="5" name="Text 3"/>
          <p:cNvSpPr/>
          <p:nvPr/>
        </p:nvSpPr>
        <p:spPr>
          <a:xfrm>
            <a:off x="914400" y="1181100"/>
            <a:ext cx="7456170" cy="9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3300" b="1" spc="-66" kern="0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the one number that matters impossible to miss.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914400" y="2480221"/>
            <a:ext cx="3301975" cy="1199108"/>
          </a:xfrm>
          <a:prstGeom prst="roundRect">
            <a:avLst>
              <a:gd name="adj" fmla="val 95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0" dist="171450" dir="5400000">
              <a:srgbClr val="141C28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3669804"/>
            <a:ext cx="3301975" cy="9525"/>
          </a:xfrm>
          <a:prstGeom prst="rect">
            <a:avLst/>
          </a:prstGeom>
          <a:solidFill>
            <a:srgbClr val="C4D3E6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2480221"/>
            <a:ext cx="3301975" cy="9525"/>
          </a:xfrm>
          <a:prstGeom prst="rect">
            <a:avLst/>
          </a:prstGeom>
          <a:solidFill>
            <a:srgbClr val="C4D3E6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2480221"/>
            <a:ext cx="38100" cy="1199108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10" name="Shape 8"/>
          <p:cNvSpPr/>
          <p:nvPr/>
        </p:nvSpPr>
        <p:spPr>
          <a:xfrm>
            <a:off x="4206850" y="2480221"/>
            <a:ext cx="9525" cy="1199108"/>
          </a:xfrm>
          <a:prstGeom prst="rect">
            <a:avLst/>
          </a:prstGeom>
          <a:solidFill>
            <a:srgbClr val="C4D3E6"/>
          </a:solidFill>
          <a:ln/>
        </p:spPr>
      </p:sp>
      <p:sp>
        <p:nvSpPr>
          <p:cNvPr id="11" name="Text 9"/>
          <p:cNvSpPr/>
          <p:nvPr/>
        </p:nvSpPr>
        <p:spPr>
          <a:xfrm>
            <a:off x="1181100" y="2699296"/>
            <a:ext cx="307686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13" kern="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SPEED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1181100" y="2980283"/>
            <a:ext cx="2881065" cy="518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 weekly reporting from a day to under an hour.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444975" y="2480221"/>
            <a:ext cx="3301975" cy="1199108"/>
          </a:xfrm>
          <a:prstGeom prst="roundRect">
            <a:avLst>
              <a:gd name="adj" fmla="val 95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0" dist="171450" dir="5400000">
              <a:srgbClr val="141C28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44975" y="3669804"/>
            <a:ext cx="3301975" cy="9525"/>
          </a:xfrm>
          <a:prstGeom prst="rect">
            <a:avLst/>
          </a:prstGeom>
          <a:solidFill>
            <a:srgbClr val="C4D3E6"/>
          </a:solidFill>
          <a:ln/>
        </p:spPr>
      </p:sp>
      <p:sp>
        <p:nvSpPr>
          <p:cNvPr id="15" name="Shape 13"/>
          <p:cNvSpPr/>
          <p:nvPr/>
        </p:nvSpPr>
        <p:spPr>
          <a:xfrm>
            <a:off x="4444975" y="2480221"/>
            <a:ext cx="3301975" cy="9525"/>
          </a:xfrm>
          <a:prstGeom prst="rect">
            <a:avLst/>
          </a:prstGeom>
          <a:solidFill>
            <a:srgbClr val="C4D3E6"/>
          </a:solidFill>
          <a:ln/>
        </p:spPr>
      </p:sp>
      <p:sp>
        <p:nvSpPr>
          <p:cNvPr id="16" name="Shape 14"/>
          <p:cNvSpPr/>
          <p:nvPr/>
        </p:nvSpPr>
        <p:spPr>
          <a:xfrm>
            <a:off x="4444975" y="2480221"/>
            <a:ext cx="38100" cy="1199108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17" name="Shape 15"/>
          <p:cNvSpPr/>
          <p:nvPr/>
        </p:nvSpPr>
        <p:spPr>
          <a:xfrm>
            <a:off x="7737425" y="2480221"/>
            <a:ext cx="9525" cy="1199108"/>
          </a:xfrm>
          <a:prstGeom prst="rect">
            <a:avLst/>
          </a:prstGeom>
          <a:solidFill>
            <a:srgbClr val="C4D3E6"/>
          </a:solidFill>
          <a:ln/>
        </p:spPr>
      </p:sp>
      <p:sp>
        <p:nvSpPr>
          <p:cNvPr id="18" name="Text 16"/>
          <p:cNvSpPr/>
          <p:nvPr/>
        </p:nvSpPr>
        <p:spPr>
          <a:xfrm>
            <a:off x="4711675" y="2699296"/>
            <a:ext cx="307686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13" kern="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TRUST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4711675" y="2980283"/>
            <a:ext cx="2881065" cy="518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metric traceable to its source in one click.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7975550" y="2480221"/>
            <a:ext cx="3301975" cy="1199108"/>
          </a:xfrm>
          <a:prstGeom prst="roundRect">
            <a:avLst>
              <a:gd name="adj" fmla="val 95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0" dist="171450" dir="5400000">
              <a:srgbClr val="141C28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975550" y="3669804"/>
            <a:ext cx="3301975" cy="9525"/>
          </a:xfrm>
          <a:prstGeom prst="rect">
            <a:avLst/>
          </a:prstGeom>
          <a:solidFill>
            <a:srgbClr val="C4D3E6"/>
          </a:solidFill>
          <a:ln/>
        </p:spPr>
      </p:sp>
      <p:sp>
        <p:nvSpPr>
          <p:cNvPr id="22" name="Shape 20"/>
          <p:cNvSpPr/>
          <p:nvPr/>
        </p:nvSpPr>
        <p:spPr>
          <a:xfrm>
            <a:off x="7975550" y="2480221"/>
            <a:ext cx="3301975" cy="9525"/>
          </a:xfrm>
          <a:prstGeom prst="rect">
            <a:avLst/>
          </a:prstGeom>
          <a:solidFill>
            <a:srgbClr val="C4D3E6"/>
          </a:solidFill>
          <a:ln/>
        </p:spPr>
      </p:sp>
      <p:sp>
        <p:nvSpPr>
          <p:cNvPr id="23" name="Shape 21"/>
          <p:cNvSpPr/>
          <p:nvPr/>
        </p:nvSpPr>
        <p:spPr>
          <a:xfrm>
            <a:off x="7975550" y="2480221"/>
            <a:ext cx="38100" cy="1199108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24" name="Shape 22"/>
          <p:cNvSpPr/>
          <p:nvPr/>
        </p:nvSpPr>
        <p:spPr>
          <a:xfrm>
            <a:off x="11268001" y="2480221"/>
            <a:ext cx="9525" cy="1199108"/>
          </a:xfrm>
          <a:prstGeom prst="rect">
            <a:avLst/>
          </a:prstGeom>
          <a:solidFill>
            <a:srgbClr val="C4D3E6"/>
          </a:solidFill>
          <a:ln/>
        </p:spPr>
      </p:sp>
      <p:sp>
        <p:nvSpPr>
          <p:cNvPr id="25" name="Text 23"/>
          <p:cNvSpPr/>
          <p:nvPr/>
        </p:nvSpPr>
        <p:spPr>
          <a:xfrm>
            <a:off x="8242250" y="2699296"/>
            <a:ext cx="307686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13" kern="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ADOPTION</a:t>
            </a:r>
            <a:endParaRPr lang="en-US" sz="1125" dirty="0"/>
          </a:p>
        </p:txBody>
      </p:sp>
      <p:sp>
        <p:nvSpPr>
          <p:cNvPr id="26" name="Text 24"/>
          <p:cNvSpPr/>
          <p:nvPr/>
        </p:nvSpPr>
        <p:spPr>
          <a:xfrm>
            <a:off x="8242250" y="2980283"/>
            <a:ext cx="2881065" cy="518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 10+ enterprise accounts in two quarters.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2DDEC">
                  <a:alpha val="100000"/>
                </a:srgbClr>
              </a:gs>
              <a:gs pos="100000">
                <a:srgbClr val="E9EFF7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762000"/>
            <a:ext cx="3505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b="1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41165" y="785813"/>
            <a:ext cx="3754547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372"/>
              </a:lnSpc>
              <a:buNone/>
            </a:pPr>
            <a:r>
              <a:rPr lang="en-US" sz="1425" spc="314" kern="0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 DESIGNED AGAINST</a:t>
            </a:r>
            <a:endParaRPr lang="en-US" sz="1425" dirty="0"/>
          </a:p>
        </p:txBody>
      </p:sp>
      <p:sp>
        <p:nvSpPr>
          <p:cNvPr id="5" name="Text 3"/>
          <p:cNvSpPr/>
          <p:nvPr/>
        </p:nvSpPr>
        <p:spPr>
          <a:xfrm>
            <a:off x="914400" y="1181100"/>
            <a:ext cx="11399520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42"/>
              </a:lnSpc>
              <a:buNone/>
            </a:pPr>
            <a:r>
              <a:rPr lang="en-US" sz="3900" b="1" spc="-78" kern="0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Three principles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914400" y="2120205"/>
            <a:ext cx="3276600" cy="2257425"/>
          </a:xfrm>
          <a:prstGeom prst="roundRect">
            <a:avLst>
              <a:gd name="adj" fmla="val 5907"/>
            </a:avLst>
          </a:prstGeom>
          <a:solidFill>
            <a:srgbClr val="FFFFFF"/>
          </a:solidFill>
          <a:ln w="9525">
            <a:solidFill>
              <a:srgbClr val="C4D3E6"/>
            </a:solidFill>
            <a:prstDash val="solid"/>
          </a:ln>
          <a:effectLst>
            <a:outerShdw sx="100000" sy="100000" kx="0" ky="0" algn="bl" rotWithShape="0" blurRad="381000" dist="171450" dir="5400000">
              <a:srgbClr val="141C28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90625" y="2415480"/>
            <a:ext cx="438150" cy="438150"/>
          </a:xfrm>
          <a:prstGeom prst="roundRect">
            <a:avLst>
              <a:gd name="adj" fmla="val 21739"/>
            </a:avLst>
          </a:prstGeom>
          <a:solidFill>
            <a:srgbClr val="F4F8FF"/>
          </a:solidFill>
          <a:ln w="9525">
            <a:solidFill>
              <a:srgbClr val="C4D3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5875" y="2510730"/>
            <a:ext cx="323850" cy="2857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6667"/>
              </a:lnSpc>
              <a:buNone/>
            </a:pPr>
            <a:r>
              <a:rPr lang="en-US" sz="1950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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190625" y="3044130"/>
            <a:ext cx="299656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Signal over noise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190625" y="3396555"/>
            <a:ext cx="280587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730"/>
              </a:lnSpc>
              <a:buNone/>
            </a:pPr>
            <a:r>
              <a:rPr lang="en-US" sz="1200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screen answers one question first. Everything else earns its place or gets cut.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57700" y="2120205"/>
            <a:ext cx="3276600" cy="2257425"/>
          </a:xfrm>
          <a:prstGeom prst="roundRect">
            <a:avLst>
              <a:gd name="adj" fmla="val 5907"/>
            </a:avLst>
          </a:prstGeom>
          <a:solidFill>
            <a:srgbClr val="FFFFFF"/>
          </a:solidFill>
          <a:ln w="9525">
            <a:solidFill>
              <a:srgbClr val="C4D3E6"/>
            </a:solidFill>
            <a:prstDash val="solid"/>
          </a:ln>
          <a:effectLst>
            <a:outerShdw sx="100000" sy="100000" kx="0" ky="0" algn="bl" rotWithShape="0" blurRad="381000" dist="171450" dir="5400000">
              <a:srgbClr val="141C28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33925" y="2415480"/>
            <a:ext cx="438150" cy="438150"/>
          </a:xfrm>
          <a:prstGeom prst="roundRect">
            <a:avLst>
              <a:gd name="adj" fmla="val 21739"/>
            </a:avLst>
          </a:prstGeom>
          <a:solidFill>
            <a:srgbClr val="F4F8FF"/>
          </a:solidFill>
          <a:ln w="9525">
            <a:solidFill>
              <a:srgbClr val="C4D3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29175" y="2510730"/>
            <a:ext cx="323850" cy="2857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6667"/>
              </a:lnSpc>
              <a:buNone/>
            </a:pPr>
            <a:r>
              <a:rPr lang="en-US" sz="1950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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4733925" y="3044130"/>
            <a:ext cx="299656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Trust every number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4733925" y="3396555"/>
            <a:ext cx="280587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730"/>
              </a:lnSpc>
              <a:buNone/>
            </a:pPr>
            <a:r>
              <a:rPr lang="en-US" sz="1200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metric appears without a one-click path to the data behind it.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01000" y="2120205"/>
            <a:ext cx="3276600" cy="2257425"/>
          </a:xfrm>
          <a:prstGeom prst="roundRect">
            <a:avLst>
              <a:gd name="adj" fmla="val 5907"/>
            </a:avLst>
          </a:prstGeom>
          <a:solidFill>
            <a:srgbClr val="FFFFFF"/>
          </a:solidFill>
          <a:ln w="9525">
            <a:solidFill>
              <a:srgbClr val="C4D3E6"/>
            </a:solidFill>
            <a:prstDash val="solid"/>
          </a:ln>
          <a:effectLst>
            <a:outerShdw sx="100000" sy="100000" kx="0" ky="0" algn="bl" rotWithShape="0" blurRad="381000" dist="171450" dir="5400000">
              <a:srgbClr val="141C28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77225" y="2415480"/>
            <a:ext cx="438150" cy="438150"/>
          </a:xfrm>
          <a:prstGeom prst="roundRect">
            <a:avLst>
              <a:gd name="adj" fmla="val 21739"/>
            </a:avLst>
          </a:prstGeom>
          <a:solidFill>
            <a:srgbClr val="F4F8FF"/>
          </a:solidFill>
          <a:ln w="9525">
            <a:solidFill>
              <a:srgbClr val="C4D3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72475" y="2510730"/>
            <a:ext cx="323850" cy="2857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6667"/>
              </a:lnSpc>
              <a:buNone/>
            </a:pPr>
            <a:r>
              <a:rPr lang="en-US" sz="1950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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8277225" y="3044130"/>
            <a:ext cx="299656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 by default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8277225" y="3396555"/>
            <a:ext cx="280587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730"/>
              </a:lnSpc>
              <a:buNone/>
            </a:pPr>
            <a:r>
              <a:rPr lang="en-US" sz="1200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common read takes zero setup. Depth is available, never required.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2DDEC">
                  <a:alpha val="100000"/>
                </a:srgbClr>
              </a:gs>
              <a:gs pos="100000">
                <a:srgbClr val="E9EFF7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762000"/>
            <a:ext cx="3505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b="1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41165" y="785813"/>
            <a:ext cx="326480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372"/>
              </a:lnSpc>
              <a:buNone/>
            </a:pPr>
            <a:r>
              <a:rPr lang="en-US" sz="1425" spc="314" kern="0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WE APPROACHED IT</a:t>
            </a:r>
            <a:endParaRPr lang="en-US" sz="1425" dirty="0"/>
          </a:p>
        </p:txBody>
      </p:sp>
      <p:sp>
        <p:nvSpPr>
          <p:cNvPr id="5" name="Text 3"/>
          <p:cNvSpPr/>
          <p:nvPr/>
        </p:nvSpPr>
        <p:spPr>
          <a:xfrm>
            <a:off x="914400" y="1181100"/>
            <a:ext cx="11399520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42"/>
              </a:lnSpc>
              <a:buNone/>
            </a:pPr>
            <a:r>
              <a:rPr lang="en-US" sz="3900" b="1" spc="-78" kern="0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Three moves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914400" y="2120205"/>
            <a:ext cx="3276600" cy="1905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C4D3E6"/>
            </a:solidFill>
            <a:prstDash val="solid"/>
          </a:ln>
          <a:effectLst>
            <a:outerShdw sx="100000" sy="100000" kx="0" ky="0" algn="bl" rotWithShape="0" blurRad="381000" dist="171450" dir="5400000">
              <a:srgbClr val="141C28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90625" y="2415480"/>
            <a:ext cx="299656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42A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1190625" y="2691705"/>
            <a:ext cx="299656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Cut to one metric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190625" y="3044130"/>
            <a:ext cx="280587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730"/>
              </a:lnSpc>
              <a:buNone/>
            </a:pPr>
            <a:r>
              <a:rPr lang="en-US" sz="1200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Chose a single headline number per view and demoted the rest to drill-downs.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57700" y="2120205"/>
            <a:ext cx="3276600" cy="1905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C4D3E6"/>
            </a:solidFill>
            <a:prstDash val="solid"/>
          </a:ln>
          <a:effectLst>
            <a:outerShdw sx="100000" sy="100000" kx="0" ky="0" algn="bl" rotWithShape="0" blurRad="381000" dist="171450" dir="5400000">
              <a:srgbClr val="141C28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33925" y="2415480"/>
            <a:ext cx="299656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42A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4733925" y="2691705"/>
            <a:ext cx="299656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on demand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4733925" y="3044130"/>
            <a:ext cx="280587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730"/>
              </a:lnSpc>
              <a:buNone/>
            </a:pPr>
            <a:r>
              <a:rPr lang="en-US" sz="1200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Attached a traceable data path to every figure, one click away.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01000" y="2120205"/>
            <a:ext cx="3276600" cy="1905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C4D3E6"/>
            </a:solidFill>
            <a:prstDash val="solid"/>
          </a:ln>
          <a:effectLst>
            <a:outerShdw sx="100000" sy="100000" kx="0" ky="0" algn="bl" rotWithShape="0" blurRad="381000" dist="171450" dir="5400000">
              <a:srgbClr val="141C28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77225" y="2415480"/>
            <a:ext cx="299656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42A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8277225" y="2691705"/>
            <a:ext cx="299656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 in real time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8277225" y="3044130"/>
            <a:ext cx="280587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730"/>
              </a:lnSpc>
              <a:buNone/>
            </a:pPr>
            <a:r>
              <a:rPr lang="en-US" sz="1200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Moved notifications from nightly batch to the moment a threshold breaks.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2DDEC">
                  <a:alpha val="100000"/>
                </a:srgbClr>
              </a:gs>
              <a:gs pos="100000">
                <a:srgbClr val="E9EFF7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914400" y="1378744"/>
            <a:ext cx="5564460" cy="4100513"/>
          </a:xfrm>
          <a:prstGeom prst="roundRect">
            <a:avLst>
              <a:gd name="adj" fmla="val 4181"/>
            </a:avLst>
          </a:prstGeom>
          <a:solidFill>
            <a:srgbClr val="FFFFFF"/>
          </a:solidFill>
          <a:ln w="9525">
            <a:solidFill>
              <a:srgbClr val="C4D3E6"/>
            </a:solidFill>
            <a:prstDash val="solid"/>
          </a:ln>
          <a:effectLst>
            <a:outerShdw sx="100000" sy="100000" kx="0" ky="0" algn="bl" rotWithShape="0" blurRad="571500" dist="228600" dir="5400000">
              <a:srgbClr val="141C28">
                <a:alpha val="4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23925" y="1840706"/>
            <a:ext cx="5545410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5" name="Shape 3"/>
          <p:cNvSpPr/>
          <p:nvPr/>
        </p:nvSpPr>
        <p:spPr>
          <a:xfrm>
            <a:off x="1095375" y="1562100"/>
            <a:ext cx="104775" cy="104775"/>
          </a:xfrm>
          <a:prstGeom prst="ellipse">
            <a:avLst/>
          </a:prstGeom>
          <a:solidFill>
            <a:srgbClr val="E1552F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276350" y="1562100"/>
            <a:ext cx="104775" cy="104775"/>
          </a:xfrm>
          <a:prstGeom prst="ellipse">
            <a:avLst/>
          </a:prstGeom>
          <a:solidFill>
            <a:srgbClr val="E0A62F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457325" y="1562100"/>
            <a:ext cx="104775" cy="104775"/>
          </a:xfrm>
          <a:prstGeom prst="ellipse">
            <a:avLst/>
          </a:prstGeom>
          <a:solidFill>
            <a:srgbClr val="2E7D32">
              <a:alpha val="4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714500" y="1521619"/>
            <a:ext cx="2357438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58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app.netbase.com / compare</a:t>
            </a:r>
            <a:endParaRPr lang="en-US" sz="1125" dirty="0"/>
          </a:p>
        </p:txBody>
      </p:sp>
      <p:sp>
        <p:nvSpPr>
          <p:cNvPr id="9" name="Shape 7"/>
          <p:cNvSpPr/>
          <p:nvPr/>
        </p:nvSpPr>
        <p:spPr>
          <a:xfrm>
            <a:off x="923925" y="1850231"/>
            <a:ext cx="5545410" cy="3619500"/>
          </a:xfrm>
          <a:prstGeom prst="rect">
            <a:avLst/>
          </a:prstGeom>
          <a:solidFill>
            <a:srgbClr val="EEF3FA"/>
          </a:solidFill>
          <a:ln/>
        </p:spPr>
      </p:sp>
      <p:sp>
        <p:nvSpPr>
          <p:cNvPr id="10" name="Shape 8"/>
          <p:cNvSpPr/>
          <p:nvPr/>
        </p:nvSpPr>
        <p:spPr>
          <a:xfrm>
            <a:off x="2308771" y="3462338"/>
            <a:ext cx="2775645" cy="395288"/>
          </a:xfrm>
          <a:prstGeom prst="roundRect">
            <a:avLst>
              <a:gd name="adj" fmla="val 19277"/>
            </a:avLst>
          </a:prstGeom>
          <a:solidFill>
            <a:srgbClr val="FFFFFF">
              <a:alpha val="70000"/>
            </a:srgbClr>
          </a:solidFill>
          <a:ln w="9525">
            <a:solidFill>
              <a:srgbClr val="C4D3E6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2429061" y="3567113"/>
            <a:ext cx="2535064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spc="68" kern="0" dirty="0">
                <a:solidFill>
                  <a:srgbClr val="58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 screenshot · 16:10</a:t>
            </a:r>
            <a:endParaRPr lang="en-US" sz="1125" dirty="0"/>
          </a:p>
        </p:txBody>
      </p:sp>
      <p:sp>
        <p:nvSpPr>
          <p:cNvPr id="12" name="Shape 10"/>
          <p:cNvSpPr/>
          <p:nvPr/>
        </p:nvSpPr>
        <p:spPr>
          <a:xfrm>
            <a:off x="7164660" y="1388120"/>
            <a:ext cx="1440210" cy="328613"/>
          </a:xfrm>
          <a:prstGeom prst="roundRect">
            <a:avLst>
              <a:gd name="adj" fmla="val 50000"/>
            </a:avLst>
          </a:prstGeom>
          <a:solidFill>
            <a:srgbClr val="F4F8FF"/>
          </a:solidFill>
          <a:ln w="9525">
            <a:solidFill>
              <a:srgbClr val="C4D3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07535" y="1480989"/>
            <a:ext cx="219075" cy="1809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125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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7555185" y="1464320"/>
            <a:ext cx="98301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84" kern="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 03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164660" y="1926282"/>
            <a:ext cx="4236328" cy="9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3300" b="1" spc="-66" kern="0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Side-by-side Compare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7164660" y="3015853"/>
            <a:ext cx="4236328" cy="968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1575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Analysts pit up to four brands against each other on the same axes — the feature that closed the most enterprise deals.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7031310" y="4212580"/>
            <a:ext cx="4322490" cy="1143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15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 any metric onto the shared axis</a:t>
            </a:r>
            <a:endParaRPr lang="en-US" sz="1500" dirty="0"/>
          </a:p>
          <a:p>
            <a:pPr algn="l" indent="0" marL="0">
              <a:lnSpc>
                <a:spcPct val="124444"/>
              </a:lnSpc>
              <a:buNone/>
            </a:pPr>
            <a:r>
              <a:rPr lang="en-US" sz="15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 to a shareable report in one click</a:t>
            </a:r>
            <a:endParaRPr lang="en-US" sz="1500" dirty="0"/>
          </a:p>
          <a:p>
            <a:pPr algn="l" indent="0" marL="0">
              <a:lnSpc>
                <a:spcPct val="124444"/>
              </a:lnSpc>
              <a:buNone/>
            </a:pPr>
            <a:r>
              <a:rPr lang="en-US" sz="15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Saved comparisons sync across the team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2DDEC">
                  <a:alpha val="100000"/>
                </a:srgbClr>
              </a:gs>
              <a:gs pos="100000">
                <a:srgbClr val="E9EFF7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762000"/>
            <a:ext cx="3505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b="1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41165" y="785813"/>
            <a:ext cx="1958883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372"/>
              </a:lnSpc>
              <a:buNone/>
            </a:pPr>
            <a:r>
              <a:rPr lang="en-US" sz="1425" spc="314" kern="0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REDESIGN</a:t>
            </a:r>
            <a:endParaRPr lang="en-US" sz="1425" dirty="0"/>
          </a:p>
        </p:txBody>
      </p:sp>
      <p:sp>
        <p:nvSpPr>
          <p:cNvPr id="5" name="Text 3"/>
          <p:cNvSpPr/>
          <p:nvPr/>
        </p:nvSpPr>
        <p:spPr>
          <a:xfrm>
            <a:off x="914400" y="1181100"/>
            <a:ext cx="11399520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42"/>
              </a:lnSpc>
              <a:buNone/>
            </a:pPr>
            <a:r>
              <a:rPr lang="en-US" sz="3900" b="1" spc="-78" kern="0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cluttered to decisive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914400" y="2127349"/>
            <a:ext cx="95250" cy="95250"/>
          </a:xfrm>
          <a:prstGeom prst="ellipse">
            <a:avLst/>
          </a:prstGeom>
          <a:solidFill>
            <a:srgbClr val="586780"/>
          </a:solidFill>
          <a:ln/>
        </p:spPr>
      </p:sp>
      <p:sp>
        <p:nvSpPr>
          <p:cNvPr id="7" name="Text 5"/>
          <p:cNvSpPr/>
          <p:nvPr/>
        </p:nvSpPr>
        <p:spPr>
          <a:xfrm>
            <a:off x="1104900" y="2082105"/>
            <a:ext cx="727770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80" kern="0" dirty="0">
                <a:solidFill>
                  <a:srgbClr val="58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</a:t>
            </a:r>
            <a:endParaRPr lang="en-US" sz="1125" dirty="0"/>
          </a:p>
        </p:txBody>
      </p:sp>
      <p:sp>
        <p:nvSpPr>
          <p:cNvPr id="8" name="Shape 6"/>
          <p:cNvSpPr/>
          <p:nvPr/>
        </p:nvSpPr>
        <p:spPr>
          <a:xfrm>
            <a:off x="914400" y="2401193"/>
            <a:ext cx="4953000" cy="3338513"/>
          </a:xfrm>
          <a:prstGeom prst="roundRect">
            <a:avLst>
              <a:gd name="adj" fmla="val 5136"/>
            </a:avLst>
          </a:prstGeom>
          <a:solidFill>
            <a:srgbClr val="FFFFFF"/>
          </a:solidFill>
          <a:ln w="9525">
            <a:solidFill>
              <a:srgbClr val="C4D3E6"/>
            </a:solidFill>
            <a:prstDash val="solid"/>
          </a:ln>
          <a:effectLst>
            <a:outerShdw sx="100000" sy="100000" kx="0" ky="0" algn="bl" rotWithShape="0" blurRad="571500" dist="228600" dir="5400000">
              <a:srgbClr val="141C28">
                <a:alpha val="4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23925" y="2863155"/>
            <a:ext cx="4933950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10" name="Shape 8"/>
          <p:cNvSpPr/>
          <p:nvPr/>
        </p:nvSpPr>
        <p:spPr>
          <a:xfrm>
            <a:off x="1095375" y="2584549"/>
            <a:ext cx="104775" cy="104775"/>
          </a:xfrm>
          <a:prstGeom prst="ellipse">
            <a:avLst/>
          </a:prstGeom>
          <a:solidFill>
            <a:srgbClr val="E1552F">
              <a:alpha val="4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276350" y="2584549"/>
            <a:ext cx="104775" cy="104775"/>
          </a:xfrm>
          <a:prstGeom prst="ellipse">
            <a:avLst/>
          </a:prstGeom>
          <a:solidFill>
            <a:srgbClr val="E0A62F">
              <a:alpha val="4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457325" y="2584549"/>
            <a:ext cx="104775" cy="104775"/>
          </a:xfrm>
          <a:prstGeom prst="ellipse">
            <a:avLst/>
          </a:prstGeom>
          <a:solidFill>
            <a:srgbClr val="2E7D32">
              <a:alpha val="4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714500" y="2544068"/>
            <a:ext cx="150876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58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legacy dashboard</a:t>
            </a:r>
            <a:endParaRPr lang="en-US" sz="1125" dirty="0"/>
          </a:p>
        </p:txBody>
      </p:sp>
      <p:sp>
        <p:nvSpPr>
          <p:cNvPr id="14" name="Shape 12"/>
          <p:cNvSpPr/>
          <p:nvPr/>
        </p:nvSpPr>
        <p:spPr>
          <a:xfrm>
            <a:off x="923925" y="2872680"/>
            <a:ext cx="4933950" cy="2857500"/>
          </a:xfrm>
          <a:prstGeom prst="rect">
            <a:avLst/>
          </a:prstGeom>
          <a:solidFill>
            <a:srgbClr val="EEF3FA"/>
          </a:solidFill>
          <a:ln/>
        </p:spPr>
      </p:sp>
      <p:sp>
        <p:nvSpPr>
          <p:cNvPr id="15" name="Shape 13"/>
          <p:cNvSpPr/>
          <p:nvPr/>
        </p:nvSpPr>
        <p:spPr>
          <a:xfrm>
            <a:off x="2568848" y="4103787"/>
            <a:ext cx="1644030" cy="395288"/>
          </a:xfrm>
          <a:prstGeom prst="roundRect">
            <a:avLst>
              <a:gd name="adj" fmla="val 19277"/>
            </a:avLst>
          </a:prstGeom>
          <a:solidFill>
            <a:srgbClr val="FFFFFF">
              <a:alpha val="70000"/>
            </a:srgbClr>
          </a:solidFill>
          <a:ln w="9525">
            <a:solidFill>
              <a:srgbClr val="C4D3E6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2692673" y="4208562"/>
            <a:ext cx="139638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spc="68" kern="0" dirty="0">
                <a:solidFill>
                  <a:srgbClr val="58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Old screenshot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914400" y="5873055"/>
            <a:ext cx="5448300" cy="2728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410"/>
              </a:lnSpc>
              <a:buNone/>
            </a:pPr>
            <a:r>
              <a:rPr lang="en-US" sz="1275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Twelve equally-weighted widgets, no clear entry point.</a:t>
            </a:r>
            <a:endParaRPr lang="en-US" sz="1275" dirty="0"/>
          </a:p>
        </p:txBody>
      </p:sp>
      <p:sp>
        <p:nvSpPr>
          <p:cNvPr id="18" name="Shape 16"/>
          <p:cNvSpPr/>
          <p:nvPr/>
        </p:nvSpPr>
        <p:spPr>
          <a:xfrm>
            <a:off x="6324600" y="2127349"/>
            <a:ext cx="95250" cy="95250"/>
          </a:xfrm>
          <a:prstGeom prst="ellipse">
            <a:avLst/>
          </a:prstGeom>
          <a:solidFill>
            <a:srgbClr val="1976D2"/>
          </a:solidFill>
          <a:ln/>
        </p:spPr>
      </p:sp>
      <p:sp>
        <p:nvSpPr>
          <p:cNvPr id="19" name="Text 17"/>
          <p:cNvSpPr/>
          <p:nvPr/>
        </p:nvSpPr>
        <p:spPr>
          <a:xfrm>
            <a:off x="6515100" y="2082105"/>
            <a:ext cx="619125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80" kern="0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</a:t>
            </a:r>
            <a:endParaRPr lang="en-US" sz="1125" dirty="0"/>
          </a:p>
        </p:txBody>
      </p:sp>
      <p:sp>
        <p:nvSpPr>
          <p:cNvPr id="20" name="Shape 18"/>
          <p:cNvSpPr/>
          <p:nvPr/>
        </p:nvSpPr>
        <p:spPr>
          <a:xfrm>
            <a:off x="6324600" y="2401193"/>
            <a:ext cx="4953000" cy="3338513"/>
          </a:xfrm>
          <a:prstGeom prst="roundRect">
            <a:avLst>
              <a:gd name="adj" fmla="val 5136"/>
            </a:avLst>
          </a:prstGeom>
          <a:solidFill>
            <a:srgbClr val="FFFFFF"/>
          </a:solidFill>
          <a:ln w="9525">
            <a:solidFill>
              <a:srgbClr val="C4D3E6"/>
            </a:solidFill>
            <a:prstDash val="solid"/>
          </a:ln>
          <a:effectLst>
            <a:outerShdw sx="100000" sy="100000" kx="0" ky="0" algn="bl" rotWithShape="0" blurRad="571500" dist="228600" dir="5400000">
              <a:srgbClr val="141C28">
                <a:alpha val="4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34125" y="2863155"/>
            <a:ext cx="4933950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22" name="Shape 20"/>
          <p:cNvSpPr/>
          <p:nvPr/>
        </p:nvSpPr>
        <p:spPr>
          <a:xfrm>
            <a:off x="6505575" y="2584549"/>
            <a:ext cx="104775" cy="104775"/>
          </a:xfrm>
          <a:prstGeom prst="ellipse">
            <a:avLst/>
          </a:prstGeom>
          <a:solidFill>
            <a:srgbClr val="E1552F">
              <a:alpha val="4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686550" y="2584549"/>
            <a:ext cx="104775" cy="104775"/>
          </a:xfrm>
          <a:prstGeom prst="ellipse">
            <a:avLst/>
          </a:prstGeom>
          <a:solidFill>
            <a:srgbClr val="E0A62F">
              <a:alpha val="4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867525" y="2584549"/>
            <a:ext cx="104775" cy="104775"/>
          </a:xfrm>
          <a:prstGeom prst="ellipse">
            <a:avLst/>
          </a:prstGeom>
          <a:solidFill>
            <a:srgbClr val="2E7D32">
              <a:alpha val="4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7124700" y="2544068"/>
            <a:ext cx="2546033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58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app.netbase.com / dashboard</a:t>
            </a:r>
            <a:endParaRPr lang="en-US" sz="1125" dirty="0"/>
          </a:p>
        </p:txBody>
      </p:sp>
      <p:sp>
        <p:nvSpPr>
          <p:cNvPr id="26" name="Shape 24"/>
          <p:cNvSpPr/>
          <p:nvPr/>
        </p:nvSpPr>
        <p:spPr>
          <a:xfrm>
            <a:off x="6334125" y="2872680"/>
            <a:ext cx="4933950" cy="2857500"/>
          </a:xfrm>
          <a:prstGeom prst="rect">
            <a:avLst/>
          </a:prstGeom>
          <a:solidFill>
            <a:srgbClr val="EEF3FA"/>
          </a:solidFill>
          <a:ln/>
        </p:spPr>
      </p:sp>
      <p:sp>
        <p:nvSpPr>
          <p:cNvPr id="27" name="Shape 25"/>
          <p:cNvSpPr/>
          <p:nvPr/>
        </p:nvSpPr>
        <p:spPr>
          <a:xfrm>
            <a:off x="7979048" y="4103787"/>
            <a:ext cx="1644030" cy="395288"/>
          </a:xfrm>
          <a:prstGeom prst="roundRect">
            <a:avLst>
              <a:gd name="adj" fmla="val 19277"/>
            </a:avLst>
          </a:prstGeom>
          <a:solidFill>
            <a:srgbClr val="FFFFFF">
              <a:alpha val="70000"/>
            </a:srgbClr>
          </a:solidFill>
          <a:ln w="9525">
            <a:solidFill>
              <a:srgbClr val="C4D3E6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8102873" y="4208562"/>
            <a:ext cx="139638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spc="68" kern="0" dirty="0">
                <a:solidFill>
                  <a:srgbClr val="58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screenshot</a:t>
            </a:r>
            <a:endParaRPr lang="en-US" sz="1125" dirty="0"/>
          </a:p>
        </p:txBody>
      </p:sp>
      <p:sp>
        <p:nvSpPr>
          <p:cNvPr id="29" name="Text 27"/>
          <p:cNvSpPr/>
          <p:nvPr/>
        </p:nvSpPr>
        <p:spPr>
          <a:xfrm>
            <a:off x="6324600" y="5873055"/>
            <a:ext cx="5448300" cy="2728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410"/>
              </a:lnSpc>
              <a:buNone/>
            </a:pPr>
            <a:r>
              <a:rPr lang="en-US" sz="1275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headline metric, drill-down on demand.</a:t>
            </a:r>
            <a:endParaRPr lang="en-US" sz="127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2DDEC">
                  <a:alpha val="100000"/>
                </a:srgbClr>
              </a:gs>
              <a:gs pos="100000">
                <a:srgbClr val="E9EFF7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1972196"/>
            <a:ext cx="3505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b="1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41165" y="1996008"/>
            <a:ext cx="212218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372"/>
              </a:lnSpc>
              <a:buNone/>
            </a:pPr>
            <a:r>
              <a:rPr lang="en-US" sz="1425" spc="314" kern="0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WE WORKED</a:t>
            </a:r>
            <a:endParaRPr lang="en-US" sz="1425" dirty="0"/>
          </a:p>
        </p:txBody>
      </p:sp>
      <p:sp>
        <p:nvSpPr>
          <p:cNvPr id="5" name="Text 3"/>
          <p:cNvSpPr/>
          <p:nvPr/>
        </p:nvSpPr>
        <p:spPr>
          <a:xfrm>
            <a:off x="914400" y="2391296"/>
            <a:ext cx="11399520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42"/>
              </a:lnSpc>
              <a:buNone/>
            </a:pPr>
            <a:r>
              <a:rPr lang="en-US" sz="3900" b="1" spc="-78" kern="0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Four phases, fourteen weeks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914400" y="3444701"/>
            <a:ext cx="190500" cy="1905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976D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4900" y="3520901"/>
            <a:ext cx="2400300" cy="28575"/>
          </a:xfrm>
          <a:prstGeom prst="rect">
            <a:avLst/>
          </a:prstGeom>
          <a:solidFill>
            <a:srgbClr val="C4D3E6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844751"/>
            <a:ext cx="255651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WEEKS 1–3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914400" y="4082876"/>
            <a:ext cx="255651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Discover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14400" y="4416251"/>
            <a:ext cx="2213595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410"/>
              </a:lnSpc>
              <a:buNone/>
            </a:pPr>
            <a:r>
              <a:rPr lang="en-US" sz="1275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analyst interviews + competitive teardown.</a:t>
            </a:r>
            <a:endParaRPr lang="en-US" sz="1275" dirty="0"/>
          </a:p>
        </p:txBody>
      </p:sp>
      <p:sp>
        <p:nvSpPr>
          <p:cNvPr id="11" name="Shape 9"/>
          <p:cNvSpPr/>
          <p:nvPr/>
        </p:nvSpPr>
        <p:spPr>
          <a:xfrm>
            <a:off x="3505200" y="3444701"/>
            <a:ext cx="190500" cy="1905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976D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95700" y="3520901"/>
            <a:ext cx="2400300" cy="28575"/>
          </a:xfrm>
          <a:prstGeom prst="rect">
            <a:avLst/>
          </a:prstGeom>
          <a:solidFill>
            <a:srgbClr val="C4D3E6"/>
          </a:solidFill>
          <a:ln/>
        </p:spPr>
      </p:sp>
      <p:sp>
        <p:nvSpPr>
          <p:cNvPr id="13" name="Text 11"/>
          <p:cNvSpPr/>
          <p:nvPr/>
        </p:nvSpPr>
        <p:spPr>
          <a:xfrm>
            <a:off x="3505200" y="3844751"/>
            <a:ext cx="255651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WEEKS 4–6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3505200" y="4082876"/>
            <a:ext cx="255651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3505200" y="4416251"/>
            <a:ext cx="2213595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410"/>
              </a:lnSpc>
              <a:buNone/>
            </a:pPr>
            <a:r>
              <a:rPr lang="en-US" sz="1275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IA, job stories, and the new metric hierarchy.</a:t>
            </a:r>
            <a:endParaRPr lang="en-US" sz="1275" dirty="0"/>
          </a:p>
        </p:txBody>
      </p:sp>
      <p:sp>
        <p:nvSpPr>
          <p:cNvPr id="16" name="Shape 14"/>
          <p:cNvSpPr/>
          <p:nvPr/>
        </p:nvSpPr>
        <p:spPr>
          <a:xfrm>
            <a:off x="6096000" y="3444701"/>
            <a:ext cx="190500" cy="1905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976D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86500" y="3520901"/>
            <a:ext cx="2400300" cy="28575"/>
          </a:xfrm>
          <a:prstGeom prst="rect">
            <a:avLst/>
          </a:prstGeom>
          <a:solidFill>
            <a:srgbClr val="C4D3E6"/>
          </a:solidFill>
          <a:ln/>
        </p:spPr>
      </p:sp>
      <p:sp>
        <p:nvSpPr>
          <p:cNvPr id="18" name="Text 16"/>
          <p:cNvSpPr/>
          <p:nvPr/>
        </p:nvSpPr>
        <p:spPr>
          <a:xfrm>
            <a:off x="6096000" y="3844751"/>
            <a:ext cx="255651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WEEKS 7–11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6096000" y="4082876"/>
            <a:ext cx="255651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6096000" y="4416251"/>
            <a:ext cx="2213595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410"/>
              </a:lnSpc>
              <a:buNone/>
            </a:pPr>
            <a:r>
              <a:rPr lang="en-US" sz="1275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Wireframes → hi-fi, tested in two Maze rounds.</a:t>
            </a:r>
            <a:endParaRPr lang="en-US" sz="1275" dirty="0"/>
          </a:p>
        </p:txBody>
      </p:sp>
      <p:sp>
        <p:nvSpPr>
          <p:cNvPr id="21" name="Shape 19"/>
          <p:cNvSpPr/>
          <p:nvPr/>
        </p:nvSpPr>
        <p:spPr>
          <a:xfrm>
            <a:off x="8686800" y="3444701"/>
            <a:ext cx="190500" cy="1905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976D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0" y="3844751"/>
            <a:ext cx="255651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WEEKS 12–14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8686800" y="4082876"/>
            <a:ext cx="255651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8686800" y="4416251"/>
            <a:ext cx="2213595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410"/>
              </a:lnSpc>
              <a:buNone/>
            </a:pPr>
            <a:r>
              <a:rPr lang="en-US" sz="1275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Spec, component handoff, and launch support.</a:t>
            </a:r>
            <a:endParaRPr lang="en-US" sz="127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2DDEC">
                  <a:alpha val="100000"/>
                </a:srgbClr>
              </a:gs>
              <a:gs pos="100000">
                <a:srgbClr val="E9EFF7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1994148"/>
            <a:ext cx="3505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b="1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41165" y="2017961"/>
            <a:ext cx="212218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372"/>
              </a:lnSpc>
              <a:buNone/>
            </a:pPr>
            <a:r>
              <a:rPr lang="en-US" sz="1425" spc="314" kern="0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LIFECYCLE</a:t>
            </a:r>
            <a:endParaRPr lang="en-US" sz="1425" dirty="0"/>
          </a:p>
        </p:txBody>
      </p:sp>
      <p:sp>
        <p:nvSpPr>
          <p:cNvPr id="5" name="Text 3"/>
          <p:cNvSpPr/>
          <p:nvPr/>
        </p:nvSpPr>
        <p:spPr>
          <a:xfrm>
            <a:off x="914400" y="2413248"/>
            <a:ext cx="11399520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42"/>
              </a:lnSpc>
              <a:buNone/>
            </a:pPr>
            <a:r>
              <a:rPr lang="en-US" sz="3900" b="1" spc="-78" kern="0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flow, end to end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914400" y="3466654"/>
            <a:ext cx="1737345" cy="1397198"/>
          </a:xfrm>
          <a:prstGeom prst="roundRect">
            <a:avLst>
              <a:gd name="adj" fmla="val 8181"/>
            </a:avLst>
          </a:prstGeom>
          <a:solidFill>
            <a:srgbClr val="FFFFFF"/>
          </a:solidFill>
          <a:ln w="9525">
            <a:solidFill>
              <a:srgbClr val="C4D3E6"/>
            </a:solidFill>
            <a:prstDash val="solid"/>
          </a:ln>
          <a:effectLst>
            <a:outerShdw sx="100000" sy="100000" kx="0" ky="0" algn="bl" rotWithShape="0" blurRad="381000" dist="171450" dir="5400000">
              <a:srgbClr val="141C28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47560" y="3704779"/>
            <a:ext cx="147102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42A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1047560" y="3961954"/>
            <a:ext cx="1471025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76325" y="4252466"/>
            <a:ext cx="1413495" cy="411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2500"/>
              </a:lnSpc>
              <a:buNone/>
            </a:pPr>
            <a:r>
              <a:rPr lang="en-US" sz="1050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 template or start blank.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746995" y="4050953"/>
            <a:ext cx="304800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7273"/>
              </a:lnSpc>
              <a:buNone/>
            </a:pPr>
            <a:r>
              <a:rPr lang="en-US" sz="1800" dirty="0">
                <a:solidFill>
                  <a:srgbClr val="42A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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070845" y="3466654"/>
            <a:ext cx="1737420" cy="1397198"/>
          </a:xfrm>
          <a:prstGeom prst="roundRect">
            <a:avLst>
              <a:gd name="adj" fmla="val 8181"/>
            </a:avLst>
          </a:prstGeom>
          <a:solidFill>
            <a:srgbClr val="FFFFFF"/>
          </a:solidFill>
          <a:ln w="9525">
            <a:solidFill>
              <a:srgbClr val="C4D3E6"/>
            </a:solidFill>
            <a:prstDash val="solid"/>
          </a:ln>
          <a:effectLst>
            <a:outerShdw sx="100000" sy="100000" kx="0" ky="0" algn="bl" rotWithShape="0" blurRad="381000" dist="171450" dir="5400000">
              <a:srgbClr val="141C28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4002" y="3704779"/>
            <a:ext cx="147110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42A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3204002" y="3961954"/>
            <a:ext cx="1471106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232770" y="4252466"/>
            <a:ext cx="1413570" cy="411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2500"/>
              </a:lnSpc>
              <a:buNone/>
            </a:pPr>
            <a:r>
              <a:rPr lang="en-US" sz="1050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metrics, axes, and thresholds.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903515" y="4050953"/>
            <a:ext cx="304800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7273"/>
              </a:lnSpc>
              <a:buNone/>
            </a:pPr>
            <a:r>
              <a:rPr lang="en-US" sz="1800" dirty="0">
                <a:solidFill>
                  <a:srgbClr val="42A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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227365" y="3466654"/>
            <a:ext cx="1737345" cy="1397198"/>
          </a:xfrm>
          <a:prstGeom prst="roundRect">
            <a:avLst>
              <a:gd name="adj" fmla="val 8181"/>
            </a:avLst>
          </a:prstGeom>
          <a:solidFill>
            <a:srgbClr val="FFFFFF"/>
          </a:solidFill>
          <a:ln w="9525">
            <a:solidFill>
              <a:srgbClr val="C4D3E6"/>
            </a:solidFill>
            <a:prstDash val="solid"/>
          </a:ln>
          <a:effectLst>
            <a:outerShdw sx="100000" sy="100000" kx="0" ky="0" algn="bl" rotWithShape="0" blurRad="381000" dist="171450" dir="5400000">
              <a:srgbClr val="141C28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360525" y="3704779"/>
            <a:ext cx="147102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42A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5360525" y="3961954"/>
            <a:ext cx="1471025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Preview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389290" y="4252466"/>
            <a:ext cx="1413495" cy="411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2500"/>
              </a:lnSpc>
              <a:buNone/>
            </a:pPr>
            <a:r>
              <a:rPr lang="en-US" sz="1050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the live read before you share.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059960" y="4050953"/>
            <a:ext cx="304800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7273"/>
              </a:lnSpc>
              <a:buNone/>
            </a:pPr>
            <a:r>
              <a:rPr lang="en-US" sz="1800" dirty="0">
                <a:solidFill>
                  <a:srgbClr val="42A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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383810" y="3466654"/>
            <a:ext cx="1737345" cy="1397198"/>
          </a:xfrm>
          <a:prstGeom prst="roundRect">
            <a:avLst>
              <a:gd name="adj" fmla="val 8181"/>
            </a:avLst>
          </a:prstGeom>
          <a:solidFill>
            <a:srgbClr val="FFFFFF"/>
          </a:solidFill>
          <a:ln w="9525">
            <a:solidFill>
              <a:srgbClr val="C4D3E6"/>
            </a:solidFill>
            <a:prstDash val="solid"/>
          </a:ln>
          <a:effectLst>
            <a:outerShdw sx="100000" sy="100000" kx="0" ky="0" algn="bl" rotWithShape="0" blurRad="381000" dist="171450" dir="5400000">
              <a:srgbClr val="141C28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516970" y="3704779"/>
            <a:ext cx="147102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42A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7516970" y="3961954"/>
            <a:ext cx="1471025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Distribute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545735" y="4252466"/>
            <a:ext cx="1413495" cy="411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2500"/>
              </a:lnSpc>
              <a:buNone/>
            </a:pPr>
            <a:r>
              <a:rPr lang="en-US" sz="1050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Share, schedule, or set alerts.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216405" y="4050953"/>
            <a:ext cx="304800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7273"/>
              </a:lnSpc>
              <a:buNone/>
            </a:pPr>
            <a:r>
              <a:rPr lang="en-US" sz="1800" dirty="0">
                <a:solidFill>
                  <a:srgbClr val="42A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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9540255" y="3466654"/>
            <a:ext cx="1737345" cy="1397198"/>
          </a:xfrm>
          <a:prstGeom prst="roundRect">
            <a:avLst>
              <a:gd name="adj" fmla="val 8181"/>
            </a:avLst>
          </a:prstGeom>
          <a:solidFill>
            <a:srgbClr val="FFFFFF"/>
          </a:solidFill>
          <a:ln w="9525">
            <a:solidFill>
              <a:srgbClr val="C4D3E6"/>
            </a:solidFill>
            <a:prstDash val="solid"/>
          </a:ln>
          <a:effectLst>
            <a:outerShdw sx="100000" sy="100000" kx="0" ky="0" algn="bl" rotWithShape="0" blurRad="381000" dist="171450" dir="5400000">
              <a:srgbClr val="141C28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673415" y="3704779"/>
            <a:ext cx="147102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42A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9673415" y="3961954"/>
            <a:ext cx="1471025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702180" y="4252466"/>
            <a:ext cx="1413495" cy="411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2500"/>
              </a:lnSpc>
              <a:buNone/>
            </a:pPr>
            <a:r>
              <a:rPr lang="en-US" sz="1050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and iterate over time.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2DDEC">
                  <a:alpha val="100000"/>
                </a:srgbClr>
              </a:gs>
              <a:gs pos="100000">
                <a:srgbClr val="E9EFF7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762000"/>
            <a:ext cx="3505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b="1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41165" y="785813"/>
            <a:ext cx="391776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372"/>
              </a:lnSpc>
              <a:buNone/>
            </a:pPr>
            <a:r>
              <a:rPr lang="en-US" sz="1425" spc="314" kern="0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INFORMATION ARCHITECTURE</a:t>
            </a:r>
            <a:endParaRPr lang="en-US" sz="1425" dirty="0"/>
          </a:p>
        </p:txBody>
      </p:sp>
      <p:sp>
        <p:nvSpPr>
          <p:cNvPr id="5" name="Text 3"/>
          <p:cNvSpPr/>
          <p:nvPr/>
        </p:nvSpPr>
        <p:spPr>
          <a:xfrm>
            <a:off x="914400" y="1181100"/>
            <a:ext cx="11399520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42"/>
              </a:lnSpc>
              <a:buNone/>
            </a:pPr>
            <a:r>
              <a:rPr lang="en-US" sz="3900" b="1" spc="-78" kern="0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this lives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5241503" y="2158305"/>
            <a:ext cx="1708993" cy="490538"/>
          </a:xfrm>
          <a:prstGeom prst="roundRect">
            <a:avLst>
              <a:gd name="adj" fmla="val 19417"/>
            </a:avLst>
          </a:prstGeom>
          <a:solidFill>
            <a:srgbClr val="1976D2"/>
          </a:solidFill>
          <a:ln w="9525">
            <a:solidFill>
              <a:srgbClr val="1976D2"/>
            </a:solidFill>
            <a:prstDash val="solid"/>
          </a:ln>
          <a:effectLst>
            <a:outerShdw sx="100000" sy="100000" kx="0" ky="0" algn="bl" rotWithShape="0" blurRad="381000" dist="171450" dir="5400000">
              <a:srgbClr val="141C28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98678" y="2301180"/>
            <a:ext cx="1270843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NetBase Pro</a:t>
            </a:r>
            <a:endParaRPr lang="en-US" sz="1425" dirty="0"/>
          </a:p>
        </p:txBody>
      </p:sp>
      <p:sp>
        <p:nvSpPr>
          <p:cNvPr id="8" name="Shape 6"/>
          <p:cNvSpPr/>
          <p:nvPr/>
        </p:nvSpPr>
        <p:spPr>
          <a:xfrm>
            <a:off x="6086475" y="2648843"/>
            <a:ext cx="19050" cy="285750"/>
          </a:xfrm>
          <a:prstGeom prst="rect">
            <a:avLst/>
          </a:prstGeom>
          <a:solidFill>
            <a:srgbClr val="C4D3E6"/>
          </a:solidFill>
          <a:ln/>
        </p:spPr>
      </p:sp>
      <p:sp>
        <p:nvSpPr>
          <p:cNvPr id="9" name="Shape 7"/>
          <p:cNvSpPr/>
          <p:nvPr/>
        </p:nvSpPr>
        <p:spPr>
          <a:xfrm>
            <a:off x="1968550" y="2934593"/>
            <a:ext cx="1274638" cy="490538"/>
          </a:xfrm>
          <a:prstGeom prst="roundRect">
            <a:avLst>
              <a:gd name="adj" fmla="val 19417"/>
            </a:avLst>
          </a:prstGeom>
          <a:solidFill>
            <a:srgbClr val="FFFFFF"/>
          </a:solidFill>
          <a:ln w="9525">
            <a:solidFill>
              <a:srgbClr val="C4D3E6"/>
            </a:solidFill>
            <a:prstDash val="solid"/>
          </a:ln>
          <a:effectLst>
            <a:outerShdw sx="100000" sy="100000" kx="0" ky="0" algn="bl" rotWithShape="0" blurRad="381000" dist="171450" dir="5400000">
              <a:srgbClr val="141C28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225725" y="3077468"/>
            <a:ext cx="836488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Monitor</a:t>
            </a:r>
            <a:endParaRPr lang="en-US" sz="1425" dirty="0"/>
          </a:p>
        </p:txBody>
      </p:sp>
      <p:sp>
        <p:nvSpPr>
          <p:cNvPr id="11" name="Shape 9"/>
          <p:cNvSpPr/>
          <p:nvPr/>
        </p:nvSpPr>
        <p:spPr>
          <a:xfrm>
            <a:off x="1853357" y="3558480"/>
            <a:ext cx="605805" cy="347663"/>
          </a:xfrm>
          <a:prstGeom prst="roundRect">
            <a:avLst>
              <a:gd name="adj" fmla="val 19178"/>
            </a:avLst>
          </a:prstGeom>
          <a:solidFill>
            <a:srgbClr val="F4F8FF"/>
          </a:solidFill>
          <a:ln w="9525">
            <a:solidFill>
              <a:srgbClr val="DBE4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96232" y="3644205"/>
            <a:ext cx="396255" cy="214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46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592512" y="3558480"/>
            <a:ext cx="765870" cy="347663"/>
          </a:xfrm>
          <a:prstGeom prst="roundRect">
            <a:avLst>
              <a:gd name="adj" fmla="val 19178"/>
            </a:avLst>
          </a:prstGeom>
          <a:solidFill>
            <a:srgbClr val="F4F8FF"/>
          </a:solidFill>
          <a:ln w="9525">
            <a:solidFill>
              <a:srgbClr val="DBE4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35387" y="3644205"/>
            <a:ext cx="556320" cy="214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46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28864" y="2934593"/>
            <a:ext cx="1800448" cy="509587"/>
          </a:xfrm>
          <a:prstGeom prst="roundRect">
            <a:avLst>
              <a:gd name="adj" fmla="val 18692"/>
            </a:avLst>
          </a:prstGeom>
          <a:solidFill>
            <a:srgbClr val="FFFFFF"/>
          </a:solidFill>
          <a:ln w="19050">
            <a:solidFill>
              <a:srgbClr val="1976D2"/>
            </a:solidFill>
            <a:prstDash val="solid"/>
          </a:ln>
          <a:effectLst>
            <a:outerShdw sx="100000" sy="100000" kx="0" ky="0" algn="bl" rotWithShape="0" blurRad="381000" dist="171450" dir="5400000">
              <a:srgbClr val="141C28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395564" y="3086993"/>
            <a:ext cx="1343248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565C0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 </a:t>
            </a:r>
            <a:pPr algn="l" indent="0" marL="0">
              <a:buNone/>
            </a:pPr>
            <a:r>
              <a:rPr lang="en-US" sz="1125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</a:t>
            </a:r>
            <a:endParaRPr lang="en-US" sz="1425" dirty="0"/>
          </a:p>
        </p:txBody>
      </p:sp>
      <p:sp>
        <p:nvSpPr>
          <p:cNvPr id="17" name="Shape 15"/>
          <p:cNvSpPr/>
          <p:nvPr/>
        </p:nvSpPr>
        <p:spPr>
          <a:xfrm>
            <a:off x="3586981" y="3577530"/>
            <a:ext cx="925860" cy="347663"/>
          </a:xfrm>
          <a:prstGeom prst="roundRect">
            <a:avLst>
              <a:gd name="adj" fmla="val 19178"/>
            </a:avLst>
          </a:prstGeom>
          <a:solidFill>
            <a:srgbClr val="F4F8FF"/>
          </a:solidFill>
          <a:ln w="9525">
            <a:solidFill>
              <a:srgbClr val="DBE4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29856" y="3663255"/>
            <a:ext cx="716310" cy="214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46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Overview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46191" y="3577530"/>
            <a:ext cx="845865" cy="347663"/>
          </a:xfrm>
          <a:prstGeom prst="roundRect">
            <a:avLst>
              <a:gd name="adj" fmla="val 19178"/>
            </a:avLst>
          </a:prstGeom>
          <a:solidFill>
            <a:srgbClr val="F4F8FF"/>
          </a:solidFill>
          <a:ln w="9525">
            <a:solidFill>
              <a:srgbClr val="DBE4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89066" y="3663255"/>
            <a:ext cx="636315" cy="214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46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625405" y="3577530"/>
            <a:ext cx="845865" cy="347663"/>
          </a:xfrm>
          <a:prstGeom prst="roundRect">
            <a:avLst>
              <a:gd name="adj" fmla="val 19178"/>
            </a:avLst>
          </a:prstGeom>
          <a:solidFill>
            <a:srgbClr val="F4F8FF"/>
          </a:solidFill>
          <a:ln w="9525">
            <a:solidFill>
              <a:srgbClr val="DBE4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68280" y="3663255"/>
            <a:ext cx="636315" cy="214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46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975053" y="2934593"/>
            <a:ext cx="1274638" cy="490538"/>
          </a:xfrm>
          <a:prstGeom prst="roundRect">
            <a:avLst>
              <a:gd name="adj" fmla="val 19417"/>
            </a:avLst>
          </a:prstGeom>
          <a:solidFill>
            <a:srgbClr val="FFFFFF"/>
          </a:solidFill>
          <a:ln w="9525">
            <a:solidFill>
              <a:srgbClr val="C4D3E6"/>
            </a:solidFill>
            <a:prstDash val="solid"/>
          </a:ln>
          <a:effectLst>
            <a:outerShdw sx="100000" sy="100000" kx="0" ky="0" algn="bl" rotWithShape="0" blurRad="381000" dist="171450" dir="5400000">
              <a:srgbClr val="141C28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232228" y="3077468"/>
            <a:ext cx="836488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Explore</a:t>
            </a:r>
            <a:endParaRPr lang="en-US" sz="1425" dirty="0"/>
          </a:p>
        </p:txBody>
      </p:sp>
      <p:sp>
        <p:nvSpPr>
          <p:cNvPr id="25" name="Shape 23"/>
          <p:cNvSpPr/>
          <p:nvPr/>
        </p:nvSpPr>
        <p:spPr>
          <a:xfrm>
            <a:off x="6699870" y="3558480"/>
            <a:ext cx="765870" cy="347663"/>
          </a:xfrm>
          <a:prstGeom prst="roundRect">
            <a:avLst>
              <a:gd name="adj" fmla="val 19178"/>
            </a:avLst>
          </a:prstGeom>
          <a:solidFill>
            <a:srgbClr val="F4F8FF"/>
          </a:solidFill>
          <a:ln w="9525">
            <a:solidFill>
              <a:srgbClr val="DBE4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42745" y="3644205"/>
            <a:ext cx="556320" cy="214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46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599090" y="3558480"/>
            <a:ext cx="925860" cy="347663"/>
          </a:xfrm>
          <a:prstGeom prst="roundRect">
            <a:avLst>
              <a:gd name="adj" fmla="val 19178"/>
            </a:avLst>
          </a:prstGeom>
          <a:solidFill>
            <a:srgbClr val="F4F8FF"/>
          </a:solidFill>
          <a:ln w="9525">
            <a:solidFill>
              <a:srgbClr val="DBE4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41965" y="3644205"/>
            <a:ext cx="716310" cy="214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46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Segments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017347" y="2934593"/>
            <a:ext cx="1057424" cy="490538"/>
          </a:xfrm>
          <a:prstGeom prst="roundRect">
            <a:avLst>
              <a:gd name="adj" fmla="val 19417"/>
            </a:avLst>
          </a:prstGeom>
          <a:solidFill>
            <a:srgbClr val="FFFFFF"/>
          </a:solidFill>
          <a:ln w="9525">
            <a:solidFill>
              <a:srgbClr val="C4D3E6"/>
            </a:solidFill>
            <a:prstDash val="solid"/>
          </a:ln>
          <a:effectLst>
            <a:outerShdw sx="100000" sy="100000" kx="0" ky="0" algn="bl" rotWithShape="0" blurRad="381000" dist="171450" dir="5400000">
              <a:srgbClr val="141C28">
                <a:alpha val="3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274522" y="3077468"/>
            <a:ext cx="619274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</a:t>
            </a:r>
            <a:endParaRPr lang="en-US" sz="1425" dirty="0"/>
          </a:p>
        </p:txBody>
      </p:sp>
      <p:sp>
        <p:nvSpPr>
          <p:cNvPr id="31" name="Shape 29"/>
          <p:cNvSpPr/>
          <p:nvPr/>
        </p:nvSpPr>
        <p:spPr>
          <a:xfrm>
            <a:off x="8753549" y="3558480"/>
            <a:ext cx="605805" cy="347663"/>
          </a:xfrm>
          <a:prstGeom prst="roundRect">
            <a:avLst>
              <a:gd name="adj" fmla="val 19178"/>
            </a:avLst>
          </a:prstGeom>
          <a:solidFill>
            <a:srgbClr val="F4F8FF"/>
          </a:solidFill>
          <a:ln w="9525">
            <a:solidFill>
              <a:srgbClr val="DBE4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896424" y="3644205"/>
            <a:ext cx="396255" cy="214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46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492704" y="3558480"/>
            <a:ext cx="845865" cy="347663"/>
          </a:xfrm>
          <a:prstGeom prst="roundRect">
            <a:avLst>
              <a:gd name="adj" fmla="val 19178"/>
            </a:avLst>
          </a:prstGeom>
          <a:solidFill>
            <a:srgbClr val="F4F8FF"/>
          </a:solidFill>
          <a:ln w="9525">
            <a:solidFill>
              <a:srgbClr val="DBE4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635579" y="3644205"/>
            <a:ext cx="636315" cy="214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46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Billing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2DDEC">
                  <a:alpha val="100000"/>
                </a:srgbClr>
              </a:gs>
              <a:gs pos="100000">
                <a:srgbClr val="E9EFF7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762000"/>
            <a:ext cx="3505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b="1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41165" y="785813"/>
            <a:ext cx="163244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372"/>
              </a:lnSpc>
              <a:buNone/>
            </a:pPr>
            <a:r>
              <a:rPr lang="en-US" sz="1425" spc="314" kern="0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SYSTEM</a:t>
            </a:r>
            <a:endParaRPr lang="en-US" sz="1425" dirty="0"/>
          </a:p>
        </p:txBody>
      </p:sp>
      <p:sp>
        <p:nvSpPr>
          <p:cNvPr id="5" name="Text 3"/>
          <p:cNvSpPr/>
          <p:nvPr/>
        </p:nvSpPr>
        <p:spPr>
          <a:xfrm>
            <a:off x="914400" y="1181100"/>
            <a:ext cx="11399520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42"/>
              </a:lnSpc>
              <a:buNone/>
            </a:pPr>
            <a:r>
              <a:rPr lang="en-US" sz="3900" b="1" spc="-78" kern="0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language, every surface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914400" y="2044005"/>
            <a:ext cx="5067300" cy="1949797"/>
          </a:xfrm>
          <a:prstGeom prst="roundRect">
            <a:avLst>
              <a:gd name="adj" fmla="val 5862"/>
            </a:avLst>
          </a:prstGeom>
          <a:ln w="9525">
            <a:solidFill>
              <a:srgbClr val="C4D3E6"/>
            </a:solidFill>
            <a:prstDash val="solid"/>
          </a:ln>
          <a:effectLst>
            <a:outerShdw sx="100000" sy="100000" kx="0" ky="0" algn="bl" rotWithShape="0" blurRad="381000" dist="171450" dir="5400000">
              <a:srgbClr val="141C28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23925" y="2053530"/>
            <a:ext cx="5048250" cy="1930747"/>
          </a:xfrm>
          <a:prstGeom prst="rect">
            <a:avLst/>
          </a:prstGeom>
          <a:solidFill>
            <a:srgbClr val="EEF3FA"/>
          </a:solidFill>
          <a:ln/>
        </p:spPr>
      </p:sp>
      <p:sp>
        <p:nvSpPr>
          <p:cNvPr id="8" name="Shape 6"/>
          <p:cNvSpPr/>
          <p:nvPr/>
        </p:nvSpPr>
        <p:spPr>
          <a:xfrm>
            <a:off x="2861742" y="2821260"/>
            <a:ext cx="1172542" cy="395288"/>
          </a:xfrm>
          <a:prstGeom prst="roundRect">
            <a:avLst>
              <a:gd name="adj" fmla="val 19277"/>
            </a:avLst>
          </a:prstGeom>
          <a:solidFill>
            <a:srgbClr val="FFFFFF">
              <a:alpha val="70000"/>
            </a:srgbClr>
          </a:solidFill>
          <a:ln w="9525">
            <a:solidFill>
              <a:srgbClr val="C4D3E6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2985567" y="2926035"/>
            <a:ext cx="924892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spc="68" kern="0" dirty="0">
                <a:solidFill>
                  <a:srgbClr val="58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</a:t>
            </a:r>
            <a:endParaRPr lang="en-US" sz="1125" dirty="0"/>
          </a:p>
        </p:txBody>
      </p:sp>
      <p:sp>
        <p:nvSpPr>
          <p:cNvPr id="10" name="Shape 8"/>
          <p:cNvSpPr/>
          <p:nvPr/>
        </p:nvSpPr>
        <p:spPr>
          <a:xfrm>
            <a:off x="6210300" y="2044005"/>
            <a:ext cx="5067300" cy="1949797"/>
          </a:xfrm>
          <a:prstGeom prst="roundRect">
            <a:avLst>
              <a:gd name="adj" fmla="val 5862"/>
            </a:avLst>
          </a:prstGeom>
          <a:ln w="9525">
            <a:solidFill>
              <a:srgbClr val="C4D3E6"/>
            </a:solidFill>
            <a:prstDash val="solid"/>
          </a:ln>
          <a:effectLst>
            <a:outerShdw sx="100000" sy="100000" kx="0" ky="0" algn="bl" rotWithShape="0" blurRad="381000" dist="171450" dir="5400000">
              <a:srgbClr val="141C28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19825" y="2053530"/>
            <a:ext cx="5048250" cy="1930747"/>
          </a:xfrm>
          <a:prstGeom prst="rect">
            <a:avLst/>
          </a:prstGeom>
          <a:solidFill>
            <a:srgbClr val="EEF3FA"/>
          </a:solidFill>
          <a:ln/>
        </p:spPr>
      </p:sp>
      <p:sp>
        <p:nvSpPr>
          <p:cNvPr id="12" name="Shape 10"/>
          <p:cNvSpPr/>
          <p:nvPr/>
        </p:nvSpPr>
        <p:spPr>
          <a:xfrm>
            <a:off x="8016180" y="2821260"/>
            <a:ext cx="1455465" cy="395288"/>
          </a:xfrm>
          <a:prstGeom prst="roundRect">
            <a:avLst>
              <a:gd name="adj" fmla="val 19277"/>
            </a:avLst>
          </a:prstGeom>
          <a:solidFill>
            <a:srgbClr val="FFFFFF">
              <a:alpha val="70000"/>
            </a:srgbClr>
          </a:solidFill>
          <a:ln w="9525">
            <a:solidFill>
              <a:srgbClr val="C4D3E6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8140005" y="2926035"/>
            <a:ext cx="120781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spc="68" kern="0" dirty="0">
                <a:solidFill>
                  <a:srgbClr val="58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Compare view</a:t>
            </a:r>
            <a:endParaRPr lang="en-US" sz="1125" dirty="0"/>
          </a:p>
        </p:txBody>
      </p:sp>
      <p:sp>
        <p:nvSpPr>
          <p:cNvPr id="14" name="Shape 12"/>
          <p:cNvSpPr/>
          <p:nvPr/>
        </p:nvSpPr>
        <p:spPr>
          <a:xfrm>
            <a:off x="914400" y="4222403"/>
            <a:ext cx="5067300" cy="1949797"/>
          </a:xfrm>
          <a:prstGeom prst="roundRect">
            <a:avLst>
              <a:gd name="adj" fmla="val 5862"/>
            </a:avLst>
          </a:prstGeom>
          <a:ln w="9525">
            <a:solidFill>
              <a:srgbClr val="C4D3E6"/>
            </a:solidFill>
            <a:prstDash val="solid"/>
          </a:ln>
          <a:effectLst>
            <a:outerShdw sx="100000" sy="100000" kx="0" ky="0" algn="bl" rotWithShape="0" blurRad="381000" dist="171450" dir="5400000">
              <a:srgbClr val="141C28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23925" y="4231928"/>
            <a:ext cx="5048250" cy="1930747"/>
          </a:xfrm>
          <a:prstGeom prst="rect">
            <a:avLst/>
          </a:prstGeom>
          <a:solidFill>
            <a:srgbClr val="EEF3FA"/>
          </a:solidFill>
          <a:ln/>
        </p:spPr>
      </p:sp>
      <p:sp>
        <p:nvSpPr>
          <p:cNvPr id="16" name="Shape 14"/>
          <p:cNvSpPr/>
          <p:nvPr/>
        </p:nvSpPr>
        <p:spPr>
          <a:xfrm>
            <a:off x="3003203" y="4999658"/>
            <a:ext cx="889695" cy="395288"/>
          </a:xfrm>
          <a:prstGeom prst="roundRect">
            <a:avLst>
              <a:gd name="adj" fmla="val 19277"/>
            </a:avLst>
          </a:prstGeom>
          <a:solidFill>
            <a:srgbClr val="FFFFFF">
              <a:alpha val="70000"/>
            </a:srgbClr>
          </a:solidFill>
          <a:ln w="9525">
            <a:solidFill>
              <a:srgbClr val="C4D3E6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127028" y="5104433"/>
            <a:ext cx="64204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spc="68" kern="0" dirty="0">
                <a:solidFill>
                  <a:srgbClr val="58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Alerts</a:t>
            </a:r>
            <a:endParaRPr lang="en-US" sz="1125" dirty="0"/>
          </a:p>
        </p:txBody>
      </p:sp>
      <p:sp>
        <p:nvSpPr>
          <p:cNvPr id="18" name="Shape 16"/>
          <p:cNvSpPr/>
          <p:nvPr/>
        </p:nvSpPr>
        <p:spPr>
          <a:xfrm>
            <a:off x="6210300" y="4222403"/>
            <a:ext cx="5067300" cy="1949797"/>
          </a:xfrm>
          <a:prstGeom prst="roundRect">
            <a:avLst>
              <a:gd name="adj" fmla="val 5862"/>
            </a:avLst>
          </a:prstGeom>
          <a:ln w="9525">
            <a:solidFill>
              <a:srgbClr val="C4D3E6"/>
            </a:solidFill>
            <a:prstDash val="solid"/>
          </a:ln>
          <a:effectLst>
            <a:outerShdw sx="100000" sy="100000" kx="0" ky="0" algn="bl" rotWithShape="0" blurRad="381000" dist="171450" dir="5400000">
              <a:srgbClr val="141C28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9825" y="4231928"/>
            <a:ext cx="5048250" cy="1930747"/>
          </a:xfrm>
          <a:prstGeom prst="rect">
            <a:avLst/>
          </a:prstGeom>
          <a:solidFill>
            <a:srgbClr val="EEF3FA"/>
          </a:solidFill>
          <a:ln/>
        </p:spPr>
      </p:sp>
      <p:sp>
        <p:nvSpPr>
          <p:cNvPr id="20" name="Shape 18"/>
          <p:cNvSpPr/>
          <p:nvPr/>
        </p:nvSpPr>
        <p:spPr>
          <a:xfrm>
            <a:off x="7969076" y="4999658"/>
            <a:ext cx="1549747" cy="395288"/>
          </a:xfrm>
          <a:prstGeom prst="roundRect">
            <a:avLst>
              <a:gd name="adj" fmla="val 19277"/>
            </a:avLst>
          </a:prstGeom>
          <a:solidFill>
            <a:srgbClr val="FFFFFF">
              <a:alpha val="70000"/>
            </a:srgbClr>
          </a:solidFill>
          <a:ln w="9525">
            <a:solidFill>
              <a:srgbClr val="C4D3E6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8092901" y="5104433"/>
            <a:ext cx="1302097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spc="68" kern="0" dirty="0">
                <a:solidFill>
                  <a:srgbClr val="58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 export</a:t>
            </a:r>
            <a:endParaRPr lang="en-US" sz="11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2DDEC">
                  <a:alpha val="100000"/>
                </a:srgbClr>
              </a:gs>
              <a:gs pos="100000">
                <a:srgbClr val="E9EFF7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762000"/>
            <a:ext cx="3505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b="1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41165" y="785813"/>
            <a:ext cx="163244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372"/>
              </a:lnSpc>
              <a:buNone/>
            </a:pPr>
            <a:r>
              <a:rPr lang="en-US" sz="1425" spc="314" kern="0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HYPOTHESIS</a:t>
            </a:r>
            <a:endParaRPr lang="en-US" sz="1425" dirty="0"/>
          </a:p>
        </p:txBody>
      </p:sp>
      <p:sp>
        <p:nvSpPr>
          <p:cNvPr id="5" name="Text 3"/>
          <p:cNvSpPr/>
          <p:nvPr/>
        </p:nvSpPr>
        <p:spPr>
          <a:xfrm>
            <a:off x="914400" y="1181100"/>
            <a:ext cx="5933511" cy="1958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105"/>
              </a:lnSpc>
              <a:buNone/>
            </a:pPr>
            <a:r>
              <a:rPr lang="en-US" sz="3150" spc="-31" kern="0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Analysts will trust the new dashboard because </a:t>
            </a:r>
            <a:pPr algn="l" indent="0" marL="0">
              <a:lnSpc>
                <a:spcPct val="106105"/>
              </a:lnSpc>
              <a:buNone/>
            </a:pPr>
            <a:r>
              <a:rPr lang="en-US" sz="3150" spc="-31" kern="0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 number links to its source.</a:t>
            </a:r>
            <a:endParaRPr lang="en-US" sz="3150" dirty="0"/>
          </a:p>
        </p:txBody>
      </p:sp>
      <p:sp>
        <p:nvSpPr>
          <p:cNvPr id="6" name="Shape 4"/>
          <p:cNvSpPr/>
          <p:nvPr/>
        </p:nvSpPr>
        <p:spPr>
          <a:xfrm>
            <a:off x="914400" y="3520380"/>
            <a:ext cx="5669235" cy="1604963"/>
          </a:xfrm>
          <a:prstGeom prst="roundRect">
            <a:avLst>
              <a:gd name="adj" fmla="val 71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0" dist="171450" dir="5400000">
              <a:srgbClr val="141C28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5115818"/>
            <a:ext cx="5669235" cy="9525"/>
          </a:xfrm>
          <a:prstGeom prst="rect">
            <a:avLst/>
          </a:prstGeom>
          <a:solidFill>
            <a:srgbClr val="C4D3E6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3520380"/>
            <a:ext cx="5669235" cy="9525"/>
          </a:xfrm>
          <a:prstGeom prst="rect">
            <a:avLst/>
          </a:prstGeom>
          <a:solidFill>
            <a:srgbClr val="C4D3E6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3520380"/>
            <a:ext cx="38100" cy="1604963"/>
          </a:xfrm>
          <a:prstGeom prst="rect">
            <a:avLst/>
          </a:prstGeom>
          <a:solidFill>
            <a:srgbClr val="B8401B"/>
          </a:solidFill>
          <a:ln/>
        </p:spPr>
      </p:sp>
      <p:sp>
        <p:nvSpPr>
          <p:cNvPr id="10" name="Shape 8"/>
          <p:cNvSpPr/>
          <p:nvPr/>
        </p:nvSpPr>
        <p:spPr>
          <a:xfrm>
            <a:off x="6574110" y="3520380"/>
            <a:ext cx="9525" cy="1604963"/>
          </a:xfrm>
          <a:prstGeom prst="rect">
            <a:avLst/>
          </a:prstGeom>
          <a:solidFill>
            <a:srgbClr val="C4D3E6"/>
          </a:solidFill>
          <a:ln/>
        </p:spPr>
      </p:sp>
      <p:sp>
        <p:nvSpPr>
          <p:cNvPr id="11" name="Text 9"/>
          <p:cNvSpPr/>
          <p:nvPr/>
        </p:nvSpPr>
        <p:spPr>
          <a:xfrm>
            <a:off x="1238250" y="3777555"/>
            <a:ext cx="555512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B840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◭ THE UNTESTED ASSUMPTION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1238250" y="4053780"/>
            <a:ext cx="5201614" cy="852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558"/>
              </a:lnSpc>
              <a:buNone/>
            </a:pPr>
            <a:r>
              <a:rPr lang="en-US" sz="1425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Baked into that sentence: that a faster read matters more to them than the depth they'd lose. We hadn't earned it by asking anyone — so we flagged it before drawing.</a:t>
            </a:r>
            <a:endParaRPr lang="en-US" sz="142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2DDEC">
                  <a:alpha val="100000"/>
                </a:srgbClr>
              </a:gs>
              <a:gs pos="100000">
                <a:srgbClr val="E9EFF7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914400" y="1986930"/>
            <a:ext cx="571500" cy="571500"/>
          </a:xfrm>
          <a:prstGeom prst="roundRect">
            <a:avLst>
              <a:gd name="adj" fmla="val 23333"/>
            </a:avLst>
          </a:prstGeom>
          <a:solidFill>
            <a:srgbClr val="F6E4DC"/>
          </a:solidFill>
          <a:ln w="9525">
            <a:solidFill>
              <a:srgbClr val="E6C3B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7750" y="2120280"/>
            <a:ext cx="381000" cy="3429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6486"/>
              </a:lnSpc>
              <a:buNone/>
            </a:pPr>
            <a:r>
              <a:rPr lang="en-US" sz="2400" dirty="0">
                <a:solidFill>
                  <a:srgbClr val="B84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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2806080"/>
            <a:ext cx="206243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B840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REAL CONSTRAINT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14400" y="3153742"/>
            <a:ext cx="5023104" cy="750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143"/>
              </a:lnSpc>
              <a:buNone/>
            </a:pPr>
            <a:r>
              <a:rPr lang="en-US" sz="2550" b="1" spc="-51" kern="0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Everything had to run on the live stream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914400" y="4056683"/>
            <a:ext cx="3802585" cy="852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558"/>
              </a:lnSpc>
              <a:buNone/>
            </a:pPr>
            <a:r>
              <a:rPr lang="en-US" sz="1425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nightly batch to lean on — every view had to render off a pipeline that refreshed every 90 seconds.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6400800" y="2214265"/>
            <a:ext cx="536448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47" kern="0" dirty="0">
                <a:solidFill>
                  <a:srgbClr val="58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IT RESHAPED THE DESIGN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274118" y="2552402"/>
            <a:ext cx="3894713" cy="1938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21"/>
              </a:lnSpc>
              <a:buNone/>
            </a:pPr>
            <a:r>
              <a:rPr lang="en-US" sz="1425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loading &amp; partial states into every screen, not as an afterthought</a:t>
            </a:r>
            <a:endParaRPr lang="en-US" sz="1425" dirty="0"/>
          </a:p>
          <a:p>
            <a:pPr algn="l" indent="0" marL="0">
              <a:lnSpc>
                <a:spcPct val="123721"/>
              </a:lnSpc>
              <a:buNone/>
            </a:pPr>
            <a:r>
              <a:rPr lang="en-US" sz="1425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Capped the historical range so live queries stayed fast</a:t>
            </a:r>
            <a:endParaRPr lang="en-US" sz="1425" dirty="0"/>
          </a:p>
          <a:p>
            <a:pPr algn="l" indent="0" marL="0">
              <a:lnSpc>
                <a:spcPct val="123721"/>
              </a:lnSpc>
              <a:buNone/>
            </a:pPr>
            <a:r>
              <a:rPr lang="en-US" sz="1425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Scoped v1 to the three highest-traffic views; deferred custom widgets</a:t>
            </a:r>
            <a:endParaRPr lang="en-US" sz="142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2DDEC">
                  <a:alpha val="100000"/>
                </a:srgbClr>
              </a:gs>
              <a:gs pos="100000">
                <a:srgbClr val="E9EFF7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762000"/>
            <a:ext cx="3505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b="1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41165" y="785813"/>
            <a:ext cx="310158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372"/>
              </a:lnSpc>
              <a:buNone/>
            </a:pPr>
            <a:r>
              <a:rPr lang="en-US" sz="1425" spc="314" kern="0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 WE DESIGNED FOR</a:t>
            </a:r>
            <a:endParaRPr lang="en-US" sz="1425" dirty="0"/>
          </a:p>
        </p:txBody>
      </p:sp>
      <p:sp>
        <p:nvSpPr>
          <p:cNvPr id="5" name="Text 3"/>
          <p:cNvSpPr/>
          <p:nvPr/>
        </p:nvSpPr>
        <p:spPr>
          <a:xfrm>
            <a:off x="914400" y="1181100"/>
            <a:ext cx="11399520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42"/>
              </a:lnSpc>
              <a:buNone/>
            </a:pPr>
            <a:r>
              <a:rPr lang="en-US" sz="3900" b="1" spc="-78" kern="0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insights analyst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914400" y="2044005"/>
            <a:ext cx="2857500" cy="2409825"/>
          </a:xfrm>
          <a:prstGeom prst="roundRect">
            <a:avLst>
              <a:gd name="adj" fmla="val 6324"/>
            </a:avLst>
          </a:prstGeom>
          <a:solidFill>
            <a:srgbClr val="FFFFFF"/>
          </a:solidFill>
          <a:ln w="9525">
            <a:solidFill>
              <a:srgbClr val="C4D3E6"/>
            </a:solidFill>
            <a:prstDash val="solid"/>
          </a:ln>
          <a:effectLst>
            <a:outerShdw sx="100000" sy="100000" kx="0" ky="0" algn="bl" rotWithShape="0" blurRad="381000" dist="171450" dir="5400000">
              <a:srgbClr val="141C28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85950" y="2358330"/>
            <a:ext cx="914400" cy="914400"/>
          </a:xfrm>
          <a:prstGeom prst="ellipse">
            <a:avLst/>
          </a:prstGeom>
          <a:solidFill>
            <a:srgbClr val="42A5F5"/>
          </a:solidFill>
          <a:ln/>
        </p:spPr>
      </p:sp>
      <p:sp>
        <p:nvSpPr>
          <p:cNvPr id="8" name="Text 6"/>
          <p:cNvSpPr/>
          <p:nvPr/>
        </p:nvSpPr>
        <p:spPr>
          <a:xfrm>
            <a:off x="1847850" y="2358330"/>
            <a:ext cx="99060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MR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117283" y="3444180"/>
            <a:ext cx="245173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Maya R.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90625" y="3739455"/>
            <a:ext cx="23050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Insights Analyst · Global CPG brand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29100" y="2044005"/>
            <a:ext cx="368808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47" kern="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09085" y="2324993"/>
            <a:ext cx="3549015" cy="98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 a trend before the news cycle does</a:t>
            </a:r>
            <a:endParaRPr lang="en-US" sz="13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a board-ready read by Monday</a:t>
            </a:r>
            <a:endParaRPr lang="en-US" sz="13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Defend every number with a source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924800" y="2044005"/>
            <a:ext cx="368808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47" kern="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FRUSTRATIONS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804785" y="2324993"/>
            <a:ext cx="3549015" cy="98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Rebuilds the same report every week</a:t>
            </a:r>
            <a:endParaRPr lang="en-US" sz="13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Exports break formatting in the deck</a:t>
            </a:r>
            <a:endParaRPr lang="en-US" sz="13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 arrive after the moment passes</a:t>
            </a:r>
            <a:endParaRPr lang="en-US" sz="13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2DDEC">
                  <a:alpha val="100000"/>
                </a:srgbClr>
              </a:gs>
              <a:gs pos="100000">
                <a:srgbClr val="E9EFF7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762000"/>
            <a:ext cx="3505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b="1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41165" y="785813"/>
            <a:ext cx="310158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372"/>
              </a:lnSpc>
              <a:buNone/>
            </a:pPr>
            <a:r>
              <a:rPr lang="en-US" sz="1425" spc="314" kern="0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 WE DESIGNED FOR</a:t>
            </a:r>
            <a:endParaRPr lang="en-US" sz="1425" dirty="0"/>
          </a:p>
        </p:txBody>
      </p:sp>
      <p:sp>
        <p:nvSpPr>
          <p:cNvPr id="5" name="Text 3"/>
          <p:cNvSpPr/>
          <p:nvPr/>
        </p:nvSpPr>
        <p:spPr>
          <a:xfrm>
            <a:off x="914400" y="1181100"/>
            <a:ext cx="11399520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42"/>
              </a:lnSpc>
              <a:buNone/>
            </a:pPr>
            <a:r>
              <a:rPr lang="en-US" sz="3900" b="1" spc="-78" kern="0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Three people, one tool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914400" y="2082105"/>
            <a:ext cx="3276600" cy="2627858"/>
          </a:xfrm>
          <a:prstGeom prst="roundRect">
            <a:avLst>
              <a:gd name="adj" fmla="val 5074"/>
            </a:avLst>
          </a:prstGeom>
          <a:solidFill>
            <a:srgbClr val="FFFFFF"/>
          </a:solidFill>
          <a:ln w="9525">
            <a:solidFill>
              <a:srgbClr val="C4D3E6"/>
            </a:solidFill>
            <a:prstDash val="solid"/>
          </a:ln>
          <a:effectLst>
            <a:outerShdw sx="100000" sy="100000" kx="0" ky="0" algn="bl" rotWithShape="0" blurRad="381000" dist="171450" dir="5400000">
              <a:srgbClr val="141C28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71575" y="2358330"/>
            <a:ext cx="685800" cy="685800"/>
          </a:xfrm>
          <a:prstGeom prst="ellipse">
            <a:avLst/>
          </a:prstGeom>
          <a:solidFill>
            <a:srgbClr val="42A5F5"/>
          </a:solidFill>
          <a:ln/>
        </p:spPr>
      </p:sp>
      <p:sp>
        <p:nvSpPr>
          <p:cNvPr id="8" name="Text 6"/>
          <p:cNvSpPr/>
          <p:nvPr/>
        </p:nvSpPr>
        <p:spPr>
          <a:xfrm>
            <a:off x="1133475" y="2358330"/>
            <a:ext cx="7620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MR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171575" y="3215580"/>
            <a:ext cx="303847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Maya · Analyst</a:t>
            </a:r>
            <a:endParaRPr lang="en-US" sz="1575" dirty="0"/>
          </a:p>
        </p:txBody>
      </p:sp>
      <p:sp>
        <p:nvSpPr>
          <p:cNvPr id="10" name="Text 8"/>
          <p:cNvSpPr/>
          <p:nvPr/>
        </p:nvSpPr>
        <p:spPr>
          <a:xfrm>
            <a:off x="1171575" y="3482280"/>
            <a:ext cx="303847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Lives in the data all day</a:t>
            </a:r>
            <a:endParaRPr lang="en-US" sz="1125" dirty="0"/>
          </a:p>
        </p:txBody>
      </p:sp>
      <p:sp>
        <p:nvSpPr>
          <p:cNvPr id="11" name="Shape 9"/>
          <p:cNvSpPr/>
          <p:nvPr/>
        </p:nvSpPr>
        <p:spPr>
          <a:xfrm>
            <a:off x="1171575" y="3820418"/>
            <a:ext cx="2762250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12" name="Text 10"/>
          <p:cNvSpPr/>
          <p:nvPr/>
        </p:nvSpPr>
        <p:spPr>
          <a:xfrm>
            <a:off x="1171575" y="3982343"/>
            <a:ext cx="2845118" cy="4894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405"/>
              </a:lnSpc>
              <a:buNone/>
            </a:pPr>
            <a:r>
              <a:rPr lang="en-US" sz="12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to </a:t>
            </a:r>
            <a:pPr algn="l" indent="0" marL="0">
              <a:lnSpc>
                <a:spcPct val="125405"/>
              </a:lnSpc>
              <a:buNone/>
            </a:pPr>
            <a:r>
              <a:rPr lang="en-US" sz="12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a board-ready read by Monday </a:t>
            </a:r>
            <a:pPr algn="l" indent="0" marL="0">
              <a:lnSpc>
                <a:spcPct val="125405"/>
              </a:lnSpc>
              <a:buNone/>
            </a:pPr>
            <a:r>
              <a:rPr lang="en-US" sz="12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rebuilding it by hand.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57700" y="2082105"/>
            <a:ext cx="3276600" cy="2627858"/>
          </a:xfrm>
          <a:prstGeom prst="roundRect">
            <a:avLst>
              <a:gd name="adj" fmla="val 5074"/>
            </a:avLst>
          </a:prstGeom>
          <a:solidFill>
            <a:srgbClr val="FFFFFF"/>
          </a:solidFill>
          <a:ln w="9525">
            <a:solidFill>
              <a:srgbClr val="C4D3E6"/>
            </a:solidFill>
            <a:prstDash val="solid"/>
          </a:ln>
          <a:effectLst>
            <a:outerShdw sx="100000" sy="100000" kx="0" ky="0" algn="bl" rotWithShape="0" blurRad="381000" dist="171450" dir="5400000">
              <a:srgbClr val="141C28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14875" y="2358330"/>
            <a:ext cx="685800" cy="685800"/>
          </a:xfrm>
          <a:prstGeom prst="ellipse">
            <a:avLst/>
          </a:prstGeom>
          <a:solidFill>
            <a:srgbClr val="42A5F5"/>
          </a:solidFill>
          <a:ln/>
        </p:spPr>
      </p:sp>
      <p:sp>
        <p:nvSpPr>
          <p:cNvPr id="15" name="Text 13"/>
          <p:cNvSpPr/>
          <p:nvPr/>
        </p:nvSpPr>
        <p:spPr>
          <a:xfrm>
            <a:off x="4676775" y="2358330"/>
            <a:ext cx="7620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TK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4714875" y="3215580"/>
            <a:ext cx="303847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Theo · Executive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4714875" y="3482280"/>
            <a:ext cx="303847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 30 seconds</a:t>
            </a:r>
            <a:endParaRPr lang="en-US" sz="1125" dirty="0"/>
          </a:p>
        </p:txBody>
      </p:sp>
      <p:sp>
        <p:nvSpPr>
          <p:cNvPr id="18" name="Shape 16"/>
          <p:cNvSpPr/>
          <p:nvPr/>
        </p:nvSpPr>
        <p:spPr>
          <a:xfrm>
            <a:off x="4714875" y="3820418"/>
            <a:ext cx="2762250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19" name="Text 17"/>
          <p:cNvSpPr/>
          <p:nvPr/>
        </p:nvSpPr>
        <p:spPr>
          <a:xfrm>
            <a:off x="4714875" y="3982343"/>
            <a:ext cx="2845118" cy="484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405"/>
              </a:lnSpc>
              <a:buNone/>
            </a:pPr>
            <a:r>
              <a:rPr lang="en-US" sz="12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Wants </a:t>
            </a:r>
            <a:pPr algn="l" indent="0" marL="0">
              <a:lnSpc>
                <a:spcPct val="125405"/>
              </a:lnSpc>
              <a:buNone/>
            </a:pPr>
            <a:r>
              <a:rPr lang="en-US" sz="12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headline he can trust </a:t>
            </a:r>
            <a:pPr algn="l" indent="0" marL="0">
              <a:lnSpc>
                <a:spcPct val="125405"/>
              </a:lnSpc>
              <a:buNone/>
            </a:pPr>
            <a:r>
              <a:rPr lang="en-US" sz="12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a wall of widgets.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01000" y="2082105"/>
            <a:ext cx="3276600" cy="2627858"/>
          </a:xfrm>
          <a:prstGeom prst="roundRect">
            <a:avLst>
              <a:gd name="adj" fmla="val 5074"/>
            </a:avLst>
          </a:prstGeom>
          <a:solidFill>
            <a:srgbClr val="FFFFFF"/>
          </a:solidFill>
          <a:ln w="9525">
            <a:solidFill>
              <a:srgbClr val="C4D3E6"/>
            </a:solidFill>
            <a:prstDash val="solid"/>
          </a:ln>
          <a:effectLst>
            <a:outerShdw sx="100000" sy="100000" kx="0" ky="0" algn="bl" rotWithShape="0" blurRad="381000" dist="171450" dir="5400000">
              <a:srgbClr val="141C28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58175" y="2358330"/>
            <a:ext cx="685800" cy="685800"/>
          </a:xfrm>
          <a:prstGeom prst="ellipse">
            <a:avLst/>
          </a:prstGeom>
          <a:solidFill>
            <a:srgbClr val="42A5F5"/>
          </a:solidFill>
          <a:ln/>
        </p:spPr>
      </p:sp>
      <p:sp>
        <p:nvSpPr>
          <p:cNvPr id="22" name="Text 20"/>
          <p:cNvSpPr/>
          <p:nvPr/>
        </p:nvSpPr>
        <p:spPr>
          <a:xfrm>
            <a:off x="8220075" y="2358330"/>
            <a:ext cx="7620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8258175" y="3215580"/>
            <a:ext cx="303847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Sana · Strategist</a:t>
            </a:r>
            <a:endParaRPr lang="en-US" sz="1575" dirty="0"/>
          </a:p>
        </p:txBody>
      </p:sp>
      <p:sp>
        <p:nvSpPr>
          <p:cNvPr id="24" name="Text 22"/>
          <p:cNvSpPr/>
          <p:nvPr/>
        </p:nvSpPr>
        <p:spPr>
          <a:xfrm>
            <a:off x="8258175" y="3482280"/>
            <a:ext cx="303847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Plans the next quarter</a:t>
            </a:r>
            <a:endParaRPr lang="en-US" sz="1125" dirty="0"/>
          </a:p>
        </p:txBody>
      </p:sp>
      <p:sp>
        <p:nvSpPr>
          <p:cNvPr id="25" name="Shape 23"/>
          <p:cNvSpPr/>
          <p:nvPr/>
        </p:nvSpPr>
        <p:spPr>
          <a:xfrm>
            <a:off x="8258175" y="3820418"/>
            <a:ext cx="2762250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26" name="Text 24"/>
          <p:cNvSpPr/>
          <p:nvPr/>
        </p:nvSpPr>
        <p:spPr>
          <a:xfrm>
            <a:off x="8258175" y="3982343"/>
            <a:ext cx="2845118" cy="4894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405"/>
              </a:lnSpc>
              <a:buNone/>
            </a:pPr>
            <a:r>
              <a:rPr lang="en-US" sz="12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to </a:t>
            </a:r>
            <a:pPr algn="l" indent="0" marL="0">
              <a:lnSpc>
                <a:spcPct val="125405"/>
              </a:lnSpc>
              <a:buNone/>
            </a:pPr>
            <a:r>
              <a:rPr lang="en-US" sz="12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 a trend before the news cycle </a:t>
            </a:r>
            <a:pPr algn="l" indent="0" marL="0">
              <a:lnSpc>
                <a:spcPct val="125405"/>
              </a:lnSpc>
              <a:buNone/>
            </a:pPr>
            <a:r>
              <a:rPr lang="en-US" sz="12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does.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2DDEC">
                  <a:alpha val="100000"/>
                </a:srgbClr>
              </a:gs>
              <a:gs pos="100000">
                <a:srgbClr val="E9EFF7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762000"/>
            <a:ext cx="3505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b="1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41165" y="785813"/>
            <a:ext cx="244862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372"/>
              </a:lnSpc>
              <a:buNone/>
            </a:pPr>
            <a:r>
              <a:rPr lang="en-US" sz="1425" spc="314" kern="0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WE LEARNED</a:t>
            </a:r>
            <a:endParaRPr lang="en-US" sz="1425" dirty="0"/>
          </a:p>
        </p:txBody>
      </p:sp>
      <p:sp>
        <p:nvSpPr>
          <p:cNvPr id="5" name="Text 3"/>
          <p:cNvSpPr/>
          <p:nvPr/>
        </p:nvSpPr>
        <p:spPr>
          <a:xfrm>
            <a:off x="914400" y="1181100"/>
            <a:ext cx="10674096" cy="10781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42"/>
              </a:lnSpc>
              <a:buNone/>
            </a:pPr>
            <a:r>
              <a:rPr lang="en-US" sz="3900" b="1" spc="-78" kern="0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Three findings that shaped everything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914400" y="2297311"/>
            <a:ext cx="1464618" cy="328613"/>
          </a:xfrm>
          <a:prstGeom prst="roundRect">
            <a:avLst>
              <a:gd name="adj" fmla="val 50000"/>
            </a:avLst>
          </a:prstGeom>
          <a:solidFill>
            <a:srgbClr val="F4F8FF"/>
          </a:solidFill>
          <a:ln w="9525">
            <a:solidFill>
              <a:srgbClr val="C4D3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7275" y="2373511"/>
            <a:ext cx="1255068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spc="84" kern="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INTERVIEWS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493318" y="2297311"/>
            <a:ext cx="2099370" cy="328613"/>
          </a:xfrm>
          <a:prstGeom prst="roundRect">
            <a:avLst>
              <a:gd name="adj" fmla="val 50000"/>
            </a:avLst>
          </a:prstGeom>
          <a:solidFill>
            <a:srgbClr val="F4F8FF"/>
          </a:solidFill>
          <a:ln w="9525">
            <a:solidFill>
              <a:srgbClr val="C4D3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36193" y="2373511"/>
            <a:ext cx="188982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spc="84" kern="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15-PLATFORM TEARDOWN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6987" y="2297311"/>
            <a:ext cx="2280717" cy="328613"/>
          </a:xfrm>
          <a:prstGeom prst="roundRect">
            <a:avLst>
              <a:gd name="adj" fmla="val 50000"/>
            </a:avLst>
          </a:prstGeom>
          <a:solidFill>
            <a:srgbClr val="F4F8FF"/>
          </a:solidFill>
          <a:ln w="9525">
            <a:solidFill>
              <a:srgbClr val="C4D3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9862" y="2373511"/>
            <a:ext cx="2071167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spc="84" kern="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FIRST-CLICK TEST · N=9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14400" y="3006923"/>
            <a:ext cx="4953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2250" b="1" dirty="0">
                <a:solidFill>
                  <a:srgbClr val="42A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504950" y="3006923"/>
            <a:ext cx="4493324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15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Analysts trusted a number only when they could see its source in one click.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24600" y="3006923"/>
            <a:ext cx="4953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2250" b="1" dirty="0">
                <a:solidFill>
                  <a:srgbClr val="42A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6915150" y="3006923"/>
            <a:ext cx="4493324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15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weekly report was rebuilt by hand — the same steps, every single Monday.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3807023"/>
            <a:ext cx="4953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2250" b="1" dirty="0">
                <a:solidFill>
                  <a:srgbClr val="42A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1504950" y="3807023"/>
            <a:ext cx="4493324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15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Executives wanted one headline, not a wall of equally-weighted widgets.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24600" y="3807023"/>
            <a:ext cx="4953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2250" b="1" dirty="0">
                <a:solidFill>
                  <a:srgbClr val="42A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6915150" y="3807023"/>
            <a:ext cx="4493324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15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 alerts were worse than none — they arrived after the story had broken.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2DDEC">
                  <a:alpha val="100000"/>
                </a:srgbClr>
              </a:gs>
              <a:gs pos="100000">
                <a:srgbClr val="E9EFF7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762000"/>
            <a:ext cx="3505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b="1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41165" y="785813"/>
            <a:ext cx="293836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372"/>
              </a:lnSpc>
              <a:buNone/>
            </a:pPr>
            <a:r>
              <a:rPr lang="en-US" sz="1425" spc="314" kern="0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WE COULD WIN</a:t>
            </a:r>
            <a:endParaRPr lang="en-US" sz="1425" dirty="0"/>
          </a:p>
        </p:txBody>
      </p:sp>
      <p:sp>
        <p:nvSpPr>
          <p:cNvPr id="5" name="Text 3"/>
          <p:cNvSpPr/>
          <p:nvPr/>
        </p:nvSpPr>
        <p:spPr>
          <a:xfrm>
            <a:off x="914400" y="1181100"/>
            <a:ext cx="11399520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42"/>
              </a:lnSpc>
              <a:buNone/>
            </a:pPr>
            <a:r>
              <a:rPr lang="en-US" sz="3900" b="1" spc="-78" kern="0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competitive gap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914400" y="2534543"/>
            <a:ext cx="1975842" cy="19050"/>
          </a:xfrm>
          <a:prstGeom prst="rect">
            <a:avLst/>
          </a:prstGeom>
          <a:solidFill>
            <a:srgbClr val="C4D3E6"/>
          </a:solidFill>
          <a:ln/>
        </p:spPr>
      </p:sp>
      <p:sp>
        <p:nvSpPr>
          <p:cNvPr id="7" name="Text 5"/>
          <p:cNvSpPr/>
          <p:nvPr/>
        </p:nvSpPr>
        <p:spPr>
          <a:xfrm>
            <a:off x="1104900" y="2215455"/>
            <a:ext cx="1671042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84" kern="0" dirty="0">
                <a:solidFill>
                  <a:srgbClr val="58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PLATFORM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890242" y="2534543"/>
            <a:ext cx="1563737" cy="19050"/>
          </a:xfrm>
          <a:prstGeom prst="rect">
            <a:avLst/>
          </a:prstGeom>
          <a:solidFill>
            <a:srgbClr val="C4D3E6"/>
          </a:solidFill>
          <a:ln/>
        </p:spPr>
      </p:sp>
      <p:sp>
        <p:nvSpPr>
          <p:cNvPr id="9" name="Text 7"/>
          <p:cNvSpPr/>
          <p:nvPr/>
        </p:nvSpPr>
        <p:spPr>
          <a:xfrm>
            <a:off x="3042642" y="2215455"/>
            <a:ext cx="1258937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spc="84" kern="0" dirty="0">
                <a:solidFill>
                  <a:srgbClr val="58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REAL-TIME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53979" y="2534543"/>
            <a:ext cx="2866727" cy="19050"/>
          </a:xfrm>
          <a:prstGeom prst="rect">
            <a:avLst/>
          </a:prstGeom>
          <a:solidFill>
            <a:srgbClr val="C4D3E6"/>
          </a:solidFill>
          <a:ln/>
        </p:spPr>
      </p:sp>
      <p:sp>
        <p:nvSpPr>
          <p:cNvPr id="11" name="Text 9"/>
          <p:cNvSpPr/>
          <p:nvPr/>
        </p:nvSpPr>
        <p:spPr>
          <a:xfrm>
            <a:off x="4601478" y="2215455"/>
            <a:ext cx="2571729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spc="84" kern="0" dirty="0">
                <a:solidFill>
                  <a:srgbClr val="58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SIDE-BY-SIDE COMPARE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20707" y="2534543"/>
            <a:ext cx="1919064" cy="19050"/>
          </a:xfrm>
          <a:prstGeom prst="rect">
            <a:avLst/>
          </a:prstGeom>
          <a:solidFill>
            <a:srgbClr val="C4D3E6"/>
          </a:solidFill>
          <a:ln/>
        </p:spPr>
      </p:sp>
      <p:sp>
        <p:nvSpPr>
          <p:cNvPr id="13" name="Text 11"/>
          <p:cNvSpPr/>
          <p:nvPr/>
        </p:nvSpPr>
        <p:spPr>
          <a:xfrm>
            <a:off x="7473107" y="2215455"/>
            <a:ext cx="1614264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spc="84" kern="0" dirty="0">
                <a:solidFill>
                  <a:srgbClr val="58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SMART ALERTS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239771" y="2534543"/>
            <a:ext cx="2037829" cy="19050"/>
          </a:xfrm>
          <a:prstGeom prst="rect">
            <a:avLst/>
          </a:prstGeom>
          <a:solidFill>
            <a:srgbClr val="C4D3E6"/>
          </a:solidFill>
          <a:ln/>
        </p:spPr>
      </p:sp>
      <p:sp>
        <p:nvSpPr>
          <p:cNvPr id="15" name="Text 13"/>
          <p:cNvSpPr/>
          <p:nvPr/>
        </p:nvSpPr>
        <p:spPr>
          <a:xfrm>
            <a:off x="9392171" y="2215455"/>
            <a:ext cx="1733029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spc="84" kern="0" dirty="0">
                <a:solidFill>
                  <a:srgbClr val="58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ANALYST-READY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14400" y="2553593"/>
            <a:ext cx="1975842" cy="569714"/>
          </a:xfrm>
          <a:prstGeom prst="rect">
            <a:avLst/>
          </a:prstGeom>
          <a:solidFill>
            <a:srgbClr val="F4F8FF"/>
          </a:solidFill>
          <a:ln/>
        </p:spPr>
      </p:sp>
      <p:sp>
        <p:nvSpPr>
          <p:cNvPr id="17" name="Shape 15"/>
          <p:cNvSpPr/>
          <p:nvPr/>
        </p:nvSpPr>
        <p:spPr>
          <a:xfrm>
            <a:off x="914400" y="3113782"/>
            <a:ext cx="1975842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18" name="Text 16"/>
          <p:cNvSpPr/>
          <p:nvPr/>
        </p:nvSpPr>
        <p:spPr>
          <a:xfrm>
            <a:off x="1104900" y="2725043"/>
            <a:ext cx="1671042" cy="2553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NetBase Pro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2890242" y="2553593"/>
            <a:ext cx="1563737" cy="569714"/>
          </a:xfrm>
          <a:prstGeom prst="roundRect">
            <a:avLst>
              <a:gd name="adj" fmla="val 16719"/>
            </a:avLst>
          </a:prstGeom>
          <a:solidFill>
            <a:srgbClr val="F4F8FF"/>
          </a:solidFill>
          <a:ln/>
        </p:spPr>
      </p:sp>
      <p:sp>
        <p:nvSpPr>
          <p:cNvPr id="20" name="Shape 18"/>
          <p:cNvSpPr/>
          <p:nvPr/>
        </p:nvSpPr>
        <p:spPr>
          <a:xfrm>
            <a:off x="2890242" y="3113782"/>
            <a:ext cx="1563737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21" name="Text 19"/>
          <p:cNvSpPr/>
          <p:nvPr/>
        </p:nvSpPr>
        <p:spPr>
          <a:xfrm>
            <a:off x="3538761" y="2751832"/>
            <a:ext cx="266700" cy="228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88889"/>
              </a:lnSpc>
              <a:buNone/>
            </a:pPr>
            <a:r>
              <a:rPr lang="en-US" sz="15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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453979" y="2553593"/>
            <a:ext cx="2866727" cy="569714"/>
          </a:xfrm>
          <a:prstGeom prst="rect">
            <a:avLst/>
          </a:prstGeom>
          <a:solidFill>
            <a:srgbClr val="F4F8FF"/>
          </a:solidFill>
          <a:ln/>
        </p:spPr>
      </p:sp>
      <p:sp>
        <p:nvSpPr>
          <p:cNvPr id="23" name="Shape 21"/>
          <p:cNvSpPr/>
          <p:nvPr/>
        </p:nvSpPr>
        <p:spPr>
          <a:xfrm>
            <a:off x="4453979" y="3113782"/>
            <a:ext cx="2866727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24" name="Text 22"/>
          <p:cNvSpPr/>
          <p:nvPr/>
        </p:nvSpPr>
        <p:spPr>
          <a:xfrm>
            <a:off x="5753993" y="2751832"/>
            <a:ext cx="266700" cy="228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88889"/>
              </a:lnSpc>
              <a:buNone/>
            </a:pPr>
            <a:r>
              <a:rPr lang="en-US" sz="15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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7320707" y="2553593"/>
            <a:ext cx="1919064" cy="569714"/>
          </a:xfrm>
          <a:prstGeom prst="rect">
            <a:avLst/>
          </a:prstGeom>
          <a:solidFill>
            <a:srgbClr val="F4F8FF"/>
          </a:solidFill>
          <a:ln/>
        </p:spPr>
      </p:sp>
      <p:sp>
        <p:nvSpPr>
          <p:cNvPr id="26" name="Shape 24"/>
          <p:cNvSpPr/>
          <p:nvPr/>
        </p:nvSpPr>
        <p:spPr>
          <a:xfrm>
            <a:off x="7320707" y="3113782"/>
            <a:ext cx="1919064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27" name="Text 25"/>
          <p:cNvSpPr/>
          <p:nvPr/>
        </p:nvSpPr>
        <p:spPr>
          <a:xfrm>
            <a:off x="8146852" y="2751832"/>
            <a:ext cx="266700" cy="228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88889"/>
              </a:lnSpc>
              <a:buNone/>
            </a:pPr>
            <a:r>
              <a:rPr lang="en-US" sz="15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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9239771" y="2553593"/>
            <a:ext cx="2037829" cy="569714"/>
          </a:xfrm>
          <a:prstGeom prst="rect">
            <a:avLst/>
          </a:prstGeom>
          <a:solidFill>
            <a:srgbClr val="F4F8FF"/>
          </a:solidFill>
          <a:ln/>
        </p:spPr>
      </p:sp>
      <p:sp>
        <p:nvSpPr>
          <p:cNvPr id="29" name="Shape 27"/>
          <p:cNvSpPr/>
          <p:nvPr/>
        </p:nvSpPr>
        <p:spPr>
          <a:xfrm>
            <a:off x="9239771" y="3113782"/>
            <a:ext cx="2037829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30" name="Text 28"/>
          <p:cNvSpPr/>
          <p:nvPr/>
        </p:nvSpPr>
        <p:spPr>
          <a:xfrm>
            <a:off x="10125298" y="2751832"/>
            <a:ext cx="266700" cy="228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88889"/>
              </a:lnSpc>
              <a:buNone/>
            </a:pPr>
            <a:r>
              <a:rPr lang="en-US" sz="15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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914400" y="3713857"/>
            <a:ext cx="1975842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32" name="Text 30"/>
          <p:cNvSpPr/>
          <p:nvPr/>
        </p:nvSpPr>
        <p:spPr>
          <a:xfrm>
            <a:off x="1104900" y="3294757"/>
            <a:ext cx="167104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Brandwatch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2890242" y="3713857"/>
            <a:ext cx="1563737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34" name="Text 32"/>
          <p:cNvSpPr/>
          <p:nvPr/>
        </p:nvSpPr>
        <p:spPr>
          <a:xfrm>
            <a:off x="3538761" y="3336727"/>
            <a:ext cx="266700" cy="228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88889"/>
              </a:lnSpc>
              <a:buNone/>
            </a:pPr>
            <a:r>
              <a:rPr lang="en-US" sz="15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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4453979" y="3713857"/>
            <a:ext cx="2866727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36" name="Text 34"/>
          <p:cNvSpPr/>
          <p:nvPr/>
        </p:nvSpPr>
        <p:spPr>
          <a:xfrm>
            <a:off x="5753993" y="3345656"/>
            <a:ext cx="266700" cy="228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88889"/>
              </a:lnSpc>
              <a:buNone/>
            </a:pPr>
            <a:r>
              <a:rPr lang="en-US" sz="1500" dirty="0">
                <a:solidFill>
                  <a:srgbClr val="EF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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7320707" y="3713857"/>
            <a:ext cx="1919064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38" name="Text 36"/>
          <p:cNvSpPr/>
          <p:nvPr/>
        </p:nvSpPr>
        <p:spPr>
          <a:xfrm>
            <a:off x="8146852" y="3336727"/>
            <a:ext cx="266700" cy="228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88889"/>
              </a:lnSpc>
              <a:buNone/>
            </a:pPr>
            <a:r>
              <a:rPr lang="en-US" sz="15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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9239771" y="3713857"/>
            <a:ext cx="2037829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40" name="Text 38"/>
          <p:cNvSpPr/>
          <p:nvPr/>
        </p:nvSpPr>
        <p:spPr>
          <a:xfrm>
            <a:off x="10125298" y="3345656"/>
            <a:ext cx="266700" cy="228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88889"/>
              </a:lnSpc>
              <a:buNone/>
            </a:pPr>
            <a:r>
              <a:rPr lang="en-US" sz="1500" dirty="0">
                <a:solidFill>
                  <a:srgbClr val="C4D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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914400" y="4313932"/>
            <a:ext cx="1975842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42" name="Text 40"/>
          <p:cNvSpPr/>
          <p:nvPr/>
        </p:nvSpPr>
        <p:spPr>
          <a:xfrm>
            <a:off x="1104900" y="3894832"/>
            <a:ext cx="167104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Sprinklr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2890242" y="4313932"/>
            <a:ext cx="1563737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44" name="Text 42"/>
          <p:cNvSpPr/>
          <p:nvPr/>
        </p:nvSpPr>
        <p:spPr>
          <a:xfrm>
            <a:off x="3538761" y="3945731"/>
            <a:ext cx="266700" cy="228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88889"/>
              </a:lnSpc>
              <a:buNone/>
            </a:pPr>
            <a:r>
              <a:rPr lang="en-US" sz="1500" dirty="0">
                <a:solidFill>
                  <a:srgbClr val="EF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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4453979" y="4313932"/>
            <a:ext cx="2866727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46" name="Text 44"/>
          <p:cNvSpPr/>
          <p:nvPr/>
        </p:nvSpPr>
        <p:spPr>
          <a:xfrm>
            <a:off x="5753993" y="3945731"/>
            <a:ext cx="266700" cy="228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88889"/>
              </a:lnSpc>
              <a:buNone/>
            </a:pPr>
            <a:r>
              <a:rPr lang="en-US" sz="1500" dirty="0">
                <a:solidFill>
                  <a:srgbClr val="C4D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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7320707" y="4313932"/>
            <a:ext cx="1919064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48" name="Text 46"/>
          <p:cNvSpPr/>
          <p:nvPr/>
        </p:nvSpPr>
        <p:spPr>
          <a:xfrm>
            <a:off x="8146852" y="3936802"/>
            <a:ext cx="266700" cy="228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88889"/>
              </a:lnSpc>
              <a:buNone/>
            </a:pPr>
            <a:r>
              <a:rPr lang="en-US" sz="15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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9239771" y="4313932"/>
            <a:ext cx="2037829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50" name="Text 48"/>
          <p:cNvSpPr/>
          <p:nvPr/>
        </p:nvSpPr>
        <p:spPr>
          <a:xfrm>
            <a:off x="10125298" y="3945731"/>
            <a:ext cx="266700" cy="228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88889"/>
              </a:lnSpc>
              <a:buNone/>
            </a:pPr>
            <a:r>
              <a:rPr lang="en-US" sz="1500" dirty="0">
                <a:solidFill>
                  <a:srgbClr val="EF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</a:t>
            </a:r>
            <a:endParaRPr lang="en-US" sz="1500" dirty="0"/>
          </a:p>
        </p:txBody>
      </p:sp>
      <p:sp>
        <p:nvSpPr>
          <p:cNvPr id="51" name="Shape 49"/>
          <p:cNvSpPr/>
          <p:nvPr/>
        </p:nvSpPr>
        <p:spPr>
          <a:xfrm>
            <a:off x="914400" y="4914007"/>
            <a:ext cx="1975842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52" name="Text 50"/>
          <p:cNvSpPr/>
          <p:nvPr/>
        </p:nvSpPr>
        <p:spPr>
          <a:xfrm>
            <a:off x="1104900" y="4494907"/>
            <a:ext cx="167104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Talkwalker</a:t>
            </a:r>
            <a:endParaRPr lang="en-US" sz="1350" dirty="0"/>
          </a:p>
        </p:txBody>
      </p:sp>
      <p:sp>
        <p:nvSpPr>
          <p:cNvPr id="53" name="Shape 51"/>
          <p:cNvSpPr/>
          <p:nvPr/>
        </p:nvSpPr>
        <p:spPr>
          <a:xfrm>
            <a:off x="2890242" y="4914007"/>
            <a:ext cx="1563737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54" name="Text 52"/>
          <p:cNvSpPr/>
          <p:nvPr/>
        </p:nvSpPr>
        <p:spPr>
          <a:xfrm>
            <a:off x="3538761" y="4536877"/>
            <a:ext cx="266700" cy="228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88889"/>
              </a:lnSpc>
              <a:buNone/>
            </a:pPr>
            <a:r>
              <a:rPr lang="en-US" sz="15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</a:t>
            </a:r>
            <a:endParaRPr lang="en-US" sz="1500" dirty="0"/>
          </a:p>
        </p:txBody>
      </p:sp>
      <p:sp>
        <p:nvSpPr>
          <p:cNvPr id="55" name="Shape 53"/>
          <p:cNvSpPr/>
          <p:nvPr/>
        </p:nvSpPr>
        <p:spPr>
          <a:xfrm>
            <a:off x="4453979" y="4914007"/>
            <a:ext cx="2866727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56" name="Text 54"/>
          <p:cNvSpPr/>
          <p:nvPr/>
        </p:nvSpPr>
        <p:spPr>
          <a:xfrm>
            <a:off x="5753993" y="4545806"/>
            <a:ext cx="266700" cy="228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88889"/>
              </a:lnSpc>
              <a:buNone/>
            </a:pPr>
            <a:r>
              <a:rPr lang="en-US" sz="1500" dirty="0">
                <a:solidFill>
                  <a:srgbClr val="C4D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</a:t>
            </a:r>
            <a:endParaRPr lang="en-US" sz="1500" dirty="0"/>
          </a:p>
        </p:txBody>
      </p:sp>
      <p:sp>
        <p:nvSpPr>
          <p:cNvPr id="57" name="Shape 55"/>
          <p:cNvSpPr/>
          <p:nvPr/>
        </p:nvSpPr>
        <p:spPr>
          <a:xfrm>
            <a:off x="7320707" y="4914007"/>
            <a:ext cx="1919064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58" name="Text 56"/>
          <p:cNvSpPr/>
          <p:nvPr/>
        </p:nvSpPr>
        <p:spPr>
          <a:xfrm>
            <a:off x="8146852" y="4545806"/>
            <a:ext cx="266700" cy="228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88889"/>
              </a:lnSpc>
              <a:buNone/>
            </a:pPr>
            <a:r>
              <a:rPr lang="en-US" sz="1500" dirty="0">
                <a:solidFill>
                  <a:srgbClr val="EF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</a:t>
            </a:r>
            <a:endParaRPr lang="en-US" sz="1500" dirty="0"/>
          </a:p>
        </p:txBody>
      </p:sp>
      <p:sp>
        <p:nvSpPr>
          <p:cNvPr id="59" name="Shape 57"/>
          <p:cNvSpPr/>
          <p:nvPr/>
        </p:nvSpPr>
        <p:spPr>
          <a:xfrm>
            <a:off x="9239771" y="4914007"/>
            <a:ext cx="2037829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60" name="Text 58"/>
          <p:cNvSpPr/>
          <p:nvPr/>
        </p:nvSpPr>
        <p:spPr>
          <a:xfrm>
            <a:off x="10125298" y="4545806"/>
            <a:ext cx="266700" cy="228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88889"/>
              </a:lnSpc>
              <a:buNone/>
            </a:pPr>
            <a:r>
              <a:rPr lang="en-US" sz="1500" dirty="0">
                <a:solidFill>
                  <a:srgbClr val="C4D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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2DDEC">
                  <a:alpha val="100000"/>
                </a:srgbClr>
              </a:gs>
              <a:gs pos="100000">
                <a:srgbClr val="E9EFF7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914400" y="2041029"/>
            <a:ext cx="38100" cy="2775942"/>
          </a:xfrm>
          <a:prstGeom prst="rect">
            <a:avLst/>
          </a:prstGeom>
          <a:solidFill>
            <a:srgbClr val="B8401B"/>
          </a:solidFill>
          <a:ln/>
        </p:spPr>
      </p:sp>
      <p:sp>
        <p:nvSpPr>
          <p:cNvPr id="4" name="Text 2"/>
          <p:cNvSpPr/>
          <p:nvPr/>
        </p:nvSpPr>
        <p:spPr>
          <a:xfrm>
            <a:off x="1333500" y="2041029"/>
            <a:ext cx="5650992" cy="1804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814"/>
              </a:lnSpc>
              <a:buNone/>
            </a:pPr>
            <a:r>
              <a:rPr lang="en-US" sz="2850" spc="-29" kern="0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“She turned a wall of dashboards into something my whole team actually reads on Monday morning.”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333500" y="4169271"/>
            <a:ext cx="647700" cy="647700"/>
          </a:xfrm>
          <a:prstGeom prst="ellipse">
            <a:avLst/>
          </a:prstGeom>
          <a:solidFill>
            <a:srgbClr val="42A5F5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4169271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152650" y="4296445"/>
            <a:ext cx="2445514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Derek M.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152650" y="4529807"/>
            <a:ext cx="2445514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811"/>
              </a:lnSpc>
              <a:buNone/>
            </a:pPr>
            <a:r>
              <a:rPr lang="en-US" sz="1200" b="1" spc="-24" kern="0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of Insights · NetBase Solutions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2DDEC">
                  <a:alpha val="100000"/>
                </a:srgbClr>
              </a:gs>
              <a:gs pos="100000">
                <a:srgbClr val="E9EFF7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762000"/>
            <a:ext cx="3505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b="1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41165" y="785813"/>
            <a:ext cx="277514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372"/>
              </a:lnSpc>
              <a:buNone/>
            </a:pPr>
            <a:r>
              <a:rPr lang="en-US" sz="1425" spc="314" kern="0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 I DESIGNED</a:t>
            </a:r>
            <a:endParaRPr lang="en-US" sz="1425" dirty="0"/>
          </a:p>
        </p:txBody>
      </p:sp>
      <p:sp>
        <p:nvSpPr>
          <p:cNvPr id="5" name="Text 3"/>
          <p:cNvSpPr/>
          <p:nvPr/>
        </p:nvSpPr>
        <p:spPr>
          <a:xfrm>
            <a:off x="914400" y="1181100"/>
            <a:ext cx="11399520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42"/>
              </a:lnSpc>
              <a:buNone/>
            </a:pPr>
            <a:r>
              <a:rPr lang="en-US" sz="3900" b="1" spc="-78" kern="0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checked the premise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914400" y="2082105"/>
            <a:ext cx="3238500" cy="2131665"/>
          </a:xfrm>
          <a:prstGeom prst="roundRect">
            <a:avLst>
              <a:gd name="adj" fmla="val 7149"/>
            </a:avLst>
          </a:prstGeom>
          <a:solidFill>
            <a:srgbClr val="FFFFFF"/>
          </a:solidFill>
          <a:ln w="9525">
            <a:solidFill>
              <a:srgbClr val="C4D3E6"/>
            </a:solidFill>
            <a:prstDash val="solid"/>
          </a:ln>
          <a:effectLst>
            <a:outerShdw sx="100000" sy="100000" kx="0" ky="0" algn="bl" rotWithShape="0" blurRad="381000" dist="171450" dir="5400000">
              <a:srgbClr val="141C28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28850" y="2396430"/>
            <a:ext cx="609600" cy="609600"/>
          </a:xfrm>
          <a:prstGeom prst="ellipse">
            <a:avLst/>
          </a:prstGeom>
          <a:solidFill>
            <a:srgbClr val="E3F0E4"/>
          </a:solidFill>
          <a:ln w="9525">
            <a:solidFill>
              <a:srgbClr val="BCDC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52675" y="2558355"/>
            <a:ext cx="361950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86957"/>
              </a:lnSpc>
              <a:buNone/>
            </a:pPr>
            <a:r>
              <a:rPr lang="en-US" sz="225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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098233" y="3177480"/>
            <a:ext cx="287083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analysts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189577" y="3472755"/>
            <a:ext cx="2688145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1081"/>
              </a:lnSpc>
              <a:buNone/>
            </a:pPr>
            <a:r>
              <a:rPr lang="en-US" sz="1200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3 accounts, before a single wireframe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86300" y="2139255"/>
            <a:ext cx="725043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47" kern="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THEY CONFIRMED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52950" y="2477393"/>
            <a:ext cx="5238750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15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source-of-truth problem was real — trust broke without a traceable number</a:t>
            </a:r>
            <a:endParaRPr lang="en-US" sz="1500" dirty="0"/>
          </a:p>
          <a:p>
            <a:pPr algn="l" indent="0" marL="0">
              <a:lnSpc>
                <a:spcPct val="124444"/>
              </a:lnSpc>
              <a:buNone/>
            </a:pPr>
            <a:r>
              <a:rPr lang="en-US" sz="15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beat customization for the daily read</a:t>
            </a:r>
            <a:endParaRPr lang="en-US" sz="1500" dirty="0"/>
          </a:p>
          <a:p>
            <a:pPr algn="l" indent="0" marL="0">
              <a:lnSpc>
                <a:spcPct val="124444"/>
              </a:lnSpc>
              <a:buNone/>
            </a:pPr>
            <a:r>
              <a:rPr lang="en-US" sz="15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 alerts were the most-wanted gap, not a nice-to-have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2DDEC">
                  <a:alpha val="100000"/>
                </a:srgbClr>
              </a:gs>
              <a:gs pos="100000">
                <a:srgbClr val="E9EFF7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762000"/>
            <a:ext cx="3505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b="1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41165" y="785813"/>
            <a:ext cx="111502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372"/>
              </a:lnSpc>
              <a:buNone/>
            </a:pPr>
            <a:r>
              <a:rPr lang="en-US" sz="1425" spc="314" kern="0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</a:t>
            </a:r>
            <a:endParaRPr lang="en-US" sz="1425" dirty="0"/>
          </a:p>
        </p:txBody>
      </p:sp>
      <p:sp>
        <p:nvSpPr>
          <p:cNvPr id="5" name="Text 3"/>
          <p:cNvSpPr/>
          <p:nvPr/>
        </p:nvSpPr>
        <p:spPr>
          <a:xfrm>
            <a:off x="914400" y="1181100"/>
            <a:ext cx="11399520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42"/>
              </a:lnSpc>
              <a:buNone/>
            </a:pPr>
            <a:r>
              <a:rPr lang="en-US" sz="3900" b="1" spc="-78" kern="0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honest outcome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914400" y="2120205"/>
            <a:ext cx="4991100" cy="1892573"/>
          </a:xfrm>
          <a:prstGeom prst="roundRect">
            <a:avLst>
              <a:gd name="adj" fmla="val 70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0" dist="171450" dir="5400000">
              <a:srgbClr val="141C28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4003253"/>
            <a:ext cx="4991100" cy="9525"/>
          </a:xfrm>
          <a:prstGeom prst="rect">
            <a:avLst/>
          </a:prstGeom>
          <a:solidFill>
            <a:srgbClr val="C4D3E6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2120205"/>
            <a:ext cx="4991100" cy="38100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2120205"/>
            <a:ext cx="9525" cy="1892573"/>
          </a:xfrm>
          <a:prstGeom prst="rect">
            <a:avLst/>
          </a:prstGeom>
          <a:solidFill>
            <a:srgbClr val="C4D3E6"/>
          </a:solidFill>
          <a:ln/>
        </p:spPr>
      </p:sp>
      <p:sp>
        <p:nvSpPr>
          <p:cNvPr id="10" name="Shape 8"/>
          <p:cNvSpPr/>
          <p:nvPr/>
        </p:nvSpPr>
        <p:spPr>
          <a:xfrm>
            <a:off x="5895975" y="2120205"/>
            <a:ext cx="9525" cy="1892573"/>
          </a:xfrm>
          <a:prstGeom prst="rect">
            <a:avLst/>
          </a:prstGeom>
          <a:solidFill>
            <a:srgbClr val="C4D3E6"/>
          </a:solidFill>
          <a:ln/>
        </p:spPr>
      </p:sp>
      <p:sp>
        <p:nvSpPr>
          <p:cNvPr id="11" name="Text 9"/>
          <p:cNvSpPr/>
          <p:nvPr/>
        </p:nvSpPr>
        <p:spPr>
          <a:xfrm>
            <a:off x="1247775" y="2463105"/>
            <a:ext cx="247650" cy="2095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5714"/>
              </a:lnSpc>
              <a:buNone/>
            </a:pPr>
            <a:r>
              <a:rPr lang="en-US" sz="1350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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514475" y="2467868"/>
            <a:ext cx="258794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MEASURE THAT MATTERED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1247775" y="2786955"/>
            <a:ext cx="4454081" cy="9495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600"/>
              </a:lnSpc>
              <a:buNone/>
            </a:pPr>
            <a:r>
              <a:rPr lang="en-US" sz="165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adoption — would teams build their weekly read here instead of exporting to a slide?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6286500" y="2120205"/>
            <a:ext cx="4991100" cy="1892573"/>
          </a:xfrm>
          <a:prstGeom prst="roundRect">
            <a:avLst>
              <a:gd name="adj" fmla="val 70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0" dist="171450" dir="5400000">
              <a:srgbClr val="141C28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86500" y="4003253"/>
            <a:ext cx="4991100" cy="9525"/>
          </a:xfrm>
          <a:prstGeom prst="rect">
            <a:avLst/>
          </a:prstGeom>
          <a:solidFill>
            <a:srgbClr val="C4D3E6"/>
          </a:solidFill>
          <a:ln/>
        </p:spPr>
      </p:sp>
      <p:sp>
        <p:nvSpPr>
          <p:cNvPr id="16" name="Shape 14"/>
          <p:cNvSpPr/>
          <p:nvPr/>
        </p:nvSpPr>
        <p:spPr>
          <a:xfrm>
            <a:off x="6286500" y="2120205"/>
            <a:ext cx="4991100" cy="381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7" name="Shape 15"/>
          <p:cNvSpPr/>
          <p:nvPr/>
        </p:nvSpPr>
        <p:spPr>
          <a:xfrm>
            <a:off x="6286500" y="2120205"/>
            <a:ext cx="9525" cy="1892573"/>
          </a:xfrm>
          <a:prstGeom prst="rect">
            <a:avLst/>
          </a:prstGeom>
          <a:solidFill>
            <a:srgbClr val="C4D3E6"/>
          </a:solidFill>
          <a:ln/>
        </p:spPr>
      </p:sp>
      <p:sp>
        <p:nvSpPr>
          <p:cNvPr id="18" name="Shape 16"/>
          <p:cNvSpPr/>
          <p:nvPr/>
        </p:nvSpPr>
        <p:spPr>
          <a:xfrm>
            <a:off x="11268075" y="2120205"/>
            <a:ext cx="9525" cy="1892573"/>
          </a:xfrm>
          <a:prstGeom prst="rect">
            <a:avLst/>
          </a:prstGeom>
          <a:solidFill>
            <a:srgbClr val="C4D3E6"/>
          </a:solidFill>
          <a:ln/>
        </p:spPr>
      </p:sp>
      <p:sp>
        <p:nvSpPr>
          <p:cNvPr id="19" name="Text 17"/>
          <p:cNvSpPr/>
          <p:nvPr/>
        </p:nvSpPr>
        <p:spPr>
          <a:xfrm>
            <a:off x="6619875" y="2463105"/>
            <a:ext cx="247650" cy="2095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5714"/>
              </a:lnSpc>
              <a:buNone/>
            </a:pPr>
            <a:r>
              <a:rPr lang="en-US" sz="135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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886575" y="2467868"/>
            <a:ext cx="258794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IT ACTUALLY PRODUCED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6619875" y="2786955"/>
            <a:ext cx="4454081" cy="9495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600"/>
              </a:lnSpc>
              <a:buNone/>
            </a:pPr>
            <a:r>
              <a:rPr lang="en-US" sz="165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scoped, constraint-aware concept the team could pick up and build — a one-line prompt turned buildable.</a:t>
            </a:r>
            <a:endParaRPr lang="en-US" sz="16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2DDEC">
                  <a:alpha val="100000"/>
                </a:srgbClr>
              </a:gs>
              <a:gs pos="100000">
                <a:srgbClr val="E9EFF7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762000"/>
            <a:ext cx="3505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b="1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41165" y="785813"/>
            <a:ext cx="261184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372"/>
              </a:lnSpc>
              <a:buNone/>
            </a:pPr>
            <a:r>
              <a:rPr lang="en-US" sz="1425" spc="314" kern="0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 TOOK AWAY</a:t>
            </a:r>
            <a:endParaRPr lang="en-US" sz="1425" dirty="0"/>
          </a:p>
        </p:txBody>
      </p:sp>
      <p:sp>
        <p:nvSpPr>
          <p:cNvPr id="5" name="Text 3"/>
          <p:cNvSpPr/>
          <p:nvPr/>
        </p:nvSpPr>
        <p:spPr>
          <a:xfrm>
            <a:off x="914400" y="1181100"/>
            <a:ext cx="11399520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42"/>
              </a:lnSpc>
              <a:buNone/>
            </a:pPr>
            <a:r>
              <a:rPr lang="en-US" sz="3900" b="1" spc="-78" kern="0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Three learnings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914400" y="2213149"/>
            <a:ext cx="323850" cy="2857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6667"/>
              </a:lnSpc>
              <a:buNone/>
            </a:pPr>
            <a:r>
              <a:rPr lang="en-US" sz="195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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914400" y="2658368"/>
            <a:ext cx="3576265" cy="278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75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Subtraction is the feature</a:t>
            </a:r>
            <a:endParaRPr lang="en-US" sz="1575" dirty="0"/>
          </a:p>
        </p:txBody>
      </p:sp>
      <p:sp>
        <p:nvSpPr>
          <p:cNvPr id="8" name="Text 6"/>
          <p:cNvSpPr/>
          <p:nvPr/>
        </p:nvSpPr>
        <p:spPr>
          <a:xfrm>
            <a:off x="914400" y="3012653"/>
            <a:ext cx="334868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730"/>
              </a:lnSpc>
              <a:buNone/>
            </a:pPr>
            <a:r>
              <a:rPr lang="en-US" sz="1200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biggest usability win came from what we removed, not what we added.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470350" y="2213149"/>
            <a:ext cx="323850" cy="2857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6667"/>
              </a:lnSpc>
              <a:buNone/>
            </a:pPr>
            <a:r>
              <a:rPr lang="en-US" sz="195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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4470350" y="2658368"/>
            <a:ext cx="3576347" cy="278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75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Trust is a UI problem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4470350" y="3012653"/>
            <a:ext cx="3348762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730"/>
              </a:lnSpc>
              <a:buNone/>
            </a:pPr>
            <a:r>
              <a:rPr lang="en-US" sz="1200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believe a number when they can reach its source — proximity beats persuasion.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26375" y="2213149"/>
            <a:ext cx="323850" cy="2857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6667"/>
              </a:lnSpc>
              <a:buNone/>
            </a:pPr>
            <a:r>
              <a:rPr lang="en-US" sz="195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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8026375" y="2658368"/>
            <a:ext cx="3576347" cy="278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75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Timing is a design material</a:t>
            </a:r>
            <a:endParaRPr lang="en-US" sz="1575" dirty="0"/>
          </a:p>
        </p:txBody>
      </p:sp>
      <p:sp>
        <p:nvSpPr>
          <p:cNvPr id="14" name="Text 12"/>
          <p:cNvSpPr/>
          <p:nvPr/>
        </p:nvSpPr>
        <p:spPr>
          <a:xfrm>
            <a:off x="8026375" y="3012653"/>
            <a:ext cx="3348762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730"/>
              </a:lnSpc>
              <a:buNone/>
            </a:pPr>
            <a:r>
              <a:rPr lang="en-US" sz="1200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Moving alerts earlier changed the product's value more than any layout choice.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2DDEC">
                  <a:alpha val="100000"/>
                </a:srgbClr>
              </a:gs>
              <a:gs pos="100000">
                <a:srgbClr val="E9EFF7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685800"/>
            <a:ext cx="126340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372"/>
              </a:lnSpc>
              <a:buNone/>
            </a:pPr>
            <a:r>
              <a:rPr lang="en-US" sz="1425" spc="314" kern="0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CONTENTS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914400" y="1057275"/>
            <a:ext cx="11399520" cy="458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842"/>
              </a:lnSpc>
              <a:buNone/>
            </a:pPr>
            <a:r>
              <a:rPr lang="en-US" sz="3150" b="1" spc="-63" kern="0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 of contents</a:t>
            </a:r>
            <a:endParaRPr lang="en-US" sz="3150" dirty="0"/>
          </a:p>
        </p:txBody>
      </p:sp>
      <p:sp>
        <p:nvSpPr>
          <p:cNvPr id="5" name="Shape 3"/>
          <p:cNvSpPr/>
          <p:nvPr/>
        </p:nvSpPr>
        <p:spPr>
          <a:xfrm>
            <a:off x="914400" y="2560216"/>
            <a:ext cx="4876800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96368"/>
            <a:ext cx="5143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136"/>
              </a:lnSpc>
              <a:buNone/>
            </a:pPr>
            <a:r>
              <a:rPr lang="en-US" sz="1950" b="1" dirty="0">
                <a:solidFill>
                  <a:srgbClr val="42A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562100" y="1910655"/>
            <a:ext cx="1762430" cy="268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800"/>
              </a:lnSpc>
              <a:buNone/>
            </a:pPr>
            <a:r>
              <a:rPr lang="en-US" sz="165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Overview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562100" y="2188741"/>
            <a:ext cx="176243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125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Problem, client, and role.</a:t>
            </a:r>
            <a:endParaRPr lang="en-US" sz="1125" dirty="0"/>
          </a:p>
        </p:txBody>
      </p:sp>
      <p:sp>
        <p:nvSpPr>
          <p:cNvPr id="9" name="Shape 7"/>
          <p:cNvSpPr/>
          <p:nvPr/>
        </p:nvSpPr>
        <p:spPr>
          <a:xfrm>
            <a:off x="6400800" y="2560216"/>
            <a:ext cx="4876800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1896368"/>
            <a:ext cx="5143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136"/>
              </a:lnSpc>
              <a:buNone/>
            </a:pPr>
            <a:r>
              <a:rPr lang="en-US" sz="1950" b="1" dirty="0">
                <a:solidFill>
                  <a:srgbClr val="42A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048500" y="1910655"/>
            <a:ext cx="2118092" cy="268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800"/>
              </a:lnSpc>
              <a:buNone/>
            </a:pPr>
            <a:r>
              <a:rPr lang="en-US" sz="165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Research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7048500" y="2188741"/>
            <a:ext cx="211809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125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we spoke to and learned.</a:t>
            </a:r>
            <a:endParaRPr lang="en-US" sz="1125" dirty="0"/>
          </a:p>
        </p:txBody>
      </p:sp>
      <p:sp>
        <p:nvSpPr>
          <p:cNvPr id="13" name="Shape 11"/>
          <p:cNvSpPr/>
          <p:nvPr/>
        </p:nvSpPr>
        <p:spPr>
          <a:xfrm>
            <a:off x="914400" y="3443139"/>
            <a:ext cx="4876800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779291"/>
            <a:ext cx="5143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136"/>
              </a:lnSpc>
              <a:buNone/>
            </a:pPr>
            <a:r>
              <a:rPr lang="en-US" sz="1950" b="1" dirty="0">
                <a:solidFill>
                  <a:srgbClr val="42A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562100" y="2793578"/>
            <a:ext cx="2368979" cy="268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800"/>
              </a:lnSpc>
              <a:buNone/>
            </a:pPr>
            <a:r>
              <a:rPr lang="en-US" sz="165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Approach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562100" y="3071664"/>
            <a:ext cx="236897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125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that shaped the design.</a:t>
            </a:r>
            <a:endParaRPr lang="en-US" sz="1125" dirty="0"/>
          </a:p>
        </p:txBody>
      </p:sp>
      <p:sp>
        <p:nvSpPr>
          <p:cNvPr id="17" name="Shape 15"/>
          <p:cNvSpPr/>
          <p:nvPr/>
        </p:nvSpPr>
        <p:spPr>
          <a:xfrm>
            <a:off x="6400800" y="3443139"/>
            <a:ext cx="4876800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2779291"/>
            <a:ext cx="5143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136"/>
              </a:lnSpc>
              <a:buNone/>
            </a:pPr>
            <a:r>
              <a:rPr lang="en-US" sz="1950" b="1" dirty="0">
                <a:solidFill>
                  <a:srgbClr val="42A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7048500" y="2793578"/>
            <a:ext cx="1812771" cy="268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800"/>
              </a:lnSpc>
              <a:buNone/>
            </a:pPr>
            <a:r>
              <a:rPr lang="en-US" sz="165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work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7048500" y="3071664"/>
            <a:ext cx="181277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125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screens and features.</a:t>
            </a:r>
            <a:endParaRPr lang="en-US" sz="1125" dirty="0"/>
          </a:p>
        </p:txBody>
      </p:sp>
      <p:sp>
        <p:nvSpPr>
          <p:cNvPr id="21" name="Shape 19"/>
          <p:cNvSpPr/>
          <p:nvPr/>
        </p:nvSpPr>
        <p:spPr>
          <a:xfrm>
            <a:off x="914400" y="4326062"/>
            <a:ext cx="4876800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3662214"/>
            <a:ext cx="5143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136"/>
              </a:lnSpc>
              <a:buNone/>
            </a:pPr>
            <a:r>
              <a:rPr lang="en-US" sz="1950" b="1" dirty="0">
                <a:solidFill>
                  <a:srgbClr val="42A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562100" y="3676501"/>
            <a:ext cx="2383386" cy="268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800"/>
              </a:lnSpc>
              <a:buNone/>
            </a:pPr>
            <a:r>
              <a:rPr lang="en-US" sz="165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562100" y="3954587"/>
            <a:ext cx="238338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125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changed, and how we know.</a:t>
            </a:r>
            <a:endParaRPr lang="en-US" sz="1125" dirty="0"/>
          </a:p>
        </p:txBody>
      </p:sp>
      <p:sp>
        <p:nvSpPr>
          <p:cNvPr id="25" name="Shape 23"/>
          <p:cNvSpPr/>
          <p:nvPr/>
        </p:nvSpPr>
        <p:spPr>
          <a:xfrm>
            <a:off x="6400800" y="4326062"/>
            <a:ext cx="4876800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3662214"/>
            <a:ext cx="5143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136"/>
              </a:lnSpc>
              <a:buNone/>
            </a:pPr>
            <a:r>
              <a:rPr lang="en-US" sz="1950" b="1" dirty="0">
                <a:solidFill>
                  <a:srgbClr val="42A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7048500" y="3676501"/>
            <a:ext cx="1617546" cy="268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800"/>
              </a:lnSpc>
              <a:buNone/>
            </a:pPr>
            <a:r>
              <a:rPr lang="en-US" sz="165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Reflection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7048500" y="3954587"/>
            <a:ext cx="161754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125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I'd carry forward.</a:t>
            </a:r>
            <a:endParaRPr lang="en-US" sz="112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BE4F0">
                  <a:alpha val="100000"/>
                </a:srgbClr>
              </a:gs>
              <a:gs pos="100000">
                <a:srgbClr val="F4F8FF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1395413"/>
            <a:ext cx="163244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372"/>
              </a:lnSpc>
              <a:buNone/>
            </a:pPr>
            <a:r>
              <a:rPr lang="en-US" sz="1425" spc="314" kern="0" dirty="0">
                <a:solidFill>
                  <a:srgbClr val="B840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DISCUSSION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857250" y="1766888"/>
            <a:ext cx="11462385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470"/>
              </a:lnSpc>
              <a:buNone/>
            </a:pPr>
            <a:r>
              <a:rPr lang="en-US" sz="15000" b="1" spc="-600" kern="0" dirty="0">
                <a:solidFill>
                  <a:srgbClr val="42A5F5">
                    <a:alpha val="9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914400" y="3557588"/>
            <a:ext cx="1139952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spc="-90" kern="0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Questions &amp; discussion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914400" y="4433888"/>
            <a:ext cx="6216030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would you want to dig into? A few we're expecting: how we'd handle net-new prospects, the cost of the live pipeline, and where v2 goes next.</a:t>
            </a:r>
            <a:endParaRPr lang="en-US" sz="1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2DDEC">
                  <a:alpha val="100000"/>
                </a:srgbClr>
              </a:gs>
              <a:gs pos="100000">
                <a:srgbClr val="E9EFF7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762000"/>
            <a:ext cx="3505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b="1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41165" y="785813"/>
            <a:ext cx="126340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372"/>
              </a:lnSpc>
              <a:buNone/>
            </a:pPr>
            <a:r>
              <a:rPr lang="en-US" sz="1425" spc="314" kern="0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TEAM</a:t>
            </a:r>
            <a:endParaRPr lang="en-US" sz="1425" dirty="0"/>
          </a:p>
        </p:txBody>
      </p:sp>
      <p:sp>
        <p:nvSpPr>
          <p:cNvPr id="5" name="Text 3"/>
          <p:cNvSpPr/>
          <p:nvPr/>
        </p:nvSpPr>
        <p:spPr>
          <a:xfrm>
            <a:off x="914400" y="1181100"/>
            <a:ext cx="11399520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42"/>
              </a:lnSpc>
              <a:buNone/>
            </a:pPr>
            <a:r>
              <a:rPr lang="en-US" sz="3900" b="1" spc="-78" kern="0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 built this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914400" y="2082105"/>
            <a:ext cx="3276600" cy="2618333"/>
          </a:xfrm>
          <a:prstGeom prst="roundRect">
            <a:avLst>
              <a:gd name="adj" fmla="val 5093"/>
            </a:avLst>
          </a:prstGeom>
          <a:solidFill>
            <a:srgbClr val="FFFFFF"/>
          </a:solidFill>
          <a:ln w="9525">
            <a:solidFill>
              <a:srgbClr val="C4D3E6"/>
            </a:solidFill>
            <a:prstDash val="solid"/>
          </a:ln>
          <a:effectLst>
            <a:outerShdw sx="100000" sy="100000" kx="0" ky="0" algn="bl" rotWithShape="0" blurRad="381000" dist="171450" dir="5400000">
              <a:srgbClr val="141C28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71575" y="2358330"/>
            <a:ext cx="685800" cy="685800"/>
          </a:xfrm>
          <a:prstGeom prst="ellipse">
            <a:avLst/>
          </a:prstGeom>
          <a:solidFill>
            <a:srgbClr val="42A5F5"/>
          </a:solidFill>
          <a:ln/>
        </p:spPr>
      </p:sp>
      <p:sp>
        <p:nvSpPr>
          <p:cNvPr id="8" name="Text 6"/>
          <p:cNvSpPr/>
          <p:nvPr/>
        </p:nvSpPr>
        <p:spPr>
          <a:xfrm>
            <a:off x="1133475" y="2358330"/>
            <a:ext cx="7620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171575" y="3215580"/>
            <a:ext cx="303847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Catherine Hicks</a:t>
            </a:r>
            <a:endParaRPr lang="en-US" sz="1575" dirty="0"/>
          </a:p>
        </p:txBody>
      </p:sp>
      <p:sp>
        <p:nvSpPr>
          <p:cNvPr id="10" name="Text 8"/>
          <p:cNvSpPr/>
          <p:nvPr/>
        </p:nvSpPr>
        <p:spPr>
          <a:xfrm>
            <a:off x="1171575" y="3482280"/>
            <a:ext cx="303847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Product Designer</a:t>
            </a:r>
            <a:endParaRPr lang="en-US" sz="1125" dirty="0"/>
          </a:p>
        </p:txBody>
      </p:sp>
      <p:sp>
        <p:nvSpPr>
          <p:cNvPr id="11" name="Shape 9"/>
          <p:cNvSpPr/>
          <p:nvPr/>
        </p:nvSpPr>
        <p:spPr>
          <a:xfrm>
            <a:off x="1171575" y="3820418"/>
            <a:ext cx="2762250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12" name="Text 10"/>
          <p:cNvSpPr/>
          <p:nvPr/>
        </p:nvSpPr>
        <p:spPr>
          <a:xfrm>
            <a:off x="1171575" y="3982343"/>
            <a:ext cx="2845118" cy="479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405"/>
              </a:lnSpc>
              <a:buNone/>
            </a:pPr>
            <a:r>
              <a:rPr lang="en-US" sz="12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Owned research, IA, and the visual system end to end.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57700" y="2082105"/>
            <a:ext cx="3276600" cy="2618333"/>
          </a:xfrm>
          <a:prstGeom prst="roundRect">
            <a:avLst>
              <a:gd name="adj" fmla="val 5093"/>
            </a:avLst>
          </a:prstGeom>
          <a:solidFill>
            <a:srgbClr val="FFFFFF"/>
          </a:solidFill>
          <a:ln w="9525">
            <a:solidFill>
              <a:srgbClr val="C4D3E6"/>
            </a:solidFill>
            <a:prstDash val="solid"/>
          </a:ln>
          <a:effectLst>
            <a:outerShdw sx="100000" sy="100000" kx="0" ky="0" algn="bl" rotWithShape="0" blurRad="381000" dist="171450" dir="5400000">
              <a:srgbClr val="141C28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14875" y="2358330"/>
            <a:ext cx="685800" cy="685800"/>
          </a:xfrm>
          <a:prstGeom prst="ellipse">
            <a:avLst/>
          </a:prstGeom>
          <a:solidFill>
            <a:srgbClr val="42A5F5"/>
          </a:solidFill>
          <a:ln/>
        </p:spPr>
      </p:sp>
      <p:sp>
        <p:nvSpPr>
          <p:cNvPr id="15" name="Text 13"/>
          <p:cNvSpPr/>
          <p:nvPr/>
        </p:nvSpPr>
        <p:spPr>
          <a:xfrm>
            <a:off x="4676775" y="2358330"/>
            <a:ext cx="7620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JP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4714875" y="3215580"/>
            <a:ext cx="303847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Jordan Park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4714875" y="3482280"/>
            <a:ext cx="303847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Manager</a:t>
            </a:r>
            <a:endParaRPr lang="en-US" sz="1125" dirty="0"/>
          </a:p>
        </p:txBody>
      </p:sp>
      <p:sp>
        <p:nvSpPr>
          <p:cNvPr id="18" name="Shape 16"/>
          <p:cNvSpPr/>
          <p:nvPr/>
        </p:nvSpPr>
        <p:spPr>
          <a:xfrm>
            <a:off x="4714875" y="3820418"/>
            <a:ext cx="2762250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19" name="Text 17"/>
          <p:cNvSpPr/>
          <p:nvPr/>
        </p:nvSpPr>
        <p:spPr>
          <a:xfrm>
            <a:off x="4714875" y="3982343"/>
            <a:ext cx="2845118" cy="479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405"/>
              </a:lnSpc>
              <a:buNone/>
            </a:pPr>
            <a:r>
              <a:rPr lang="en-US" sz="12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scope, ran stakeholders, kept the roadmap honest.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01000" y="2082105"/>
            <a:ext cx="3276600" cy="2618333"/>
          </a:xfrm>
          <a:prstGeom prst="roundRect">
            <a:avLst>
              <a:gd name="adj" fmla="val 5093"/>
            </a:avLst>
          </a:prstGeom>
          <a:solidFill>
            <a:srgbClr val="FFFFFF"/>
          </a:solidFill>
          <a:ln w="9525">
            <a:solidFill>
              <a:srgbClr val="C4D3E6"/>
            </a:solidFill>
            <a:prstDash val="solid"/>
          </a:ln>
          <a:effectLst>
            <a:outerShdw sx="100000" sy="100000" kx="0" ky="0" algn="bl" rotWithShape="0" blurRad="381000" dist="171450" dir="5400000">
              <a:srgbClr val="141C28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58175" y="2358330"/>
            <a:ext cx="685800" cy="685800"/>
          </a:xfrm>
          <a:prstGeom prst="ellipse">
            <a:avLst/>
          </a:prstGeom>
          <a:solidFill>
            <a:srgbClr val="42A5F5"/>
          </a:solidFill>
          <a:ln/>
        </p:spPr>
      </p:sp>
      <p:sp>
        <p:nvSpPr>
          <p:cNvPr id="22" name="Text 20"/>
          <p:cNvSpPr/>
          <p:nvPr/>
        </p:nvSpPr>
        <p:spPr>
          <a:xfrm>
            <a:off x="8220075" y="2358330"/>
            <a:ext cx="7620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8258175" y="3215580"/>
            <a:ext cx="303847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Riya Shah</a:t>
            </a:r>
            <a:endParaRPr lang="en-US" sz="1575" dirty="0"/>
          </a:p>
        </p:txBody>
      </p:sp>
      <p:sp>
        <p:nvSpPr>
          <p:cNvPr id="24" name="Text 22"/>
          <p:cNvSpPr/>
          <p:nvPr/>
        </p:nvSpPr>
        <p:spPr>
          <a:xfrm>
            <a:off x="8258175" y="3482280"/>
            <a:ext cx="303847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 Lead</a:t>
            </a:r>
            <a:endParaRPr lang="en-US" sz="1125" dirty="0"/>
          </a:p>
        </p:txBody>
      </p:sp>
      <p:sp>
        <p:nvSpPr>
          <p:cNvPr id="25" name="Shape 23"/>
          <p:cNvSpPr/>
          <p:nvPr/>
        </p:nvSpPr>
        <p:spPr>
          <a:xfrm>
            <a:off x="8258175" y="3820418"/>
            <a:ext cx="2762250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26" name="Text 24"/>
          <p:cNvSpPr/>
          <p:nvPr/>
        </p:nvSpPr>
        <p:spPr>
          <a:xfrm>
            <a:off x="8258175" y="3982343"/>
            <a:ext cx="2845118" cy="479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405"/>
              </a:lnSpc>
              <a:buNone/>
            </a:pPr>
            <a:r>
              <a:rPr lang="en-US" sz="12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Owned the live pipeline and the component build-out.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BE4F0">
                  <a:alpha val="100000"/>
                </a:srgbClr>
              </a:gs>
              <a:gs pos="100000">
                <a:srgbClr val="F4F8FF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914400" y="411584"/>
            <a:ext cx="38100" cy="6034906"/>
          </a:xfrm>
          <a:prstGeom prst="rect">
            <a:avLst/>
          </a:prstGeom>
          <a:solidFill>
            <a:srgbClr val="B8401B"/>
          </a:solidFill>
          <a:ln/>
        </p:spPr>
      </p:sp>
      <p:sp>
        <p:nvSpPr>
          <p:cNvPr id="4" name="Text 2"/>
          <p:cNvSpPr/>
          <p:nvPr/>
        </p:nvSpPr>
        <p:spPr>
          <a:xfrm>
            <a:off x="1333500" y="411584"/>
            <a:ext cx="1668735" cy="60730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103"/>
              </a:lnSpc>
              <a:buNone/>
            </a:pPr>
            <a:r>
              <a:rPr lang="en-US" sz="4800" spc="-48" kern="0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the one number that matters </a:t>
            </a:r>
            <a:pPr algn="l" indent="0" marL="0">
              <a:lnSpc>
                <a:spcPct val="97103"/>
              </a:lnSpc>
              <a:buNone/>
            </a:pPr>
            <a:r>
              <a:rPr lang="en-US" sz="4800" spc="-48" kern="0" dirty="0">
                <a:solidFill>
                  <a:srgbClr val="B840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impossible to miss.</a:t>
            </a:r>
            <a:endParaRPr lang="en-US" sz="4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2DDEC">
                  <a:alpha val="100000"/>
                </a:srgbClr>
              </a:gs>
              <a:gs pos="100000">
                <a:srgbClr val="E9EFF7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762000"/>
            <a:ext cx="3505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b="1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41165" y="785813"/>
            <a:ext cx="261184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372"/>
              </a:lnSpc>
              <a:buNone/>
            </a:pPr>
            <a:r>
              <a:rPr lang="en-US" sz="1425" spc="314" kern="0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OPTIONS COMPARED</a:t>
            </a:r>
            <a:endParaRPr lang="en-US" sz="1425" dirty="0"/>
          </a:p>
        </p:txBody>
      </p:sp>
      <p:sp>
        <p:nvSpPr>
          <p:cNvPr id="5" name="Text 3"/>
          <p:cNvSpPr/>
          <p:nvPr/>
        </p:nvSpPr>
        <p:spPr>
          <a:xfrm>
            <a:off x="914400" y="1181100"/>
            <a:ext cx="11399520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42"/>
              </a:lnSpc>
              <a:buNone/>
            </a:pPr>
            <a:r>
              <a:rPr lang="en-US" sz="3900" b="1" spc="-78" kern="0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Weighing the options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914400" y="2534543"/>
            <a:ext cx="3392612" cy="19050"/>
          </a:xfrm>
          <a:prstGeom prst="rect">
            <a:avLst/>
          </a:prstGeom>
          <a:solidFill>
            <a:srgbClr val="C4D3E6"/>
          </a:solidFill>
          <a:ln/>
        </p:spPr>
      </p:sp>
      <p:sp>
        <p:nvSpPr>
          <p:cNvPr id="7" name="Text 5"/>
          <p:cNvSpPr/>
          <p:nvPr/>
        </p:nvSpPr>
        <p:spPr>
          <a:xfrm>
            <a:off x="1104900" y="2215455"/>
            <a:ext cx="311339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84" kern="0" dirty="0">
                <a:solidFill>
                  <a:srgbClr val="58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CRITERIA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07012" y="2534543"/>
            <a:ext cx="2323505" cy="19050"/>
          </a:xfrm>
          <a:prstGeom prst="rect">
            <a:avLst/>
          </a:prstGeom>
          <a:solidFill>
            <a:srgbClr val="C4D3E6"/>
          </a:solidFill>
          <a:ln/>
        </p:spPr>
      </p:sp>
      <p:sp>
        <p:nvSpPr>
          <p:cNvPr id="9" name="Text 7"/>
          <p:cNvSpPr/>
          <p:nvPr/>
        </p:nvSpPr>
        <p:spPr>
          <a:xfrm>
            <a:off x="4459412" y="2215455"/>
            <a:ext cx="2018705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spc="84" kern="0" dirty="0">
                <a:solidFill>
                  <a:srgbClr val="58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 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630516" y="2534543"/>
            <a:ext cx="2323505" cy="19050"/>
          </a:xfrm>
          <a:prstGeom prst="rect">
            <a:avLst/>
          </a:prstGeom>
          <a:solidFill>
            <a:srgbClr val="C4D3E6"/>
          </a:solidFill>
          <a:ln/>
        </p:spPr>
      </p:sp>
      <p:sp>
        <p:nvSpPr>
          <p:cNvPr id="11" name="Text 9"/>
          <p:cNvSpPr/>
          <p:nvPr/>
        </p:nvSpPr>
        <p:spPr>
          <a:xfrm>
            <a:off x="6782916" y="2215455"/>
            <a:ext cx="2018705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spc="84" kern="0" dirty="0">
                <a:solidFill>
                  <a:srgbClr val="58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 B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954021" y="2534543"/>
            <a:ext cx="2323579" cy="19050"/>
          </a:xfrm>
          <a:prstGeom prst="rect">
            <a:avLst/>
          </a:prstGeom>
          <a:solidFill>
            <a:srgbClr val="C4D3E6"/>
          </a:solidFill>
          <a:ln/>
        </p:spPr>
      </p:sp>
      <p:sp>
        <p:nvSpPr>
          <p:cNvPr id="13" name="Text 11"/>
          <p:cNvSpPr/>
          <p:nvPr/>
        </p:nvSpPr>
        <p:spPr>
          <a:xfrm>
            <a:off x="9106421" y="2215455"/>
            <a:ext cx="2018779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spc="84" kern="0" dirty="0">
                <a:solidFill>
                  <a:srgbClr val="58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 C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14400" y="3144143"/>
            <a:ext cx="3392612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15" name="Text 13"/>
          <p:cNvSpPr/>
          <p:nvPr/>
        </p:nvSpPr>
        <p:spPr>
          <a:xfrm>
            <a:off x="1104900" y="2725043"/>
            <a:ext cx="31133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 to ship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307012" y="3144143"/>
            <a:ext cx="2323505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17" name="Text 15"/>
          <p:cNvSpPr/>
          <p:nvPr/>
        </p:nvSpPr>
        <p:spPr>
          <a:xfrm>
            <a:off x="5335414" y="2767013"/>
            <a:ext cx="266700" cy="228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88889"/>
              </a:lnSpc>
              <a:buNone/>
            </a:pPr>
            <a:r>
              <a:rPr lang="en-US" sz="15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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630516" y="3144143"/>
            <a:ext cx="2323505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19" name="Text 17"/>
          <p:cNvSpPr/>
          <p:nvPr/>
        </p:nvSpPr>
        <p:spPr>
          <a:xfrm>
            <a:off x="7658919" y="2775942"/>
            <a:ext cx="266700" cy="228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88889"/>
              </a:lnSpc>
              <a:buNone/>
            </a:pPr>
            <a:r>
              <a:rPr lang="en-US" sz="1500" dirty="0">
                <a:solidFill>
                  <a:srgbClr val="EF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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954021" y="3144143"/>
            <a:ext cx="2323579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21" name="Text 19"/>
          <p:cNvSpPr/>
          <p:nvPr/>
        </p:nvSpPr>
        <p:spPr>
          <a:xfrm>
            <a:off x="9982423" y="2775942"/>
            <a:ext cx="266700" cy="228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88889"/>
              </a:lnSpc>
              <a:buNone/>
            </a:pPr>
            <a:r>
              <a:rPr lang="en-US" sz="1500" dirty="0">
                <a:solidFill>
                  <a:srgbClr val="C4D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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14400" y="3744218"/>
            <a:ext cx="3392612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23" name="Text 21"/>
          <p:cNvSpPr/>
          <p:nvPr/>
        </p:nvSpPr>
        <p:spPr>
          <a:xfrm>
            <a:off x="1104900" y="3325118"/>
            <a:ext cx="31133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307012" y="3744218"/>
            <a:ext cx="2323505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25" name="Text 23"/>
          <p:cNvSpPr/>
          <p:nvPr/>
        </p:nvSpPr>
        <p:spPr>
          <a:xfrm>
            <a:off x="5335414" y="3376017"/>
            <a:ext cx="266700" cy="228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88889"/>
              </a:lnSpc>
              <a:buNone/>
            </a:pPr>
            <a:r>
              <a:rPr lang="en-US" sz="1500" dirty="0">
                <a:solidFill>
                  <a:srgbClr val="EF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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630516" y="3744218"/>
            <a:ext cx="2323505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27" name="Text 25"/>
          <p:cNvSpPr/>
          <p:nvPr/>
        </p:nvSpPr>
        <p:spPr>
          <a:xfrm>
            <a:off x="7658919" y="3367088"/>
            <a:ext cx="266700" cy="228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88889"/>
              </a:lnSpc>
              <a:buNone/>
            </a:pPr>
            <a:r>
              <a:rPr lang="en-US" sz="15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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954021" y="3744218"/>
            <a:ext cx="2323579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29" name="Text 27"/>
          <p:cNvSpPr/>
          <p:nvPr/>
        </p:nvSpPr>
        <p:spPr>
          <a:xfrm>
            <a:off x="9982423" y="3367088"/>
            <a:ext cx="266700" cy="228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88889"/>
              </a:lnSpc>
              <a:buNone/>
            </a:pPr>
            <a:r>
              <a:rPr lang="en-US" sz="15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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914400" y="4344293"/>
            <a:ext cx="3392612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31" name="Text 29"/>
          <p:cNvSpPr/>
          <p:nvPr/>
        </p:nvSpPr>
        <p:spPr>
          <a:xfrm>
            <a:off x="1104900" y="3925193"/>
            <a:ext cx="31133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Scalability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4307012" y="4344293"/>
            <a:ext cx="2323505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33" name="Text 31"/>
          <p:cNvSpPr/>
          <p:nvPr/>
        </p:nvSpPr>
        <p:spPr>
          <a:xfrm>
            <a:off x="5335414" y="3967163"/>
            <a:ext cx="266700" cy="228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88889"/>
              </a:lnSpc>
              <a:buNone/>
            </a:pPr>
            <a:r>
              <a:rPr lang="en-US" sz="15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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630516" y="4344293"/>
            <a:ext cx="2323505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35" name="Text 33"/>
          <p:cNvSpPr/>
          <p:nvPr/>
        </p:nvSpPr>
        <p:spPr>
          <a:xfrm>
            <a:off x="7658919" y="3967163"/>
            <a:ext cx="266700" cy="228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88889"/>
              </a:lnSpc>
              <a:buNone/>
            </a:pPr>
            <a:r>
              <a:rPr lang="en-US" sz="15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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8954021" y="4344293"/>
            <a:ext cx="2323579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37" name="Text 35"/>
          <p:cNvSpPr/>
          <p:nvPr/>
        </p:nvSpPr>
        <p:spPr>
          <a:xfrm>
            <a:off x="9982423" y="3976092"/>
            <a:ext cx="266700" cy="228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88889"/>
              </a:lnSpc>
              <a:buNone/>
            </a:pPr>
            <a:r>
              <a:rPr lang="en-US" sz="1500" dirty="0">
                <a:solidFill>
                  <a:srgbClr val="EF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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914400" y="4944368"/>
            <a:ext cx="3392612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39" name="Text 37"/>
          <p:cNvSpPr/>
          <p:nvPr/>
        </p:nvSpPr>
        <p:spPr>
          <a:xfrm>
            <a:off x="1104900" y="4525268"/>
            <a:ext cx="31133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fit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4307012" y="4944368"/>
            <a:ext cx="2323505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41" name="Text 39"/>
          <p:cNvSpPr/>
          <p:nvPr/>
        </p:nvSpPr>
        <p:spPr>
          <a:xfrm>
            <a:off x="5335414" y="4567238"/>
            <a:ext cx="266700" cy="228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88889"/>
              </a:lnSpc>
              <a:buNone/>
            </a:pPr>
            <a:r>
              <a:rPr lang="en-US" sz="15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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6630516" y="4944368"/>
            <a:ext cx="2323505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43" name="Text 41"/>
          <p:cNvSpPr/>
          <p:nvPr/>
        </p:nvSpPr>
        <p:spPr>
          <a:xfrm>
            <a:off x="7658919" y="4576167"/>
            <a:ext cx="266700" cy="228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88889"/>
              </a:lnSpc>
              <a:buNone/>
            </a:pPr>
            <a:r>
              <a:rPr lang="en-US" sz="1500" dirty="0">
                <a:solidFill>
                  <a:srgbClr val="C4D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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8954021" y="4944368"/>
            <a:ext cx="2323579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45" name="Text 43"/>
          <p:cNvSpPr/>
          <p:nvPr/>
        </p:nvSpPr>
        <p:spPr>
          <a:xfrm>
            <a:off x="9982423" y="4576167"/>
            <a:ext cx="266700" cy="228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88889"/>
              </a:lnSpc>
              <a:buNone/>
            </a:pPr>
            <a:r>
              <a:rPr lang="en-US" sz="1500" dirty="0">
                <a:solidFill>
                  <a:srgbClr val="EF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</a:t>
            </a:r>
            <a:endParaRPr lang="en-US" sz="15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2DDEC">
                  <a:alpha val="100000"/>
                </a:srgbClr>
              </a:gs>
              <a:gs pos="100000">
                <a:srgbClr val="E9EFF7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1854771"/>
            <a:ext cx="3505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b="1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41165" y="1878583"/>
            <a:ext cx="1795663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372"/>
              </a:lnSpc>
              <a:buNone/>
            </a:pPr>
            <a:r>
              <a:rPr lang="en-US" sz="1425" spc="314" kern="0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WHAT'S NEXT</a:t>
            </a:r>
            <a:endParaRPr lang="en-US" sz="1425" dirty="0"/>
          </a:p>
        </p:txBody>
      </p:sp>
      <p:sp>
        <p:nvSpPr>
          <p:cNvPr id="5" name="Text 3"/>
          <p:cNvSpPr/>
          <p:nvPr/>
        </p:nvSpPr>
        <p:spPr>
          <a:xfrm>
            <a:off x="914400" y="2273871"/>
            <a:ext cx="11399520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42"/>
              </a:lnSpc>
              <a:buNone/>
            </a:pPr>
            <a:r>
              <a:rPr lang="en-US" sz="3900" b="1" spc="-78" kern="0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road ahead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914400" y="3327276"/>
            <a:ext cx="190500" cy="1905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976D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4900" y="3403476"/>
            <a:ext cx="2400300" cy="28575"/>
          </a:xfrm>
          <a:prstGeom prst="rect">
            <a:avLst/>
          </a:prstGeom>
          <a:solidFill>
            <a:srgbClr val="C4D3E6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727326"/>
            <a:ext cx="255651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NOW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914400" y="3965451"/>
            <a:ext cx="255651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Ship v1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14400" y="4298826"/>
            <a:ext cx="2213595" cy="7424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410"/>
              </a:lnSpc>
              <a:buNone/>
            </a:pPr>
            <a:r>
              <a:rPr lang="en-US" sz="1275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the single-metric dashboard to all enterprise seats.</a:t>
            </a:r>
            <a:endParaRPr lang="en-US" sz="1275" dirty="0"/>
          </a:p>
        </p:txBody>
      </p:sp>
      <p:sp>
        <p:nvSpPr>
          <p:cNvPr id="11" name="Shape 9"/>
          <p:cNvSpPr/>
          <p:nvPr/>
        </p:nvSpPr>
        <p:spPr>
          <a:xfrm>
            <a:off x="3505200" y="3327276"/>
            <a:ext cx="190500" cy="1905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976D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95700" y="3403476"/>
            <a:ext cx="2400300" cy="28575"/>
          </a:xfrm>
          <a:prstGeom prst="rect">
            <a:avLst/>
          </a:prstGeom>
          <a:solidFill>
            <a:srgbClr val="C4D3E6"/>
          </a:solidFill>
          <a:ln/>
        </p:spPr>
      </p:sp>
      <p:sp>
        <p:nvSpPr>
          <p:cNvPr id="13" name="Text 11"/>
          <p:cNvSpPr/>
          <p:nvPr/>
        </p:nvSpPr>
        <p:spPr>
          <a:xfrm>
            <a:off x="3505200" y="3727326"/>
            <a:ext cx="255651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3505200" y="3965451"/>
            <a:ext cx="255651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 widgets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3505200" y="4298826"/>
            <a:ext cx="2213595" cy="7424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410"/>
              </a:lnSpc>
              <a:buNone/>
            </a:pPr>
            <a:r>
              <a:rPr lang="en-US" sz="1275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teams compose their own views on the live pipeline.</a:t>
            </a:r>
            <a:endParaRPr lang="en-US" sz="1275" dirty="0"/>
          </a:p>
        </p:txBody>
      </p:sp>
      <p:sp>
        <p:nvSpPr>
          <p:cNvPr id="16" name="Shape 14"/>
          <p:cNvSpPr/>
          <p:nvPr/>
        </p:nvSpPr>
        <p:spPr>
          <a:xfrm>
            <a:off x="6096000" y="3327276"/>
            <a:ext cx="190500" cy="1905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976D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86500" y="3403476"/>
            <a:ext cx="2400300" cy="28575"/>
          </a:xfrm>
          <a:prstGeom prst="rect">
            <a:avLst/>
          </a:prstGeom>
          <a:solidFill>
            <a:srgbClr val="C4D3E6"/>
          </a:solidFill>
          <a:ln/>
        </p:spPr>
      </p:sp>
      <p:sp>
        <p:nvSpPr>
          <p:cNvPr id="18" name="Text 16"/>
          <p:cNvSpPr/>
          <p:nvPr/>
        </p:nvSpPr>
        <p:spPr>
          <a:xfrm>
            <a:off x="6096000" y="3727326"/>
            <a:ext cx="255651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LATER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6096000" y="3965451"/>
            <a:ext cx="255651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Mobile native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6096000" y="4298826"/>
            <a:ext cx="2213595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410"/>
              </a:lnSpc>
              <a:buNone/>
            </a:pPr>
            <a:r>
              <a:rPr lang="en-US" sz="1275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read-only app for the executive glance.</a:t>
            </a:r>
            <a:endParaRPr lang="en-US" sz="1275" dirty="0"/>
          </a:p>
        </p:txBody>
      </p:sp>
      <p:sp>
        <p:nvSpPr>
          <p:cNvPr id="21" name="Shape 19"/>
          <p:cNvSpPr/>
          <p:nvPr/>
        </p:nvSpPr>
        <p:spPr>
          <a:xfrm>
            <a:off x="8686800" y="3327276"/>
            <a:ext cx="190500" cy="1905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976D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0" y="3727326"/>
            <a:ext cx="255651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EXPLORING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8686800" y="3965451"/>
            <a:ext cx="255651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Predictive alerts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8686800" y="4298826"/>
            <a:ext cx="2213595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410"/>
              </a:lnSpc>
              <a:buNone/>
            </a:pPr>
            <a:r>
              <a:rPr lang="en-US" sz="1275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 a trend before the threshold breaks.</a:t>
            </a:r>
            <a:endParaRPr lang="en-US" sz="1275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2DDEC">
                  <a:alpha val="100000"/>
                </a:srgbClr>
              </a:gs>
              <a:gs pos="100000">
                <a:srgbClr val="E9EFF7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762000"/>
            <a:ext cx="3505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b="1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41165" y="785813"/>
            <a:ext cx="126340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372"/>
              </a:lnSpc>
              <a:buNone/>
            </a:pPr>
            <a:r>
              <a:rPr lang="en-US" sz="1425" spc="314" kern="0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PACKAGES</a:t>
            </a:r>
            <a:endParaRPr lang="en-US" sz="1425" dirty="0"/>
          </a:p>
        </p:txBody>
      </p:sp>
      <p:sp>
        <p:nvSpPr>
          <p:cNvPr id="5" name="Text 3"/>
          <p:cNvSpPr/>
          <p:nvPr/>
        </p:nvSpPr>
        <p:spPr>
          <a:xfrm>
            <a:off x="914400" y="1181100"/>
            <a:ext cx="11399520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42"/>
              </a:lnSpc>
              <a:buNone/>
            </a:pPr>
            <a:r>
              <a:rPr lang="en-US" sz="3900" b="1" spc="-78" kern="0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Three ways to buy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914400" y="2120205"/>
            <a:ext cx="3276600" cy="1847850"/>
          </a:xfrm>
          <a:prstGeom prst="roundRect">
            <a:avLst>
              <a:gd name="adj" fmla="val 7216"/>
            </a:avLst>
          </a:prstGeom>
          <a:solidFill>
            <a:srgbClr val="FFFFFF"/>
          </a:solidFill>
          <a:ln w="9525">
            <a:solidFill>
              <a:srgbClr val="C4D3E6"/>
            </a:solidFill>
            <a:prstDash val="solid"/>
          </a:ln>
          <a:effectLst>
            <a:outerShdw sx="100000" sy="100000" kx="0" ky="0" algn="bl" rotWithShape="0" blurRad="381000" dist="171450" dir="5400000">
              <a:srgbClr val="141C28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09675" y="2396430"/>
            <a:ext cx="295465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58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STARTER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1209675" y="2672655"/>
            <a:ext cx="295465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189"/>
              </a:lnSpc>
              <a:buNone/>
            </a:pPr>
            <a:r>
              <a:rPr lang="en-US" sz="420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$0</a:t>
            </a:r>
            <a:pPr algn="l" indent="0" marL="0">
              <a:lnSpc>
                <a:spcPct val="88189"/>
              </a:lnSpc>
              <a:buNone/>
            </a:pPr>
            <a:r>
              <a:rPr lang="en-US" sz="2250" b="1" dirty="0">
                <a:solidFill>
                  <a:srgbClr val="546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/mo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1209675" y="3320355"/>
            <a:ext cx="276663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dashboard · 7-day history · community support</a:t>
            </a:r>
            <a:endParaRPr lang="en-US" sz="1125" dirty="0"/>
          </a:p>
        </p:txBody>
      </p:sp>
      <p:sp>
        <p:nvSpPr>
          <p:cNvPr id="10" name="Shape 8"/>
          <p:cNvSpPr/>
          <p:nvPr/>
        </p:nvSpPr>
        <p:spPr>
          <a:xfrm>
            <a:off x="4457700" y="2120205"/>
            <a:ext cx="3276600" cy="1847850"/>
          </a:xfrm>
          <a:prstGeom prst="roundRect">
            <a:avLst>
              <a:gd name="adj" fmla="val 7216"/>
            </a:avLst>
          </a:prstGeom>
          <a:solidFill>
            <a:srgbClr val="FFFFFF"/>
          </a:solidFill>
          <a:ln w="9525">
            <a:solidFill>
              <a:srgbClr val="C4D3E6"/>
            </a:solidFill>
            <a:prstDash val="solid"/>
          </a:ln>
          <a:effectLst>
            <a:outerShdw sx="100000" sy="100000" kx="0" ky="0" algn="bl" rotWithShape="0" blurRad="381000" dist="171450" dir="5400000">
              <a:srgbClr val="141C28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2975" y="2396430"/>
            <a:ext cx="295465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58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4752975" y="2672655"/>
            <a:ext cx="295465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189"/>
              </a:lnSpc>
              <a:buNone/>
            </a:pPr>
            <a:r>
              <a:rPr lang="en-US" sz="420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$49</a:t>
            </a:r>
            <a:pPr algn="l" indent="0" marL="0">
              <a:lnSpc>
                <a:spcPct val="88189"/>
              </a:lnSpc>
              <a:buNone/>
            </a:pPr>
            <a:r>
              <a:rPr lang="en-US" sz="2250" b="1" dirty="0">
                <a:solidFill>
                  <a:srgbClr val="546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/mo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4752975" y="3320355"/>
            <a:ext cx="276663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Unlimited dashboards · Compare · smart alerts</a:t>
            </a:r>
            <a:endParaRPr lang="en-US" sz="1125" dirty="0"/>
          </a:p>
        </p:txBody>
      </p:sp>
      <p:sp>
        <p:nvSpPr>
          <p:cNvPr id="14" name="Shape 12"/>
          <p:cNvSpPr/>
          <p:nvPr/>
        </p:nvSpPr>
        <p:spPr>
          <a:xfrm>
            <a:off x="8001000" y="2120205"/>
            <a:ext cx="3276600" cy="1847850"/>
          </a:xfrm>
          <a:prstGeom prst="roundRect">
            <a:avLst>
              <a:gd name="adj" fmla="val 7216"/>
            </a:avLst>
          </a:prstGeom>
          <a:solidFill>
            <a:srgbClr val="FFFFFF"/>
          </a:solidFill>
          <a:ln w="9525">
            <a:solidFill>
              <a:srgbClr val="C4D3E6"/>
            </a:solidFill>
            <a:prstDash val="solid"/>
          </a:ln>
          <a:effectLst>
            <a:outerShdw sx="100000" sy="100000" kx="0" ky="0" algn="bl" rotWithShape="0" blurRad="381000" dist="171450" dir="5400000">
              <a:srgbClr val="141C28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96275" y="2396430"/>
            <a:ext cx="295465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58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ENTERPRISE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8296275" y="2672655"/>
            <a:ext cx="295465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189"/>
              </a:lnSpc>
              <a:buNone/>
            </a:pPr>
            <a:r>
              <a:rPr lang="en-US" sz="420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8296275" y="3320355"/>
            <a:ext cx="295465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SSO · API · 90-day history · dedicated CS</a:t>
            </a:r>
            <a:endParaRPr lang="en-US" sz="1125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2DDEC">
                  <a:alpha val="100000"/>
                </a:srgbClr>
              </a:gs>
              <a:gs pos="100000">
                <a:srgbClr val="E9EFF7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3894746" y="2100263"/>
            <a:ext cx="4402433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spc="66" kern="0" dirty="0">
                <a:solidFill>
                  <a:srgbClr val="141C28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TIME, BEFORE AND AFTER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4512543" y="2190750"/>
            <a:ext cx="1219274" cy="2514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ct val="82609"/>
              </a:lnSpc>
              <a:buNone/>
            </a:pPr>
            <a:r>
              <a:rPr lang="en-US" sz="150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5754451" y="3690937"/>
            <a:ext cx="2016673" cy="54478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82481"/>
              </a:lnSpc>
              <a:buNone/>
            </a:pPr>
            <a:r>
              <a:rPr lang="en-US" sz="42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faster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395289" y="4486275"/>
            <a:ext cx="3401422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 </a:t>
            </a:r>
            <a:pPr algn="ctr" indent="0" marL="0">
              <a:buNone/>
            </a:pPr>
            <a:r>
              <a:rPr lang="en-US" sz="165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one day down to one hour</a:t>
            </a:r>
            <a:endParaRPr lang="en-US" sz="16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2DDEC">
                  <a:alpha val="100000"/>
                </a:srgbClr>
              </a:gs>
              <a:gs pos="100000">
                <a:srgbClr val="E9EFF7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2087463"/>
            <a:ext cx="3505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b="1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41165" y="2111276"/>
            <a:ext cx="1795663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372"/>
              </a:lnSpc>
              <a:buNone/>
            </a:pPr>
            <a:r>
              <a:rPr lang="en-US" sz="1425" spc="314" kern="0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WE WORK</a:t>
            </a:r>
            <a:endParaRPr lang="en-US" sz="1425" dirty="0"/>
          </a:p>
        </p:txBody>
      </p:sp>
      <p:sp>
        <p:nvSpPr>
          <p:cNvPr id="5" name="Text 3"/>
          <p:cNvSpPr/>
          <p:nvPr/>
        </p:nvSpPr>
        <p:spPr>
          <a:xfrm>
            <a:off x="914400" y="2506563"/>
            <a:ext cx="11399520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42"/>
              </a:lnSpc>
              <a:buNone/>
            </a:pPr>
            <a:r>
              <a:rPr lang="en-US" sz="3900" b="1" spc="-78" kern="0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method, at a glance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914400" y="3559969"/>
            <a:ext cx="2276475" cy="1210568"/>
          </a:xfrm>
          <a:prstGeom prst="roundRect">
            <a:avLst>
              <a:gd name="adj" fmla="val 9442"/>
            </a:avLst>
          </a:prstGeom>
          <a:solidFill>
            <a:srgbClr val="FFFFFF"/>
          </a:solidFill>
          <a:ln w="9525">
            <a:solidFill>
              <a:srgbClr val="C4D3E6"/>
            </a:solidFill>
            <a:prstDash val="solid"/>
          </a:ln>
          <a:effectLst>
            <a:outerShdw sx="100000" sy="100000" kx="0" ky="0" algn="bl" rotWithShape="0" blurRad="381000" dist="171450" dir="5400000">
              <a:srgbClr val="141C28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20604" y="3798094"/>
            <a:ext cx="206406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42A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1020604" y="4055269"/>
            <a:ext cx="2064068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Discover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20604" y="4345781"/>
            <a:ext cx="2064068" cy="224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2500"/>
              </a:lnSpc>
              <a:buNone/>
            </a:pPr>
            <a:r>
              <a:rPr lang="en-US" sz="1050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Interviews and teardown.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286125" y="4050953"/>
            <a:ext cx="304800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7273"/>
              </a:lnSpc>
              <a:buNone/>
            </a:pPr>
            <a:r>
              <a:rPr lang="en-US" sz="1800" dirty="0">
                <a:solidFill>
                  <a:srgbClr val="42A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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609975" y="3559969"/>
            <a:ext cx="2276475" cy="1210568"/>
          </a:xfrm>
          <a:prstGeom prst="roundRect">
            <a:avLst>
              <a:gd name="adj" fmla="val 9442"/>
            </a:avLst>
          </a:prstGeom>
          <a:solidFill>
            <a:srgbClr val="FFFFFF"/>
          </a:solidFill>
          <a:ln w="9525">
            <a:solidFill>
              <a:srgbClr val="C4D3E6"/>
            </a:solidFill>
            <a:prstDash val="solid"/>
          </a:ln>
          <a:effectLst>
            <a:outerShdw sx="100000" sy="100000" kx="0" ky="0" algn="bl" rotWithShape="0" blurRad="381000" dist="171450" dir="5400000">
              <a:srgbClr val="141C28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16179" y="3798094"/>
            <a:ext cx="206406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42A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3716179" y="4055269"/>
            <a:ext cx="2064068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16179" y="4345781"/>
            <a:ext cx="2064068" cy="224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2500"/>
              </a:lnSpc>
              <a:buNone/>
            </a:pPr>
            <a:r>
              <a:rPr lang="en-US" sz="1050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the real problem.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981700" y="4050953"/>
            <a:ext cx="304800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7273"/>
              </a:lnSpc>
              <a:buNone/>
            </a:pPr>
            <a:r>
              <a:rPr lang="en-US" sz="1800" dirty="0">
                <a:solidFill>
                  <a:srgbClr val="42A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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305550" y="3559969"/>
            <a:ext cx="2276475" cy="1210568"/>
          </a:xfrm>
          <a:prstGeom prst="roundRect">
            <a:avLst>
              <a:gd name="adj" fmla="val 9442"/>
            </a:avLst>
          </a:prstGeom>
          <a:solidFill>
            <a:srgbClr val="FFFFFF"/>
          </a:solidFill>
          <a:ln w="9525">
            <a:solidFill>
              <a:srgbClr val="C4D3E6"/>
            </a:solidFill>
            <a:prstDash val="solid"/>
          </a:ln>
          <a:effectLst>
            <a:outerShdw sx="100000" sy="100000" kx="0" ky="0" algn="bl" rotWithShape="0" blurRad="381000" dist="171450" dir="5400000">
              <a:srgbClr val="141C28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11754" y="3798094"/>
            <a:ext cx="206406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42A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6411754" y="4055269"/>
            <a:ext cx="2064068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11754" y="4345781"/>
            <a:ext cx="2064068" cy="224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2500"/>
              </a:lnSpc>
              <a:buNone/>
            </a:pPr>
            <a:r>
              <a:rPr lang="en-US" sz="1050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and test.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677275" y="4050953"/>
            <a:ext cx="304800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7273"/>
              </a:lnSpc>
              <a:buNone/>
            </a:pPr>
            <a:r>
              <a:rPr lang="en-US" sz="1800" dirty="0">
                <a:solidFill>
                  <a:srgbClr val="42A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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001125" y="3559969"/>
            <a:ext cx="2276475" cy="1210568"/>
          </a:xfrm>
          <a:prstGeom prst="roundRect">
            <a:avLst>
              <a:gd name="adj" fmla="val 9442"/>
            </a:avLst>
          </a:prstGeom>
          <a:solidFill>
            <a:srgbClr val="FFFFFF"/>
          </a:solidFill>
          <a:ln w="9525">
            <a:solidFill>
              <a:srgbClr val="C4D3E6"/>
            </a:solidFill>
            <a:prstDash val="solid"/>
          </a:ln>
          <a:effectLst>
            <a:outerShdw sx="100000" sy="100000" kx="0" ky="0" algn="bl" rotWithShape="0" blurRad="381000" dist="171450" dir="5400000">
              <a:srgbClr val="141C28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107329" y="3798094"/>
            <a:ext cx="206406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42A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9107329" y="4055269"/>
            <a:ext cx="2064068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107329" y="4345781"/>
            <a:ext cx="2064068" cy="224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2500"/>
              </a:lnSpc>
              <a:buNone/>
            </a:pPr>
            <a:r>
              <a:rPr lang="en-US" sz="1050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Spec, build, support.</a:t>
            </a:r>
            <a:endParaRPr lang="en-US" sz="10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2DDEC">
                  <a:alpha val="100000"/>
                </a:srgbClr>
              </a:gs>
              <a:gs pos="100000">
                <a:srgbClr val="E9EFF7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762000"/>
            <a:ext cx="3505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b="1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41165" y="785813"/>
            <a:ext cx="111502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372"/>
              </a:lnSpc>
              <a:buNone/>
            </a:pPr>
            <a:r>
              <a:rPr lang="en-US" sz="1425" spc="314" kern="0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GALLERY</a:t>
            </a:r>
            <a:endParaRPr lang="en-US" sz="1425" dirty="0"/>
          </a:p>
        </p:txBody>
      </p:sp>
      <p:sp>
        <p:nvSpPr>
          <p:cNvPr id="5" name="Text 3"/>
          <p:cNvSpPr/>
          <p:nvPr/>
        </p:nvSpPr>
        <p:spPr>
          <a:xfrm>
            <a:off x="914400" y="1181100"/>
            <a:ext cx="11399520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42"/>
              </a:lnSpc>
              <a:buNone/>
            </a:pPr>
            <a:r>
              <a:rPr lang="en-US" sz="3900" b="1" spc="-78" kern="0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Three moments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914400" y="2044005"/>
            <a:ext cx="3301975" cy="3238500"/>
          </a:xfrm>
          <a:prstGeom prst="rect">
            <a:avLst/>
          </a:prstGeom>
          <a:solidFill>
            <a:srgbClr val="EEF3FA"/>
          </a:solidFill>
          <a:ln/>
        </p:spPr>
      </p:sp>
      <p:sp>
        <p:nvSpPr>
          <p:cNvPr id="7" name="Shape 5"/>
          <p:cNvSpPr/>
          <p:nvPr/>
        </p:nvSpPr>
        <p:spPr>
          <a:xfrm>
            <a:off x="1884759" y="3465612"/>
            <a:ext cx="1361182" cy="395288"/>
          </a:xfrm>
          <a:prstGeom prst="roundRect">
            <a:avLst>
              <a:gd name="adj" fmla="val 19277"/>
            </a:avLst>
          </a:prstGeom>
          <a:solidFill>
            <a:srgbClr val="FFFFFF">
              <a:alpha val="70000"/>
            </a:srgbClr>
          </a:solidFill>
          <a:ln w="9525">
            <a:solidFill>
              <a:srgbClr val="C4D3E6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2008584" y="3570387"/>
            <a:ext cx="1113532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spc="68" kern="0" dirty="0">
                <a:solidFill>
                  <a:srgbClr val="58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 · 4:3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914400" y="5415855"/>
            <a:ext cx="3632173" cy="2728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410"/>
              </a:lnSpc>
              <a:buNone/>
            </a:pPr>
            <a:r>
              <a:rPr lang="en-US" sz="1275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one-line caption for the first image.</a:t>
            </a:r>
            <a:endParaRPr lang="en-US" sz="1275" dirty="0"/>
          </a:p>
        </p:txBody>
      </p:sp>
      <p:sp>
        <p:nvSpPr>
          <p:cNvPr id="10" name="Shape 8"/>
          <p:cNvSpPr/>
          <p:nvPr/>
        </p:nvSpPr>
        <p:spPr>
          <a:xfrm>
            <a:off x="4444975" y="2044005"/>
            <a:ext cx="3301975" cy="3238500"/>
          </a:xfrm>
          <a:prstGeom prst="rect">
            <a:avLst/>
          </a:prstGeom>
          <a:solidFill>
            <a:srgbClr val="EEF3FA"/>
          </a:solidFill>
          <a:ln/>
        </p:spPr>
      </p:sp>
      <p:sp>
        <p:nvSpPr>
          <p:cNvPr id="11" name="Shape 9"/>
          <p:cNvSpPr/>
          <p:nvPr/>
        </p:nvSpPr>
        <p:spPr>
          <a:xfrm>
            <a:off x="5415335" y="3465612"/>
            <a:ext cx="1361182" cy="395288"/>
          </a:xfrm>
          <a:prstGeom prst="roundRect">
            <a:avLst>
              <a:gd name="adj" fmla="val 19277"/>
            </a:avLst>
          </a:prstGeom>
          <a:solidFill>
            <a:srgbClr val="FFFFFF">
              <a:alpha val="70000"/>
            </a:srgbClr>
          </a:solidFill>
          <a:ln w="9525">
            <a:solidFill>
              <a:srgbClr val="C4D3E6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5539160" y="3570387"/>
            <a:ext cx="1113532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spc="68" kern="0" dirty="0">
                <a:solidFill>
                  <a:srgbClr val="58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 · 4:3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4444975" y="5415855"/>
            <a:ext cx="3632173" cy="2728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410"/>
              </a:lnSpc>
              <a:buNone/>
            </a:pPr>
            <a:r>
              <a:rPr lang="en-US" sz="1275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one-line caption for the second image.</a:t>
            </a:r>
            <a:endParaRPr lang="en-US" sz="1275" dirty="0"/>
          </a:p>
        </p:txBody>
      </p:sp>
      <p:sp>
        <p:nvSpPr>
          <p:cNvPr id="14" name="Shape 12"/>
          <p:cNvSpPr/>
          <p:nvPr/>
        </p:nvSpPr>
        <p:spPr>
          <a:xfrm>
            <a:off x="7975550" y="2044005"/>
            <a:ext cx="3301975" cy="3238500"/>
          </a:xfrm>
          <a:prstGeom prst="rect">
            <a:avLst/>
          </a:prstGeom>
          <a:solidFill>
            <a:srgbClr val="EEF3FA"/>
          </a:solidFill>
          <a:ln/>
        </p:spPr>
      </p:sp>
      <p:sp>
        <p:nvSpPr>
          <p:cNvPr id="15" name="Shape 13"/>
          <p:cNvSpPr/>
          <p:nvPr/>
        </p:nvSpPr>
        <p:spPr>
          <a:xfrm>
            <a:off x="8945910" y="3465612"/>
            <a:ext cx="1361182" cy="395288"/>
          </a:xfrm>
          <a:prstGeom prst="roundRect">
            <a:avLst>
              <a:gd name="adj" fmla="val 19277"/>
            </a:avLst>
          </a:prstGeom>
          <a:solidFill>
            <a:srgbClr val="FFFFFF">
              <a:alpha val="70000"/>
            </a:srgbClr>
          </a:solidFill>
          <a:ln w="9525">
            <a:solidFill>
              <a:srgbClr val="C4D3E6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9069735" y="3570387"/>
            <a:ext cx="1113532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spc="68" kern="0" dirty="0">
                <a:solidFill>
                  <a:srgbClr val="58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 · 4:3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7975550" y="5415855"/>
            <a:ext cx="3632173" cy="2728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410"/>
              </a:lnSpc>
              <a:buNone/>
            </a:pPr>
            <a:r>
              <a:rPr lang="en-US" sz="1275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one-line caption for the third image.</a:t>
            </a:r>
            <a:endParaRPr lang="en-US" sz="1275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2DDEC">
                  <a:alpha val="100000"/>
                </a:srgbClr>
              </a:gs>
              <a:gs pos="100000">
                <a:srgbClr val="E9EFF7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762000"/>
            <a:ext cx="163244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372"/>
              </a:lnSpc>
              <a:buNone/>
            </a:pPr>
            <a:r>
              <a:rPr lang="en-US" sz="1425" spc="314" kern="0" dirty="0">
                <a:solidFill>
                  <a:srgbClr val="B840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STEPS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914400" y="1133475"/>
            <a:ext cx="11399520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42"/>
              </a:lnSpc>
              <a:buNone/>
            </a:pPr>
            <a:r>
              <a:rPr lang="en-US" sz="3900" b="1" spc="-78" kern="0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we go from here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1162050" y="1901130"/>
            <a:ext cx="4461510" cy="576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1500" b="1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 </a:t>
            </a:r>
            <a:pPr algn="l" indent="0" marL="0">
              <a:lnSpc>
                <a:spcPct val="124444"/>
              </a:lnSpc>
              <a:buNone/>
            </a:pPr>
            <a:r>
              <a:rPr lang="en-US" sz="15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sign off on v1 scope and lock the launch date.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62050" y="2591693"/>
            <a:ext cx="4461510" cy="576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1500" b="1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two weeks </a:t>
            </a:r>
            <a:pPr algn="l" indent="0" marL="0">
              <a:lnSpc>
                <a:spcPct val="124444"/>
              </a:lnSpc>
              <a:buNone/>
            </a:pPr>
            <a:r>
              <a:rPr lang="en-US" sz="15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component handoff and QA on the live pipeline.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62050" y="3282255"/>
            <a:ext cx="4461510" cy="576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1500" b="1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launch </a:t>
            </a:r>
            <a:pPr algn="l" indent="0" marL="0">
              <a:lnSpc>
                <a:spcPct val="124444"/>
              </a:lnSpc>
              <a:buNone/>
            </a:pPr>
            <a:r>
              <a:rPr lang="en-US" sz="15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enable for the first five enterprise accounts and monitor adoption.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239518"/>
            <a:ext cx="5191803" cy="65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1575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decision needed today: confirm the go-live date so engineering can commit.</a:t>
            </a:r>
            <a:endParaRPr lang="en-US" sz="1575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2DDEC">
                  <a:alpha val="100000"/>
                </a:srgbClr>
              </a:gs>
              <a:gs pos="100000">
                <a:srgbClr val="E9EFF7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762000"/>
            <a:ext cx="3505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b="1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41165" y="785813"/>
            <a:ext cx="1795663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372"/>
              </a:lnSpc>
              <a:buNone/>
            </a:pPr>
            <a:r>
              <a:rPr lang="en-US" sz="1425" spc="314" kern="0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DEFINITIONS</a:t>
            </a:r>
            <a:endParaRPr lang="en-US" sz="1425" dirty="0"/>
          </a:p>
        </p:txBody>
      </p:sp>
      <p:sp>
        <p:nvSpPr>
          <p:cNvPr id="5" name="Text 3"/>
          <p:cNvSpPr/>
          <p:nvPr/>
        </p:nvSpPr>
        <p:spPr>
          <a:xfrm>
            <a:off x="914400" y="1181100"/>
            <a:ext cx="11399520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42"/>
              </a:lnSpc>
              <a:buNone/>
            </a:pPr>
            <a:r>
              <a:rPr lang="en-US" sz="3900" b="1" spc="-78" kern="0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Terms used in this deck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914400" y="2082105"/>
            <a:ext cx="3276600" cy="1581969"/>
          </a:xfrm>
          <a:prstGeom prst="roundRect">
            <a:avLst>
              <a:gd name="adj" fmla="val 7225"/>
            </a:avLst>
          </a:prstGeom>
          <a:solidFill>
            <a:srgbClr val="FFFFFF"/>
          </a:solidFill>
          <a:ln w="9525">
            <a:solidFill>
              <a:srgbClr val="C4D3E6"/>
            </a:solidFill>
            <a:prstDash val="solid"/>
          </a:ln>
          <a:effectLst>
            <a:outerShdw sx="100000" sy="100000" kx="0" ky="0" algn="bl" rotWithShape="0" blurRad="381000" dist="171450" dir="5400000">
              <a:srgbClr val="141C28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71575" y="2320230"/>
            <a:ext cx="303847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58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SIGNAL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1171575" y="2577405"/>
            <a:ext cx="2845118" cy="603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800"/>
              </a:lnSpc>
              <a:buNone/>
            </a:pPr>
            <a:r>
              <a:rPr lang="en-US" sz="165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conversation or mention relevant to a tracked brand.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4457700" y="2082105"/>
            <a:ext cx="3276600" cy="1581969"/>
          </a:xfrm>
          <a:prstGeom prst="roundRect">
            <a:avLst>
              <a:gd name="adj" fmla="val 7225"/>
            </a:avLst>
          </a:prstGeom>
          <a:solidFill>
            <a:srgbClr val="FFFFFF"/>
          </a:solidFill>
          <a:ln w="9525">
            <a:solidFill>
              <a:srgbClr val="C4D3E6"/>
            </a:solidFill>
            <a:prstDash val="solid"/>
          </a:ln>
          <a:effectLst>
            <a:outerShdw sx="100000" sy="100000" kx="0" ky="0" algn="bl" rotWithShape="0" blurRad="381000" dist="171450" dir="5400000">
              <a:srgbClr val="141C28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14875" y="2320230"/>
            <a:ext cx="303847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58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TRACING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4714875" y="2577405"/>
            <a:ext cx="2845118" cy="886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800"/>
              </a:lnSpc>
              <a:buNone/>
            </a:pPr>
            <a:r>
              <a:rPr lang="en-US" sz="165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path from any metric to the raw data behind it.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8001000" y="2082105"/>
            <a:ext cx="3276600" cy="1581969"/>
          </a:xfrm>
          <a:prstGeom prst="roundRect">
            <a:avLst>
              <a:gd name="adj" fmla="val 7225"/>
            </a:avLst>
          </a:prstGeom>
          <a:solidFill>
            <a:srgbClr val="FFFFFF"/>
          </a:solidFill>
          <a:ln w="9525">
            <a:solidFill>
              <a:srgbClr val="C4D3E6"/>
            </a:solidFill>
            <a:prstDash val="solid"/>
          </a:ln>
          <a:effectLst>
            <a:outerShdw sx="100000" sy="100000" kx="0" ky="0" algn="bl" rotWithShape="0" blurRad="381000" dist="171450" dir="5400000">
              <a:srgbClr val="141C28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58175" y="2320230"/>
            <a:ext cx="303847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58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COMPARE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8258175" y="2577405"/>
            <a:ext cx="2845118" cy="603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800"/>
              </a:lnSpc>
              <a:buNone/>
            </a:pPr>
            <a:r>
              <a:rPr lang="en-US" sz="165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Side-by-side view of up to four brands on shared axes.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914400" y="3930774"/>
            <a:ext cx="3276600" cy="1581969"/>
          </a:xfrm>
          <a:prstGeom prst="roundRect">
            <a:avLst>
              <a:gd name="adj" fmla="val 7225"/>
            </a:avLst>
          </a:prstGeom>
          <a:solidFill>
            <a:srgbClr val="FFFFFF"/>
          </a:solidFill>
          <a:ln w="9525">
            <a:solidFill>
              <a:srgbClr val="C4D3E6"/>
            </a:solidFill>
            <a:prstDash val="solid"/>
          </a:ln>
          <a:effectLst>
            <a:outerShdw sx="100000" sy="100000" kx="0" ky="0" algn="bl" rotWithShape="0" blurRad="381000" dist="171450" dir="5400000">
              <a:srgbClr val="141C28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171575" y="4168899"/>
            <a:ext cx="303847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58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SMART ALERT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1171575" y="4426074"/>
            <a:ext cx="2845118" cy="603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800"/>
              </a:lnSpc>
              <a:buNone/>
            </a:pPr>
            <a:r>
              <a:rPr lang="en-US" sz="165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real-time notification fired when a threshold breaks.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4457700" y="3930774"/>
            <a:ext cx="3276600" cy="1581969"/>
          </a:xfrm>
          <a:prstGeom prst="roundRect">
            <a:avLst>
              <a:gd name="adj" fmla="val 7225"/>
            </a:avLst>
          </a:prstGeom>
          <a:solidFill>
            <a:srgbClr val="FFFFFF"/>
          </a:solidFill>
          <a:ln w="9525">
            <a:solidFill>
              <a:srgbClr val="C4D3E6"/>
            </a:solidFill>
            <a:prstDash val="solid"/>
          </a:ln>
          <a:effectLst>
            <a:outerShdw sx="100000" sy="100000" kx="0" ky="0" algn="bl" rotWithShape="0" blurRad="381000" dist="171450" dir="5400000">
              <a:srgbClr val="141C28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14875" y="4168899"/>
            <a:ext cx="303847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58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PIPELINE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4714875" y="4426074"/>
            <a:ext cx="2845118" cy="886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800"/>
              </a:lnSpc>
              <a:buNone/>
            </a:pPr>
            <a:r>
              <a:rPr lang="en-US" sz="165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stream refreshing every 90 seconds — no nightly batch.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8001000" y="3930774"/>
            <a:ext cx="3276600" cy="1581969"/>
          </a:xfrm>
          <a:prstGeom prst="roundRect">
            <a:avLst>
              <a:gd name="adj" fmla="val 7225"/>
            </a:avLst>
          </a:prstGeom>
          <a:solidFill>
            <a:srgbClr val="FFFFFF"/>
          </a:solidFill>
          <a:ln w="9525">
            <a:solidFill>
              <a:srgbClr val="C4D3E6"/>
            </a:solidFill>
            <a:prstDash val="solid"/>
          </a:ln>
          <a:effectLst>
            <a:outerShdw sx="100000" sy="100000" kx="0" ky="0" algn="bl" rotWithShape="0" blurRad="381000" dist="171450" dir="5400000">
              <a:srgbClr val="141C28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258175" y="4168899"/>
            <a:ext cx="303847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58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FIRST-CLICK TEST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8258175" y="4426074"/>
            <a:ext cx="2845118" cy="886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800"/>
              </a:lnSpc>
              <a:buNone/>
            </a:pPr>
            <a:r>
              <a:rPr lang="en-US" sz="165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Measures whether users' first click lands on the right target.</a:t>
            </a:r>
            <a:endParaRPr lang="en-US" sz="16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2DDEC">
                  <a:alpha val="100000"/>
                </a:srgbClr>
              </a:gs>
              <a:gs pos="100000">
                <a:srgbClr val="E9EFF7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685800"/>
            <a:ext cx="146922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372"/>
              </a:lnSpc>
              <a:buNone/>
            </a:pPr>
            <a:r>
              <a:rPr lang="en-US" sz="1425" spc="314" kern="0" dirty="0">
                <a:solidFill>
                  <a:srgbClr val="B840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THANK YOU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914400" y="2647950"/>
            <a:ext cx="9724757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Let's build the next one.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3938588"/>
            <a:ext cx="266700" cy="228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500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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38250" y="3910013"/>
            <a:ext cx="352044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catherine@afocuseddesign.com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819650" y="3938588"/>
            <a:ext cx="266700" cy="228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500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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143500" y="3910013"/>
            <a:ext cx="226314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afocuseddesign.com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14400" y="5519738"/>
            <a:ext cx="10363200" cy="9525"/>
          </a:xfrm>
          <a:prstGeom prst="rect">
            <a:avLst/>
          </a:prstGeom>
          <a:solidFill>
            <a:srgbClr val="C4D3E6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5719763"/>
            <a:ext cx="143721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58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DESIGNER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914400" y="5938838"/>
            <a:ext cx="1437218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Catherine Hicks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2754362" y="5719763"/>
            <a:ext cx="224488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58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STUDIO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2754362" y="5938838"/>
            <a:ext cx="2244886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Focused Design Studio</a:t>
            </a:r>
            <a:endParaRPr lang="en-US" sz="1425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2DDEC">
                  <a:alpha val="100000"/>
                </a:srgbClr>
              </a:gs>
              <a:gs pos="100000">
                <a:srgbClr val="E9EFF7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762000"/>
            <a:ext cx="3505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b="1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41165" y="785813"/>
            <a:ext cx="277514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372"/>
              </a:lnSpc>
              <a:buNone/>
            </a:pPr>
            <a:r>
              <a:rPr lang="en-US" sz="1425" spc="314" kern="0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 WE DESIGN FOR</a:t>
            </a:r>
            <a:endParaRPr lang="en-US" sz="1425" dirty="0"/>
          </a:p>
        </p:txBody>
      </p:sp>
      <p:sp>
        <p:nvSpPr>
          <p:cNvPr id="5" name="Text 3"/>
          <p:cNvSpPr/>
          <p:nvPr/>
        </p:nvSpPr>
        <p:spPr>
          <a:xfrm>
            <a:off x="914400" y="1181100"/>
            <a:ext cx="11399520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42"/>
              </a:lnSpc>
              <a:buNone/>
            </a:pPr>
            <a:r>
              <a:rPr lang="en-US" sz="3900" b="1" spc="-78" kern="0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insights analyst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914400" y="2229743"/>
            <a:ext cx="2857500" cy="22098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C4D3E6"/>
            </a:solidFill>
            <a:prstDash val="solid"/>
          </a:ln>
          <a:effectLst>
            <a:outerShdw sx="100000" sy="100000" kx="0" ky="0" algn="bl" rotWithShape="0" blurRad="381000" dist="171450" dir="5400000">
              <a:srgbClr val="141C28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85950" y="2544068"/>
            <a:ext cx="914400" cy="914400"/>
          </a:xfrm>
          <a:prstGeom prst="ellipse">
            <a:avLst/>
          </a:prstGeom>
          <a:solidFill>
            <a:srgbClr val="42A5F5"/>
          </a:solidFill>
          <a:ln/>
        </p:spPr>
      </p:sp>
      <p:sp>
        <p:nvSpPr>
          <p:cNvPr id="8" name="Text 6"/>
          <p:cNvSpPr/>
          <p:nvPr/>
        </p:nvSpPr>
        <p:spPr>
          <a:xfrm>
            <a:off x="1847850" y="2544068"/>
            <a:ext cx="99060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MR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117283" y="3629918"/>
            <a:ext cx="245173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Maya R.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17283" y="3925193"/>
            <a:ext cx="245173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Insights Analyst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05300" y="2120205"/>
            <a:ext cx="38100" cy="2428875"/>
          </a:xfrm>
          <a:prstGeom prst="rect">
            <a:avLst/>
          </a:prstGeom>
          <a:solidFill>
            <a:srgbClr val="B8401B"/>
          </a:solidFill>
          <a:ln/>
        </p:spPr>
      </p:sp>
      <p:sp>
        <p:nvSpPr>
          <p:cNvPr id="12" name="Text 10"/>
          <p:cNvSpPr/>
          <p:nvPr/>
        </p:nvSpPr>
        <p:spPr>
          <a:xfrm>
            <a:off x="4724400" y="2120205"/>
            <a:ext cx="2770540" cy="2466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390"/>
              </a:lnSpc>
              <a:buNone/>
            </a:pPr>
            <a:r>
              <a:rPr lang="en-US" sz="2550" spc="-25" kern="0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“I need a board-ready read by Monday — </a:t>
            </a:r>
            <a:pPr algn="l" indent="0" marL="0">
              <a:lnSpc>
                <a:spcPct val="110390"/>
              </a:lnSpc>
              <a:buNone/>
            </a:pPr>
            <a:r>
              <a:rPr lang="en-US" sz="2550" spc="-25" kern="0" dirty="0">
                <a:solidFill>
                  <a:srgbClr val="B840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without rebuilding it by hand. </a:t>
            </a:r>
            <a:pPr algn="l" indent="0" marL="0">
              <a:lnSpc>
                <a:spcPct val="110390"/>
              </a:lnSpc>
              <a:buNone/>
            </a:pPr>
            <a:r>
              <a:rPr lang="en-US" sz="2550" spc="-25" kern="0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”</a:t>
            </a:r>
            <a:endParaRPr lang="en-US" sz="25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2DDEC">
                  <a:alpha val="100000"/>
                </a:srgbClr>
              </a:gs>
              <a:gs pos="100000">
                <a:srgbClr val="E9EFF7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762000"/>
            <a:ext cx="3505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b="1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41165" y="785813"/>
            <a:ext cx="391776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372"/>
              </a:lnSpc>
              <a:buNone/>
            </a:pPr>
            <a:r>
              <a:rPr lang="en-US" sz="1425" spc="314" kern="0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TWO PEOPLE WE DESIGN FOR</a:t>
            </a:r>
            <a:endParaRPr lang="en-US" sz="1425" dirty="0"/>
          </a:p>
        </p:txBody>
      </p:sp>
      <p:sp>
        <p:nvSpPr>
          <p:cNvPr id="5" name="Text 3"/>
          <p:cNvSpPr/>
          <p:nvPr/>
        </p:nvSpPr>
        <p:spPr>
          <a:xfrm>
            <a:off x="914400" y="1181100"/>
            <a:ext cx="11399520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42"/>
              </a:lnSpc>
              <a:buNone/>
            </a:pPr>
            <a:r>
              <a:rPr lang="en-US" sz="3900" b="1" spc="-78" kern="0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Analyst &amp; executive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914400" y="2120205"/>
            <a:ext cx="4991100" cy="2449264"/>
          </a:xfrm>
          <a:prstGeom prst="roundRect">
            <a:avLst>
              <a:gd name="adj" fmla="val 6222"/>
            </a:avLst>
          </a:prstGeom>
          <a:solidFill>
            <a:srgbClr val="FFFFFF"/>
          </a:solidFill>
          <a:ln w="9525">
            <a:solidFill>
              <a:srgbClr val="C4D3E6"/>
            </a:solidFill>
            <a:prstDash val="solid"/>
          </a:ln>
          <a:effectLst>
            <a:outerShdw sx="100000" sy="100000" kx="0" ky="0" algn="bl" rotWithShape="0" blurRad="381000" dist="171450" dir="5400000">
              <a:srgbClr val="141C28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28725" y="2434530"/>
            <a:ext cx="723900" cy="723900"/>
          </a:xfrm>
          <a:prstGeom prst="ellipse">
            <a:avLst/>
          </a:prstGeom>
          <a:solidFill>
            <a:srgbClr val="42A5F5"/>
          </a:solidFill>
          <a:ln/>
        </p:spPr>
      </p:sp>
      <p:sp>
        <p:nvSpPr>
          <p:cNvPr id="8" name="Text 6"/>
          <p:cNvSpPr/>
          <p:nvPr/>
        </p:nvSpPr>
        <p:spPr>
          <a:xfrm>
            <a:off x="1190625" y="2434530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MR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2143125" y="2548830"/>
            <a:ext cx="172960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Maya R.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143125" y="2844105"/>
            <a:ext cx="172960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Insights Analyst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28725" y="3367980"/>
            <a:ext cx="4493324" cy="925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423"/>
              </a:lnSpc>
              <a:buNone/>
            </a:pPr>
            <a:r>
              <a:rPr lang="en-US" sz="1725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“Ship a board-ready read by Monday without rebuilding it by hand.”</a:t>
            </a:r>
            <a:endParaRPr lang="en-US" sz="1725" dirty="0"/>
          </a:p>
        </p:txBody>
      </p:sp>
      <p:sp>
        <p:nvSpPr>
          <p:cNvPr id="12" name="Shape 10"/>
          <p:cNvSpPr/>
          <p:nvPr/>
        </p:nvSpPr>
        <p:spPr>
          <a:xfrm>
            <a:off x="6286500" y="2120205"/>
            <a:ext cx="4991100" cy="2449264"/>
          </a:xfrm>
          <a:prstGeom prst="roundRect">
            <a:avLst>
              <a:gd name="adj" fmla="val 6222"/>
            </a:avLst>
          </a:prstGeom>
          <a:solidFill>
            <a:srgbClr val="FFFFFF"/>
          </a:solidFill>
          <a:ln w="9525">
            <a:solidFill>
              <a:srgbClr val="C4D3E6"/>
            </a:solidFill>
            <a:prstDash val="solid"/>
          </a:ln>
          <a:effectLst>
            <a:outerShdw sx="100000" sy="100000" kx="0" ky="0" algn="bl" rotWithShape="0" blurRad="381000" dist="171450" dir="5400000">
              <a:srgbClr val="141C28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600825" y="2434530"/>
            <a:ext cx="723900" cy="723900"/>
          </a:xfrm>
          <a:prstGeom prst="ellipse">
            <a:avLst/>
          </a:prstGeom>
          <a:solidFill>
            <a:srgbClr val="42A5F5"/>
          </a:solidFill>
          <a:ln/>
        </p:spPr>
      </p:sp>
      <p:sp>
        <p:nvSpPr>
          <p:cNvPr id="14" name="Text 12"/>
          <p:cNvSpPr/>
          <p:nvPr/>
        </p:nvSpPr>
        <p:spPr>
          <a:xfrm>
            <a:off x="6562725" y="2434530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TK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7515225" y="2548830"/>
            <a:ext cx="103651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Theo K.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515225" y="2844105"/>
            <a:ext cx="103651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of Insights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00825" y="3367980"/>
            <a:ext cx="4493324" cy="629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423"/>
              </a:lnSpc>
              <a:buNone/>
            </a:pPr>
            <a:r>
              <a:rPr lang="en-US" sz="1725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“Give me one headline I can trust, not a wall of widgets.”</a:t>
            </a:r>
            <a:endParaRPr lang="en-US" sz="1725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2DDEC">
                  <a:alpha val="100000"/>
                </a:srgbClr>
              </a:gs>
              <a:gs pos="100000">
                <a:srgbClr val="E9EFF7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762000"/>
            <a:ext cx="3505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b="1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41165" y="785813"/>
            <a:ext cx="277514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372"/>
              </a:lnSpc>
              <a:buNone/>
            </a:pPr>
            <a:r>
              <a:rPr lang="en-US" sz="1425" spc="314" kern="0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 WE DESIGN FOR</a:t>
            </a:r>
            <a:endParaRPr lang="en-US" sz="1425" dirty="0"/>
          </a:p>
        </p:txBody>
      </p:sp>
      <p:sp>
        <p:nvSpPr>
          <p:cNvPr id="5" name="Text 3"/>
          <p:cNvSpPr/>
          <p:nvPr/>
        </p:nvSpPr>
        <p:spPr>
          <a:xfrm>
            <a:off x="914400" y="1181100"/>
            <a:ext cx="11399520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42"/>
              </a:lnSpc>
              <a:buNone/>
            </a:pPr>
            <a:r>
              <a:rPr lang="en-US" sz="3900" b="1" spc="-78" kern="0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Three people, one tool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914400" y="2082105"/>
            <a:ext cx="3276600" cy="1945928"/>
          </a:xfrm>
          <a:prstGeom prst="roundRect">
            <a:avLst>
              <a:gd name="adj" fmla="val 7832"/>
            </a:avLst>
          </a:prstGeom>
          <a:solidFill>
            <a:srgbClr val="FFFFFF"/>
          </a:solidFill>
          <a:ln w="9525">
            <a:solidFill>
              <a:srgbClr val="C4D3E6"/>
            </a:solidFill>
            <a:prstDash val="solid"/>
          </a:ln>
          <a:effectLst>
            <a:outerShdw sx="100000" sy="100000" kx="0" ky="0" algn="bl" rotWithShape="0" blurRad="381000" dist="171450" dir="5400000">
              <a:srgbClr val="141C28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28725" y="2396430"/>
            <a:ext cx="609600" cy="609600"/>
          </a:xfrm>
          <a:prstGeom prst="ellipse">
            <a:avLst/>
          </a:prstGeom>
          <a:solidFill>
            <a:srgbClr val="42A5F5"/>
          </a:solidFill>
          <a:ln/>
        </p:spPr>
      </p:sp>
      <p:sp>
        <p:nvSpPr>
          <p:cNvPr id="8" name="Text 6"/>
          <p:cNvSpPr/>
          <p:nvPr/>
        </p:nvSpPr>
        <p:spPr>
          <a:xfrm>
            <a:off x="1190625" y="2396430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990725" y="2479774"/>
            <a:ext cx="1760547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Maya · Analyst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990725" y="2722662"/>
            <a:ext cx="176054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Lives in the data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28725" y="3177480"/>
            <a:ext cx="2727389" cy="52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302"/>
              </a:lnSpc>
              <a:buNone/>
            </a:pPr>
            <a:r>
              <a:rPr lang="en-US" sz="1425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“Ship the Monday read without rebuilding it.”</a:t>
            </a:r>
            <a:endParaRPr lang="en-US" sz="1425" dirty="0"/>
          </a:p>
        </p:txBody>
      </p:sp>
      <p:sp>
        <p:nvSpPr>
          <p:cNvPr id="12" name="Shape 10"/>
          <p:cNvSpPr/>
          <p:nvPr/>
        </p:nvSpPr>
        <p:spPr>
          <a:xfrm>
            <a:off x="4457700" y="2082105"/>
            <a:ext cx="3276600" cy="1945928"/>
          </a:xfrm>
          <a:prstGeom prst="roundRect">
            <a:avLst>
              <a:gd name="adj" fmla="val 7832"/>
            </a:avLst>
          </a:prstGeom>
          <a:solidFill>
            <a:srgbClr val="FFFFFF"/>
          </a:solidFill>
          <a:ln w="9525">
            <a:solidFill>
              <a:srgbClr val="C4D3E6"/>
            </a:solidFill>
            <a:prstDash val="solid"/>
          </a:ln>
          <a:effectLst>
            <a:outerShdw sx="100000" sy="100000" kx="0" ky="0" algn="bl" rotWithShape="0" blurRad="381000" dist="171450" dir="5400000">
              <a:srgbClr val="141C28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72025" y="2396430"/>
            <a:ext cx="609600" cy="609600"/>
          </a:xfrm>
          <a:prstGeom prst="ellipse">
            <a:avLst/>
          </a:prstGeom>
          <a:solidFill>
            <a:srgbClr val="42A5F5"/>
          </a:solidFill>
          <a:ln/>
        </p:spPr>
      </p:sp>
      <p:sp>
        <p:nvSpPr>
          <p:cNvPr id="14" name="Text 12"/>
          <p:cNvSpPr/>
          <p:nvPr/>
        </p:nvSpPr>
        <p:spPr>
          <a:xfrm>
            <a:off x="4733925" y="2396430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TK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534025" y="2479774"/>
            <a:ext cx="1383276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Theo · Exec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534025" y="2722662"/>
            <a:ext cx="138327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 30 seconds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72025" y="3177480"/>
            <a:ext cx="2727389" cy="52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302"/>
              </a:lnSpc>
              <a:buNone/>
            </a:pPr>
            <a:r>
              <a:rPr lang="en-US" sz="1425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“One headline I can trust.”</a:t>
            </a:r>
            <a:endParaRPr lang="en-US" sz="1425" dirty="0"/>
          </a:p>
        </p:txBody>
      </p:sp>
      <p:sp>
        <p:nvSpPr>
          <p:cNvPr id="18" name="Shape 16"/>
          <p:cNvSpPr/>
          <p:nvPr/>
        </p:nvSpPr>
        <p:spPr>
          <a:xfrm>
            <a:off x="8001000" y="2082105"/>
            <a:ext cx="3276600" cy="1945928"/>
          </a:xfrm>
          <a:prstGeom prst="roundRect">
            <a:avLst>
              <a:gd name="adj" fmla="val 7832"/>
            </a:avLst>
          </a:prstGeom>
          <a:solidFill>
            <a:srgbClr val="FFFFFF"/>
          </a:solidFill>
          <a:ln w="9525">
            <a:solidFill>
              <a:srgbClr val="C4D3E6"/>
            </a:solidFill>
            <a:prstDash val="solid"/>
          </a:ln>
          <a:effectLst>
            <a:outerShdw sx="100000" sy="100000" kx="0" ky="0" algn="bl" rotWithShape="0" blurRad="381000" dist="171450" dir="5400000">
              <a:srgbClr val="141C28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315325" y="2420243"/>
            <a:ext cx="595833" cy="609600"/>
          </a:xfrm>
          <a:prstGeom prst="ellipse">
            <a:avLst/>
          </a:prstGeom>
          <a:solidFill>
            <a:srgbClr val="42A5F5"/>
          </a:solidFill>
          <a:ln/>
        </p:spPr>
      </p:sp>
      <p:sp>
        <p:nvSpPr>
          <p:cNvPr id="20" name="Text 18"/>
          <p:cNvSpPr/>
          <p:nvPr/>
        </p:nvSpPr>
        <p:spPr>
          <a:xfrm>
            <a:off x="8277225" y="2420243"/>
            <a:ext cx="672033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063558" y="2396430"/>
            <a:ext cx="1975917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Sana · Strategist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063558" y="2853630"/>
            <a:ext cx="208968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Plans the quarter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315325" y="3225105"/>
            <a:ext cx="2727389" cy="52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302"/>
              </a:lnSpc>
              <a:buNone/>
            </a:pPr>
            <a:r>
              <a:rPr lang="en-US" sz="1425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“Spot the trend before the news does.”</a:t>
            </a:r>
            <a:endParaRPr lang="en-US" sz="1425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2DDEC">
                  <a:alpha val="100000"/>
                </a:srgbClr>
              </a:gs>
              <a:gs pos="100000">
                <a:srgbClr val="E9EFF7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762000"/>
            <a:ext cx="3505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b="1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41165" y="785813"/>
            <a:ext cx="212218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372"/>
              </a:lnSpc>
              <a:buNone/>
            </a:pPr>
            <a:r>
              <a:rPr lang="en-US" sz="1425" spc="314" kern="0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FULL CAST</a:t>
            </a:r>
            <a:endParaRPr lang="en-US" sz="1425" dirty="0"/>
          </a:p>
        </p:txBody>
      </p:sp>
      <p:sp>
        <p:nvSpPr>
          <p:cNvPr id="5" name="Text 3"/>
          <p:cNvSpPr/>
          <p:nvPr/>
        </p:nvSpPr>
        <p:spPr>
          <a:xfrm>
            <a:off x="914400" y="1181100"/>
            <a:ext cx="11399520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42"/>
              </a:lnSpc>
              <a:buNone/>
            </a:pPr>
            <a:r>
              <a:rPr lang="en-US" sz="3900" b="1" spc="-78" kern="0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Five people around the tool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914400" y="2082105"/>
            <a:ext cx="1935435" cy="1980158"/>
          </a:xfrm>
          <a:prstGeom prst="roundRect">
            <a:avLst>
              <a:gd name="adj" fmla="val 7874"/>
            </a:avLst>
          </a:prstGeom>
          <a:solidFill>
            <a:srgbClr val="FFFFFF"/>
          </a:solidFill>
          <a:ln w="9525">
            <a:solidFill>
              <a:srgbClr val="C4D3E6"/>
            </a:solidFill>
            <a:prstDash val="solid"/>
          </a:ln>
          <a:effectLst>
            <a:outerShdw sx="100000" sy="100000" kx="0" ky="0" algn="bl" rotWithShape="0" blurRad="381000" dist="171450" dir="5400000">
              <a:srgbClr val="141C28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15380" y="2301180"/>
            <a:ext cx="533400" cy="533400"/>
          </a:xfrm>
          <a:prstGeom prst="ellipse">
            <a:avLst/>
          </a:prstGeom>
          <a:solidFill>
            <a:srgbClr val="42A5F5"/>
          </a:solidFill>
          <a:ln/>
        </p:spPr>
      </p:sp>
      <p:sp>
        <p:nvSpPr>
          <p:cNvPr id="8" name="Text 6"/>
          <p:cNvSpPr/>
          <p:nvPr/>
        </p:nvSpPr>
        <p:spPr>
          <a:xfrm>
            <a:off x="1577280" y="2301180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16701" y="2967930"/>
            <a:ext cx="1730834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Maya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016701" y="3201293"/>
            <a:ext cx="173083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1057275" y="3496568"/>
            <a:ext cx="164968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7419"/>
              </a:lnSpc>
              <a:buNone/>
            </a:pPr>
            <a:r>
              <a:rPr lang="en-US" sz="1050" dirty="0">
                <a:solidFill>
                  <a:srgbClr val="546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“Ship the Monday read.”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021285" y="2082105"/>
            <a:ext cx="1935510" cy="1980158"/>
          </a:xfrm>
          <a:prstGeom prst="roundRect">
            <a:avLst>
              <a:gd name="adj" fmla="val 7874"/>
            </a:avLst>
          </a:prstGeom>
          <a:solidFill>
            <a:srgbClr val="FFFFFF"/>
          </a:solidFill>
          <a:ln w="9525">
            <a:solidFill>
              <a:srgbClr val="C4D3E6"/>
            </a:solidFill>
            <a:prstDash val="solid"/>
          </a:ln>
          <a:effectLst>
            <a:outerShdw sx="100000" sy="100000" kx="0" ky="0" algn="bl" rotWithShape="0" blurRad="381000" dist="171450" dir="5400000">
              <a:srgbClr val="141C28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722340" y="2301180"/>
            <a:ext cx="533400" cy="533400"/>
          </a:xfrm>
          <a:prstGeom prst="ellipse">
            <a:avLst/>
          </a:prstGeom>
          <a:solidFill>
            <a:srgbClr val="42A5F5"/>
          </a:solidFill>
          <a:ln/>
        </p:spPr>
      </p:sp>
      <p:sp>
        <p:nvSpPr>
          <p:cNvPr id="14" name="Text 12"/>
          <p:cNvSpPr/>
          <p:nvPr/>
        </p:nvSpPr>
        <p:spPr>
          <a:xfrm>
            <a:off x="3684240" y="2301180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123582" y="2967930"/>
            <a:ext cx="1730916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Theo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123582" y="3201293"/>
            <a:ext cx="173091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3164160" y="3496568"/>
            <a:ext cx="1649760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7419"/>
              </a:lnSpc>
              <a:buNone/>
            </a:pPr>
            <a:r>
              <a:rPr lang="en-US" sz="1050" dirty="0">
                <a:solidFill>
                  <a:srgbClr val="546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“One trusted headline.”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128245" y="2082105"/>
            <a:ext cx="1935435" cy="1980158"/>
          </a:xfrm>
          <a:prstGeom prst="roundRect">
            <a:avLst>
              <a:gd name="adj" fmla="val 7874"/>
            </a:avLst>
          </a:prstGeom>
          <a:solidFill>
            <a:srgbClr val="FFFFFF"/>
          </a:solidFill>
          <a:ln w="9525">
            <a:solidFill>
              <a:srgbClr val="C4D3E6"/>
            </a:solidFill>
            <a:prstDash val="solid"/>
          </a:ln>
          <a:effectLst>
            <a:outerShdw sx="100000" sy="100000" kx="0" ky="0" algn="bl" rotWithShape="0" blurRad="381000" dist="171450" dir="5400000">
              <a:srgbClr val="141C28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829226" y="2301180"/>
            <a:ext cx="533400" cy="533400"/>
          </a:xfrm>
          <a:prstGeom prst="ellipse">
            <a:avLst/>
          </a:prstGeom>
          <a:solidFill>
            <a:srgbClr val="42A5F5"/>
          </a:solidFill>
          <a:ln/>
        </p:spPr>
      </p:sp>
      <p:sp>
        <p:nvSpPr>
          <p:cNvPr id="20" name="Text 18"/>
          <p:cNvSpPr/>
          <p:nvPr/>
        </p:nvSpPr>
        <p:spPr>
          <a:xfrm>
            <a:off x="5791126" y="2301180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230546" y="2967930"/>
            <a:ext cx="1730834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Sana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230546" y="3201293"/>
            <a:ext cx="173083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Strategist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5230546" y="3496568"/>
            <a:ext cx="1730834" cy="211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7419"/>
              </a:lnSpc>
              <a:buNone/>
            </a:pPr>
            <a:r>
              <a:rPr lang="en-US" sz="1050" dirty="0">
                <a:solidFill>
                  <a:srgbClr val="546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“See it early.”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235130" y="2082105"/>
            <a:ext cx="1935510" cy="1980158"/>
          </a:xfrm>
          <a:prstGeom prst="roundRect">
            <a:avLst>
              <a:gd name="adj" fmla="val 7874"/>
            </a:avLst>
          </a:prstGeom>
          <a:solidFill>
            <a:srgbClr val="FFFFFF"/>
          </a:solidFill>
          <a:ln w="9525">
            <a:solidFill>
              <a:srgbClr val="C4D3E6"/>
            </a:solidFill>
            <a:prstDash val="solid"/>
          </a:ln>
          <a:effectLst>
            <a:outerShdw sx="100000" sy="100000" kx="0" ky="0" algn="bl" rotWithShape="0" blurRad="381000" dist="171450" dir="5400000">
              <a:srgbClr val="141C28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936185" y="2301180"/>
            <a:ext cx="533400" cy="533400"/>
          </a:xfrm>
          <a:prstGeom prst="ellipse">
            <a:avLst/>
          </a:prstGeom>
          <a:solidFill>
            <a:srgbClr val="42A5F5"/>
          </a:solidFill>
          <a:ln/>
        </p:spPr>
      </p:sp>
      <p:sp>
        <p:nvSpPr>
          <p:cNvPr id="26" name="Text 24"/>
          <p:cNvSpPr/>
          <p:nvPr/>
        </p:nvSpPr>
        <p:spPr>
          <a:xfrm>
            <a:off x="7898085" y="2301180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337427" y="2967930"/>
            <a:ext cx="1730916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Riya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337427" y="3201293"/>
            <a:ext cx="173091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</a:t>
            </a:r>
            <a:endParaRPr lang="en-US" sz="975" dirty="0"/>
          </a:p>
        </p:txBody>
      </p:sp>
      <p:sp>
        <p:nvSpPr>
          <p:cNvPr id="29" name="Text 27"/>
          <p:cNvSpPr/>
          <p:nvPr/>
        </p:nvSpPr>
        <p:spPr>
          <a:xfrm>
            <a:off x="7337427" y="3496568"/>
            <a:ext cx="1730916" cy="211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7419"/>
              </a:lnSpc>
              <a:buNone/>
            </a:pPr>
            <a:r>
              <a:rPr lang="en-US" sz="1050" dirty="0">
                <a:solidFill>
                  <a:srgbClr val="546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“Keep it fast.”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342090" y="2082105"/>
            <a:ext cx="1935435" cy="1980158"/>
          </a:xfrm>
          <a:prstGeom prst="roundRect">
            <a:avLst>
              <a:gd name="adj" fmla="val 7874"/>
            </a:avLst>
          </a:prstGeom>
          <a:solidFill>
            <a:srgbClr val="FFFFFF"/>
          </a:solidFill>
          <a:ln w="9525">
            <a:solidFill>
              <a:srgbClr val="C4D3E6"/>
            </a:solidFill>
            <a:prstDash val="solid"/>
          </a:ln>
          <a:effectLst>
            <a:outerShdw sx="100000" sy="100000" kx="0" ky="0" algn="bl" rotWithShape="0" blurRad="381000" dist="171450" dir="5400000">
              <a:srgbClr val="141C28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0043071" y="2301180"/>
            <a:ext cx="533400" cy="533400"/>
          </a:xfrm>
          <a:prstGeom prst="ellipse">
            <a:avLst/>
          </a:prstGeom>
          <a:solidFill>
            <a:srgbClr val="42A5F5"/>
          </a:solidFill>
          <a:ln/>
        </p:spPr>
      </p:sp>
      <p:sp>
        <p:nvSpPr>
          <p:cNvPr id="32" name="Text 30"/>
          <p:cNvSpPr/>
          <p:nvPr/>
        </p:nvSpPr>
        <p:spPr>
          <a:xfrm>
            <a:off x="10004971" y="2301180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JP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444391" y="2967930"/>
            <a:ext cx="1730834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Jordan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9444391" y="3201293"/>
            <a:ext cx="173083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</a:t>
            </a:r>
            <a:endParaRPr lang="en-US" sz="975" dirty="0"/>
          </a:p>
        </p:txBody>
      </p:sp>
      <p:sp>
        <p:nvSpPr>
          <p:cNvPr id="35" name="Text 33"/>
          <p:cNvSpPr/>
          <p:nvPr/>
        </p:nvSpPr>
        <p:spPr>
          <a:xfrm>
            <a:off x="9484965" y="3496568"/>
            <a:ext cx="164968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7419"/>
              </a:lnSpc>
              <a:buNone/>
            </a:pPr>
            <a:r>
              <a:rPr lang="en-US" sz="1050" dirty="0">
                <a:solidFill>
                  <a:srgbClr val="546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“Keep scope honest.”</a:t>
            </a:r>
            <a:endParaRPr lang="en-US" sz="10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2DDEC">
                  <a:alpha val="100000"/>
                </a:srgbClr>
              </a:gs>
              <a:gs pos="100000">
                <a:srgbClr val="E9EFF7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762000"/>
            <a:ext cx="3505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b="1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41165" y="785813"/>
            <a:ext cx="326480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372"/>
              </a:lnSpc>
              <a:buNone/>
            </a:pPr>
            <a:r>
              <a:rPr lang="en-US" sz="1425" spc="314" kern="0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 &amp; SUPPORTING</a:t>
            </a:r>
            <a:endParaRPr lang="en-US" sz="1425" dirty="0"/>
          </a:p>
        </p:txBody>
      </p:sp>
      <p:sp>
        <p:nvSpPr>
          <p:cNvPr id="5" name="Text 3"/>
          <p:cNvSpPr/>
          <p:nvPr/>
        </p:nvSpPr>
        <p:spPr>
          <a:xfrm>
            <a:off x="914400" y="1181100"/>
            <a:ext cx="10674096" cy="10781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42"/>
              </a:lnSpc>
              <a:buNone/>
            </a:pPr>
            <a:r>
              <a:rPr lang="en-US" sz="3900" b="1" spc="-78" kern="0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we lead with, three we keep in mind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914400" y="2564011"/>
            <a:ext cx="5240610" cy="2699296"/>
          </a:xfrm>
          <a:prstGeom prst="roundRect">
            <a:avLst>
              <a:gd name="adj" fmla="val 5646"/>
            </a:avLst>
          </a:prstGeom>
          <a:solidFill>
            <a:srgbClr val="FFFFFF"/>
          </a:solidFill>
          <a:ln w="9525">
            <a:solidFill>
              <a:srgbClr val="C4D3E6"/>
            </a:solidFill>
            <a:prstDash val="solid"/>
          </a:ln>
          <a:effectLst>
            <a:outerShdw sx="100000" sy="100000" kx="0" ky="0" algn="bl" rotWithShape="0" blurRad="381000" dist="171450" dir="5400000">
              <a:srgbClr val="141C28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28725" y="2878336"/>
            <a:ext cx="838200" cy="838200"/>
          </a:xfrm>
          <a:prstGeom prst="ellipse">
            <a:avLst/>
          </a:prstGeom>
          <a:solidFill>
            <a:srgbClr val="42A5F5"/>
          </a:solidFill>
          <a:ln/>
        </p:spPr>
      </p:sp>
      <p:sp>
        <p:nvSpPr>
          <p:cNvPr id="8" name="Text 6"/>
          <p:cNvSpPr/>
          <p:nvPr/>
        </p:nvSpPr>
        <p:spPr>
          <a:xfrm>
            <a:off x="1190625" y="2878336"/>
            <a:ext cx="91440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MR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276475" y="3049786"/>
            <a:ext cx="25653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Maya R. · Primary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276475" y="3345061"/>
            <a:ext cx="256535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Insights Analyst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28725" y="3926086"/>
            <a:ext cx="4750319" cy="10609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76"/>
              </a:lnSpc>
              <a:buNone/>
            </a:pPr>
            <a:r>
              <a:rPr lang="en-US" sz="1950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“Ship a board-ready read by Monday — </a:t>
            </a:r>
            <a:pPr algn="l" indent="0" marL="0">
              <a:lnSpc>
                <a:spcPct val="114576"/>
              </a:lnSpc>
              <a:buNone/>
            </a:pPr>
            <a:r>
              <a:rPr lang="en-US" sz="195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without rebuilding it by hand every week. </a:t>
            </a:r>
            <a:pPr algn="l" indent="0" marL="0">
              <a:lnSpc>
                <a:spcPct val="114576"/>
              </a:lnSpc>
              <a:buNone/>
            </a:pPr>
            <a:r>
              <a:rPr lang="en-US" sz="1950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”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6536010" y="2564011"/>
            <a:ext cx="4741515" cy="895350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9525">
            <a:solidFill>
              <a:srgbClr val="C4D3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74135" y="2764036"/>
            <a:ext cx="495300" cy="495300"/>
          </a:xfrm>
          <a:prstGeom prst="ellipse">
            <a:avLst/>
          </a:prstGeom>
          <a:solidFill>
            <a:srgbClr val="42A5F5"/>
          </a:solidFill>
          <a:ln/>
        </p:spPr>
      </p:sp>
      <p:sp>
        <p:nvSpPr>
          <p:cNvPr id="14" name="Text 12"/>
          <p:cNvSpPr/>
          <p:nvPr/>
        </p:nvSpPr>
        <p:spPr>
          <a:xfrm>
            <a:off x="6736035" y="2764036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TK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421835" y="2825948"/>
            <a:ext cx="1810807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Theo · Executive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421835" y="3021211"/>
            <a:ext cx="1810807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Wants one trusted headline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536010" y="3630811"/>
            <a:ext cx="4741515" cy="895350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9525">
            <a:solidFill>
              <a:srgbClr val="C4D3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74135" y="3830836"/>
            <a:ext cx="495300" cy="495300"/>
          </a:xfrm>
          <a:prstGeom prst="ellipse">
            <a:avLst/>
          </a:prstGeom>
          <a:solidFill>
            <a:srgbClr val="42A5F5"/>
          </a:solidFill>
          <a:ln/>
        </p:spPr>
      </p:sp>
      <p:sp>
        <p:nvSpPr>
          <p:cNvPr id="19" name="Text 17"/>
          <p:cNvSpPr/>
          <p:nvPr/>
        </p:nvSpPr>
        <p:spPr>
          <a:xfrm>
            <a:off x="6736035" y="3830836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421835" y="3892748"/>
            <a:ext cx="1924013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Sana · Strategist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421835" y="4088011"/>
            <a:ext cx="1924013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Spots trends early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536010" y="4697611"/>
            <a:ext cx="4741515" cy="895350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9525">
            <a:solidFill>
              <a:srgbClr val="C4D3E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74135" y="4897636"/>
            <a:ext cx="495300" cy="495300"/>
          </a:xfrm>
          <a:prstGeom prst="ellipse">
            <a:avLst/>
          </a:prstGeom>
          <a:solidFill>
            <a:srgbClr val="42A5F5"/>
          </a:solidFill>
          <a:ln/>
        </p:spPr>
      </p:sp>
      <p:sp>
        <p:nvSpPr>
          <p:cNvPr id="24" name="Text 22"/>
          <p:cNvSpPr/>
          <p:nvPr/>
        </p:nvSpPr>
        <p:spPr>
          <a:xfrm>
            <a:off x="6736035" y="4897636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421835" y="4959548"/>
            <a:ext cx="1697682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Riya · Engineer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421835" y="5154811"/>
            <a:ext cx="1697682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the live read fast</a:t>
            </a:r>
            <a:endParaRPr lang="en-US" sz="10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2DDEC">
                  <a:alpha val="100000"/>
                </a:srgbClr>
              </a:gs>
              <a:gs pos="100000">
                <a:srgbClr val="E9EFF7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762000"/>
            <a:ext cx="3505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b="1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41165" y="785813"/>
            <a:ext cx="4407508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372"/>
              </a:lnSpc>
              <a:buNone/>
            </a:pPr>
            <a:r>
              <a:rPr lang="en-US" sz="1425" spc="314" kern="0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TWO PRIMARY, TWO SUPPORTING</a:t>
            </a:r>
            <a:endParaRPr lang="en-US" sz="1425" dirty="0"/>
          </a:p>
        </p:txBody>
      </p:sp>
      <p:sp>
        <p:nvSpPr>
          <p:cNvPr id="5" name="Text 3"/>
          <p:cNvSpPr/>
          <p:nvPr/>
        </p:nvSpPr>
        <p:spPr>
          <a:xfrm>
            <a:off x="914400" y="1181100"/>
            <a:ext cx="11399520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42"/>
              </a:lnSpc>
              <a:buNone/>
            </a:pPr>
            <a:r>
              <a:rPr lang="en-US" sz="3900" b="1" spc="-78" kern="0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people who decide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914400" y="2044005"/>
            <a:ext cx="5067300" cy="2025848"/>
          </a:xfrm>
          <a:prstGeom prst="roundRect">
            <a:avLst>
              <a:gd name="adj" fmla="val 7523"/>
            </a:avLst>
          </a:prstGeom>
          <a:solidFill>
            <a:srgbClr val="FFFFFF"/>
          </a:solidFill>
          <a:ln w="9525">
            <a:solidFill>
              <a:srgbClr val="C4D3E6"/>
            </a:solidFill>
            <a:prstDash val="solid"/>
          </a:ln>
          <a:effectLst>
            <a:outerShdw sx="100000" sy="100000" kx="0" ky="0" algn="bl" rotWithShape="0" blurRad="381000" dist="171450" dir="5400000">
              <a:srgbClr val="141C28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28725" y="2358330"/>
            <a:ext cx="685800" cy="685800"/>
          </a:xfrm>
          <a:prstGeom prst="ellipse">
            <a:avLst/>
          </a:prstGeom>
          <a:solidFill>
            <a:srgbClr val="42A5F5"/>
          </a:solidFill>
          <a:ln/>
        </p:spPr>
      </p:sp>
      <p:sp>
        <p:nvSpPr>
          <p:cNvPr id="8" name="Text 6"/>
          <p:cNvSpPr/>
          <p:nvPr/>
        </p:nvSpPr>
        <p:spPr>
          <a:xfrm>
            <a:off x="1190625" y="2358330"/>
            <a:ext cx="7620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MR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2085975" y="2458343"/>
            <a:ext cx="25653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Maya R. · Primary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085975" y="2744093"/>
            <a:ext cx="256535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Insights Analyst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28725" y="3215580"/>
            <a:ext cx="4571810" cy="578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25"/>
              </a:lnSpc>
              <a:buNone/>
            </a:pPr>
            <a:r>
              <a:rPr lang="en-US" sz="1575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“Ship the Monday read without rebuilding it by hand.”</a:t>
            </a:r>
            <a:endParaRPr lang="en-US" sz="1575" dirty="0"/>
          </a:p>
        </p:txBody>
      </p:sp>
      <p:sp>
        <p:nvSpPr>
          <p:cNvPr id="12" name="Shape 10"/>
          <p:cNvSpPr/>
          <p:nvPr/>
        </p:nvSpPr>
        <p:spPr>
          <a:xfrm>
            <a:off x="6210300" y="2044005"/>
            <a:ext cx="5067300" cy="2025848"/>
          </a:xfrm>
          <a:prstGeom prst="roundRect">
            <a:avLst>
              <a:gd name="adj" fmla="val 7523"/>
            </a:avLst>
          </a:prstGeom>
          <a:solidFill>
            <a:srgbClr val="FFFFFF"/>
          </a:solidFill>
          <a:ln w="9525">
            <a:solidFill>
              <a:srgbClr val="C4D3E6"/>
            </a:solidFill>
            <a:prstDash val="solid"/>
          </a:ln>
          <a:effectLst>
            <a:outerShdw sx="100000" sy="100000" kx="0" ky="0" algn="bl" rotWithShape="0" blurRad="381000" dist="171450" dir="5400000">
              <a:srgbClr val="141C28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24625" y="2358330"/>
            <a:ext cx="685800" cy="685800"/>
          </a:xfrm>
          <a:prstGeom prst="ellipse">
            <a:avLst/>
          </a:prstGeom>
          <a:solidFill>
            <a:srgbClr val="42A5F5"/>
          </a:solidFill>
          <a:ln/>
        </p:spPr>
      </p:sp>
      <p:sp>
        <p:nvSpPr>
          <p:cNvPr id="14" name="Text 12"/>
          <p:cNvSpPr/>
          <p:nvPr/>
        </p:nvSpPr>
        <p:spPr>
          <a:xfrm>
            <a:off x="6486525" y="2358330"/>
            <a:ext cx="7620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TK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7381875" y="2458343"/>
            <a:ext cx="25653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Theo K. · Primary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381875" y="2744093"/>
            <a:ext cx="256535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of Insights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24625" y="3215580"/>
            <a:ext cx="4571810" cy="578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25"/>
              </a:lnSpc>
              <a:buNone/>
            </a:pPr>
            <a:r>
              <a:rPr lang="en-US" sz="1575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“One headline I can trust, not a wall of widgets.”</a:t>
            </a:r>
            <a:endParaRPr lang="en-US" sz="1575" dirty="0"/>
          </a:p>
        </p:txBody>
      </p:sp>
      <p:sp>
        <p:nvSpPr>
          <p:cNvPr id="18" name="Shape 16"/>
          <p:cNvSpPr/>
          <p:nvPr/>
        </p:nvSpPr>
        <p:spPr>
          <a:xfrm>
            <a:off x="914400" y="4298454"/>
            <a:ext cx="5067300" cy="895350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9525">
            <a:solidFill>
              <a:srgbClr val="C4D3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52525" y="4498479"/>
            <a:ext cx="495300" cy="495300"/>
          </a:xfrm>
          <a:prstGeom prst="ellipse">
            <a:avLst/>
          </a:prstGeom>
          <a:solidFill>
            <a:srgbClr val="42A5F5"/>
          </a:solidFill>
          <a:ln/>
        </p:spPr>
      </p:sp>
      <p:sp>
        <p:nvSpPr>
          <p:cNvPr id="20" name="Text 18"/>
          <p:cNvSpPr/>
          <p:nvPr/>
        </p:nvSpPr>
        <p:spPr>
          <a:xfrm>
            <a:off x="1114425" y="4498479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800225" y="4560391"/>
            <a:ext cx="1924013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Sana · Strategist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800225" y="4755654"/>
            <a:ext cx="1924013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Plans the next quarter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10300" y="4298454"/>
            <a:ext cx="5067300" cy="895350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9525">
            <a:solidFill>
              <a:srgbClr val="C4D3E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48425" y="4498479"/>
            <a:ext cx="495300" cy="495300"/>
          </a:xfrm>
          <a:prstGeom prst="ellipse">
            <a:avLst/>
          </a:prstGeom>
          <a:solidFill>
            <a:srgbClr val="42A5F5"/>
          </a:solidFill>
          <a:ln/>
        </p:spPr>
      </p:sp>
      <p:sp>
        <p:nvSpPr>
          <p:cNvPr id="25" name="Text 23"/>
          <p:cNvSpPr/>
          <p:nvPr/>
        </p:nvSpPr>
        <p:spPr>
          <a:xfrm>
            <a:off x="6410325" y="4498479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096125" y="4560391"/>
            <a:ext cx="1697682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Riya · Engineer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096125" y="4755654"/>
            <a:ext cx="1697682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Owns the live pipeline</a:t>
            </a:r>
            <a:endParaRPr lang="en-US" sz="10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2DDEC">
                  <a:alpha val="100000"/>
                </a:srgbClr>
              </a:gs>
              <a:gs pos="100000">
                <a:srgbClr val="E9EFF7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F4F8FF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2301999"/>
            <a:ext cx="1795663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372"/>
              </a:lnSpc>
              <a:buNone/>
            </a:pPr>
            <a:r>
              <a:rPr lang="en-US" sz="1425" spc="314" kern="0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425" dirty="0"/>
          </a:p>
        </p:txBody>
      </p:sp>
      <p:sp>
        <p:nvSpPr>
          <p:cNvPr id="5" name="Text 3"/>
          <p:cNvSpPr/>
          <p:nvPr/>
        </p:nvSpPr>
        <p:spPr>
          <a:xfrm>
            <a:off x="762000" y="2673474"/>
            <a:ext cx="470916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308"/>
              </a:lnSpc>
              <a:buNone/>
            </a:pPr>
            <a:r>
              <a:rPr lang="en-US" sz="3000" b="1" spc="-60" kern="0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Analysts drowned in signal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62000" y="3625974"/>
            <a:ext cx="4709160" cy="968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1575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old dashboard buried the one number that mattered under twelve that didn't — and every report was rebuilt by hand.</a:t>
            </a:r>
            <a:endParaRPr lang="en-US" sz="1575" dirty="0"/>
          </a:p>
        </p:txBody>
      </p:sp>
      <p:sp>
        <p:nvSpPr>
          <p:cNvPr id="7" name="Shape 5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141C28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0" y="2457004"/>
            <a:ext cx="1958883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372"/>
              </a:lnSpc>
              <a:buNone/>
            </a:pPr>
            <a:r>
              <a:rPr lang="en-US" sz="1425" spc="314" kern="0" dirty="0">
                <a:solidFill>
                  <a:srgbClr val="42A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SOLUTION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6858000" y="2828479"/>
            <a:ext cx="470916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308"/>
              </a:lnSpc>
              <a:buNone/>
            </a:pPr>
            <a:r>
              <a:rPr lang="en-US" sz="3000" b="1" spc="-6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metric, sourced on demand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858000" y="3780979"/>
            <a:ext cx="4709160" cy="65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1575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headline number per view, every figure one click from its source, alerts firing in real time.</a:t>
            </a:r>
            <a:endParaRPr lang="en-US" sz="1575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2DDEC">
                  <a:alpha val="100000"/>
                </a:srgbClr>
              </a:gs>
              <a:gs pos="100000">
                <a:srgbClr val="E9EFF7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762000"/>
            <a:ext cx="3505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b="1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41165" y="785813"/>
            <a:ext cx="126340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372"/>
              </a:lnSpc>
              <a:buNone/>
            </a:pPr>
            <a:r>
              <a:rPr lang="en-US" sz="1425" spc="314" kern="0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ADOPTION</a:t>
            </a:r>
            <a:endParaRPr lang="en-US" sz="1425" dirty="0"/>
          </a:p>
        </p:txBody>
      </p:sp>
      <p:sp>
        <p:nvSpPr>
          <p:cNvPr id="5" name="Text 3"/>
          <p:cNvSpPr/>
          <p:nvPr/>
        </p:nvSpPr>
        <p:spPr>
          <a:xfrm>
            <a:off x="914400" y="1181100"/>
            <a:ext cx="11399520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42"/>
              </a:lnSpc>
              <a:buNone/>
            </a:pPr>
            <a:r>
              <a:rPr lang="en-US" sz="3900" b="1" spc="-78" kern="0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enterprise seats by month</a:t>
            </a:r>
            <a:endParaRPr lang="en-US" sz="3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82105"/>
            <a:ext cx="7048500" cy="3619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20100" y="3191768"/>
            <a:ext cx="31432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136"/>
              </a:lnSpc>
              <a:buNone/>
            </a:pPr>
            <a:r>
              <a:rPr lang="en-US" sz="3900" b="1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June</a:t>
            </a:r>
            <a:endParaRPr lang="en-US" sz="3900" dirty="0"/>
          </a:p>
        </p:txBody>
      </p:sp>
      <p:sp>
        <p:nvSpPr>
          <p:cNvPr id="8" name="Text 5"/>
          <p:cNvSpPr/>
          <p:nvPr/>
        </p:nvSpPr>
        <p:spPr>
          <a:xfrm>
            <a:off x="8420100" y="3820418"/>
            <a:ext cx="2943225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350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strongest month — 7 net-new seats, following the Compare launch in May.</a:t>
            </a:r>
            <a:endParaRPr lang="en-US" sz="13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2DDEC">
                  <a:alpha val="100000"/>
                </a:srgbClr>
              </a:gs>
              <a:gs pos="100000">
                <a:srgbClr val="E9EFF7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762000"/>
            <a:ext cx="163244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372"/>
              </a:lnSpc>
              <a:buNone/>
            </a:pPr>
            <a:r>
              <a:rPr lang="en-US" sz="1425" spc="314" kern="0" dirty="0">
                <a:solidFill>
                  <a:srgbClr val="B840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SUMMARY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914400" y="1133475"/>
            <a:ext cx="11399520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42"/>
              </a:lnSpc>
              <a:buNone/>
            </a:pPr>
            <a:r>
              <a:rPr lang="en-US" sz="3900" b="1" spc="-78" kern="0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Three things to remember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914400" y="1996380"/>
            <a:ext cx="4953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2250" b="1" dirty="0">
                <a:solidFill>
                  <a:srgbClr val="42A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504950" y="1996380"/>
            <a:ext cx="4493324" cy="576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1500" b="1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Subtraction was the feature. </a:t>
            </a:r>
            <a:pPr algn="l" indent="0" marL="0">
              <a:lnSpc>
                <a:spcPct val="124444"/>
              </a:lnSpc>
              <a:buNone/>
            </a:pPr>
            <a:r>
              <a:rPr lang="en-US" sz="15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biggest win came from what we removed, not what we added.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324600" y="1996380"/>
            <a:ext cx="4953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2250" b="1" dirty="0">
                <a:solidFill>
                  <a:srgbClr val="42A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6915150" y="1996380"/>
            <a:ext cx="4493324" cy="576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1500" b="1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is a UI problem. </a:t>
            </a:r>
            <a:pPr algn="l" indent="0" marL="0">
              <a:lnSpc>
                <a:spcPct val="124444"/>
              </a:lnSpc>
              <a:buNone/>
            </a:pPr>
            <a:r>
              <a:rPr lang="en-US" sz="15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believe a number when they can reach its source in one click.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2801243"/>
            <a:ext cx="4953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2250" b="1" dirty="0">
                <a:solidFill>
                  <a:srgbClr val="42A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504950" y="2801243"/>
            <a:ext cx="4493324" cy="576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1500" b="1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 is a design material. </a:t>
            </a:r>
            <a:pPr algn="l" indent="0" marL="0">
              <a:lnSpc>
                <a:spcPct val="124444"/>
              </a:lnSpc>
              <a:buNone/>
            </a:pPr>
            <a:r>
              <a:rPr lang="en-US" sz="15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Moving alerts earlier changed the product's value more than any layout.</a:t>
            </a:r>
            <a:endParaRPr lang="en-US" sz="15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2DDEC">
                  <a:alpha val="100000"/>
                </a:srgbClr>
              </a:gs>
              <a:gs pos="100000">
                <a:srgbClr val="E9EFF7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762000"/>
            <a:ext cx="163244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372"/>
              </a:lnSpc>
              <a:buNone/>
            </a:pPr>
            <a:r>
              <a:rPr lang="en-US" sz="1425" spc="314" kern="0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TRUSTED BY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914400" y="1133475"/>
            <a:ext cx="11399520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42"/>
              </a:lnSpc>
              <a:buNone/>
            </a:pPr>
            <a:r>
              <a:rPr lang="en-US" sz="3900" b="1" spc="-78" kern="0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Teams building on NetBase Pro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914400" y="2072580"/>
            <a:ext cx="2419350" cy="1238250"/>
          </a:xfrm>
          <a:prstGeom prst="rect">
            <a:avLst/>
          </a:prstGeom>
          <a:solidFill>
            <a:srgbClr val="EEF3FA"/>
          </a:solidFill>
          <a:ln/>
        </p:spPr>
      </p:sp>
      <p:sp>
        <p:nvSpPr>
          <p:cNvPr id="6" name="Shape 4"/>
          <p:cNvSpPr/>
          <p:nvPr/>
        </p:nvSpPr>
        <p:spPr>
          <a:xfrm>
            <a:off x="1773510" y="2494062"/>
            <a:ext cx="701055" cy="395288"/>
          </a:xfrm>
          <a:prstGeom prst="roundRect">
            <a:avLst>
              <a:gd name="adj" fmla="val 19277"/>
            </a:avLst>
          </a:prstGeom>
          <a:solidFill>
            <a:srgbClr val="FFFFFF">
              <a:alpha val="70000"/>
            </a:srgbClr>
          </a:solidFill>
          <a:ln w="9525">
            <a:solidFill>
              <a:srgbClr val="C4D3E6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1897335" y="2598837"/>
            <a:ext cx="45340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spc="68" kern="0" dirty="0">
                <a:solidFill>
                  <a:srgbClr val="58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Logo</a:t>
            </a:r>
            <a:endParaRPr lang="en-US" sz="1125" dirty="0"/>
          </a:p>
        </p:txBody>
      </p:sp>
      <p:sp>
        <p:nvSpPr>
          <p:cNvPr id="8" name="Shape 6"/>
          <p:cNvSpPr/>
          <p:nvPr/>
        </p:nvSpPr>
        <p:spPr>
          <a:xfrm>
            <a:off x="3562350" y="2072580"/>
            <a:ext cx="2419350" cy="1238250"/>
          </a:xfrm>
          <a:prstGeom prst="rect">
            <a:avLst/>
          </a:prstGeom>
          <a:solidFill>
            <a:srgbClr val="EEF3FA"/>
          </a:solidFill>
          <a:ln/>
        </p:spPr>
      </p:sp>
      <p:sp>
        <p:nvSpPr>
          <p:cNvPr id="9" name="Shape 7"/>
          <p:cNvSpPr/>
          <p:nvPr/>
        </p:nvSpPr>
        <p:spPr>
          <a:xfrm>
            <a:off x="4421460" y="2494062"/>
            <a:ext cx="701055" cy="395288"/>
          </a:xfrm>
          <a:prstGeom prst="roundRect">
            <a:avLst>
              <a:gd name="adj" fmla="val 19277"/>
            </a:avLst>
          </a:prstGeom>
          <a:solidFill>
            <a:srgbClr val="FFFFFF">
              <a:alpha val="70000"/>
            </a:srgbClr>
          </a:solidFill>
          <a:ln w="9525">
            <a:solidFill>
              <a:srgbClr val="C4D3E6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4545285" y="2598837"/>
            <a:ext cx="45340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spc="68" kern="0" dirty="0">
                <a:solidFill>
                  <a:srgbClr val="58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Logo</a:t>
            </a:r>
            <a:endParaRPr lang="en-US" sz="1125" dirty="0"/>
          </a:p>
        </p:txBody>
      </p:sp>
      <p:sp>
        <p:nvSpPr>
          <p:cNvPr id="11" name="Shape 9"/>
          <p:cNvSpPr/>
          <p:nvPr/>
        </p:nvSpPr>
        <p:spPr>
          <a:xfrm>
            <a:off x="6210300" y="2072580"/>
            <a:ext cx="2419350" cy="1238250"/>
          </a:xfrm>
          <a:prstGeom prst="rect">
            <a:avLst/>
          </a:prstGeom>
          <a:solidFill>
            <a:srgbClr val="EEF3FA"/>
          </a:solidFill>
          <a:ln/>
        </p:spPr>
      </p:sp>
      <p:sp>
        <p:nvSpPr>
          <p:cNvPr id="12" name="Shape 10"/>
          <p:cNvSpPr/>
          <p:nvPr/>
        </p:nvSpPr>
        <p:spPr>
          <a:xfrm>
            <a:off x="7069410" y="2494062"/>
            <a:ext cx="701055" cy="395288"/>
          </a:xfrm>
          <a:prstGeom prst="roundRect">
            <a:avLst>
              <a:gd name="adj" fmla="val 19277"/>
            </a:avLst>
          </a:prstGeom>
          <a:solidFill>
            <a:srgbClr val="FFFFFF">
              <a:alpha val="70000"/>
            </a:srgbClr>
          </a:solidFill>
          <a:ln w="9525">
            <a:solidFill>
              <a:srgbClr val="C4D3E6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7193235" y="2598837"/>
            <a:ext cx="45340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spc="68" kern="0" dirty="0">
                <a:solidFill>
                  <a:srgbClr val="58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Logo</a:t>
            </a:r>
            <a:endParaRPr lang="en-US" sz="1125" dirty="0"/>
          </a:p>
        </p:txBody>
      </p:sp>
      <p:sp>
        <p:nvSpPr>
          <p:cNvPr id="14" name="Shape 12"/>
          <p:cNvSpPr/>
          <p:nvPr/>
        </p:nvSpPr>
        <p:spPr>
          <a:xfrm>
            <a:off x="8858250" y="2072580"/>
            <a:ext cx="2419350" cy="1238250"/>
          </a:xfrm>
          <a:prstGeom prst="rect">
            <a:avLst/>
          </a:prstGeom>
          <a:solidFill>
            <a:srgbClr val="EEF3FA"/>
          </a:solidFill>
          <a:ln/>
        </p:spPr>
      </p:sp>
      <p:sp>
        <p:nvSpPr>
          <p:cNvPr id="15" name="Shape 13"/>
          <p:cNvSpPr/>
          <p:nvPr/>
        </p:nvSpPr>
        <p:spPr>
          <a:xfrm>
            <a:off x="9717360" y="2494062"/>
            <a:ext cx="701055" cy="395288"/>
          </a:xfrm>
          <a:prstGeom prst="roundRect">
            <a:avLst>
              <a:gd name="adj" fmla="val 19277"/>
            </a:avLst>
          </a:prstGeom>
          <a:solidFill>
            <a:srgbClr val="FFFFFF">
              <a:alpha val="70000"/>
            </a:srgbClr>
          </a:solidFill>
          <a:ln w="9525">
            <a:solidFill>
              <a:srgbClr val="C4D3E6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9841185" y="2598837"/>
            <a:ext cx="45340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spc="68" kern="0" dirty="0">
                <a:solidFill>
                  <a:srgbClr val="58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Logo</a:t>
            </a:r>
            <a:endParaRPr lang="en-US" sz="1125" dirty="0"/>
          </a:p>
        </p:txBody>
      </p:sp>
      <p:sp>
        <p:nvSpPr>
          <p:cNvPr id="17" name="Shape 15"/>
          <p:cNvSpPr/>
          <p:nvPr/>
        </p:nvSpPr>
        <p:spPr>
          <a:xfrm>
            <a:off x="914400" y="3539430"/>
            <a:ext cx="2419350" cy="1238250"/>
          </a:xfrm>
          <a:prstGeom prst="rect">
            <a:avLst/>
          </a:prstGeom>
          <a:solidFill>
            <a:srgbClr val="EEF3FA"/>
          </a:solidFill>
          <a:ln/>
        </p:spPr>
      </p:sp>
      <p:sp>
        <p:nvSpPr>
          <p:cNvPr id="18" name="Shape 16"/>
          <p:cNvSpPr/>
          <p:nvPr/>
        </p:nvSpPr>
        <p:spPr>
          <a:xfrm>
            <a:off x="1773510" y="3960912"/>
            <a:ext cx="701055" cy="395288"/>
          </a:xfrm>
          <a:prstGeom prst="roundRect">
            <a:avLst>
              <a:gd name="adj" fmla="val 19277"/>
            </a:avLst>
          </a:prstGeom>
          <a:solidFill>
            <a:srgbClr val="FFFFFF">
              <a:alpha val="70000"/>
            </a:srgbClr>
          </a:solidFill>
          <a:ln w="9525">
            <a:solidFill>
              <a:srgbClr val="C4D3E6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1897335" y="4065687"/>
            <a:ext cx="45340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spc="68" kern="0" dirty="0">
                <a:solidFill>
                  <a:srgbClr val="58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Logo</a:t>
            </a:r>
            <a:endParaRPr lang="en-US" sz="1125" dirty="0"/>
          </a:p>
        </p:txBody>
      </p:sp>
      <p:sp>
        <p:nvSpPr>
          <p:cNvPr id="20" name="Shape 18"/>
          <p:cNvSpPr/>
          <p:nvPr/>
        </p:nvSpPr>
        <p:spPr>
          <a:xfrm>
            <a:off x="3562350" y="3539430"/>
            <a:ext cx="2419350" cy="1238250"/>
          </a:xfrm>
          <a:prstGeom prst="rect">
            <a:avLst/>
          </a:prstGeom>
          <a:solidFill>
            <a:srgbClr val="EEF3FA"/>
          </a:solidFill>
          <a:ln/>
        </p:spPr>
      </p:sp>
      <p:sp>
        <p:nvSpPr>
          <p:cNvPr id="21" name="Shape 19"/>
          <p:cNvSpPr/>
          <p:nvPr/>
        </p:nvSpPr>
        <p:spPr>
          <a:xfrm>
            <a:off x="4421460" y="3960912"/>
            <a:ext cx="701055" cy="395288"/>
          </a:xfrm>
          <a:prstGeom prst="roundRect">
            <a:avLst>
              <a:gd name="adj" fmla="val 19277"/>
            </a:avLst>
          </a:prstGeom>
          <a:solidFill>
            <a:srgbClr val="FFFFFF">
              <a:alpha val="70000"/>
            </a:srgbClr>
          </a:solidFill>
          <a:ln w="9525">
            <a:solidFill>
              <a:srgbClr val="C4D3E6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4545285" y="4065687"/>
            <a:ext cx="45340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spc="68" kern="0" dirty="0">
                <a:solidFill>
                  <a:srgbClr val="58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Logo</a:t>
            </a:r>
            <a:endParaRPr lang="en-US" sz="1125" dirty="0"/>
          </a:p>
        </p:txBody>
      </p:sp>
      <p:sp>
        <p:nvSpPr>
          <p:cNvPr id="23" name="Shape 21"/>
          <p:cNvSpPr/>
          <p:nvPr/>
        </p:nvSpPr>
        <p:spPr>
          <a:xfrm>
            <a:off x="6210300" y="3539430"/>
            <a:ext cx="2419350" cy="1238250"/>
          </a:xfrm>
          <a:prstGeom prst="rect">
            <a:avLst/>
          </a:prstGeom>
          <a:solidFill>
            <a:srgbClr val="EEF3FA"/>
          </a:solidFill>
          <a:ln/>
        </p:spPr>
      </p:sp>
      <p:sp>
        <p:nvSpPr>
          <p:cNvPr id="24" name="Shape 22"/>
          <p:cNvSpPr/>
          <p:nvPr/>
        </p:nvSpPr>
        <p:spPr>
          <a:xfrm>
            <a:off x="7069410" y="3960912"/>
            <a:ext cx="701055" cy="395288"/>
          </a:xfrm>
          <a:prstGeom prst="roundRect">
            <a:avLst>
              <a:gd name="adj" fmla="val 19277"/>
            </a:avLst>
          </a:prstGeom>
          <a:solidFill>
            <a:srgbClr val="FFFFFF">
              <a:alpha val="70000"/>
            </a:srgbClr>
          </a:solidFill>
          <a:ln w="9525">
            <a:solidFill>
              <a:srgbClr val="C4D3E6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7193235" y="4065687"/>
            <a:ext cx="45340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spc="68" kern="0" dirty="0">
                <a:solidFill>
                  <a:srgbClr val="58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Logo</a:t>
            </a:r>
            <a:endParaRPr lang="en-US" sz="1125" dirty="0"/>
          </a:p>
        </p:txBody>
      </p:sp>
      <p:sp>
        <p:nvSpPr>
          <p:cNvPr id="26" name="Shape 24"/>
          <p:cNvSpPr/>
          <p:nvPr/>
        </p:nvSpPr>
        <p:spPr>
          <a:xfrm>
            <a:off x="8858250" y="3539430"/>
            <a:ext cx="2419350" cy="1238250"/>
          </a:xfrm>
          <a:prstGeom prst="rect">
            <a:avLst/>
          </a:prstGeom>
          <a:solidFill>
            <a:srgbClr val="EEF3FA"/>
          </a:solidFill>
          <a:ln/>
        </p:spPr>
      </p:sp>
      <p:sp>
        <p:nvSpPr>
          <p:cNvPr id="27" name="Shape 25"/>
          <p:cNvSpPr/>
          <p:nvPr/>
        </p:nvSpPr>
        <p:spPr>
          <a:xfrm>
            <a:off x="9717360" y="3960912"/>
            <a:ext cx="701055" cy="395288"/>
          </a:xfrm>
          <a:prstGeom prst="roundRect">
            <a:avLst>
              <a:gd name="adj" fmla="val 19277"/>
            </a:avLst>
          </a:prstGeom>
          <a:solidFill>
            <a:srgbClr val="FFFFFF">
              <a:alpha val="70000"/>
            </a:srgbClr>
          </a:solidFill>
          <a:ln w="9525">
            <a:solidFill>
              <a:srgbClr val="C4D3E6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9841185" y="4065687"/>
            <a:ext cx="45340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spc="68" kern="0" dirty="0">
                <a:solidFill>
                  <a:srgbClr val="58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Logo</a:t>
            </a:r>
            <a:endParaRPr lang="en-US" sz="1125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2DDEC">
                  <a:alpha val="100000"/>
                </a:srgbClr>
              </a:gs>
              <a:gs pos="100000">
                <a:srgbClr val="E9EFF7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762000"/>
            <a:ext cx="228540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372"/>
              </a:lnSpc>
              <a:buNone/>
            </a:pPr>
            <a:r>
              <a:rPr lang="en-US" sz="1425" spc="314" kern="0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THEY SAID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914400" y="1133475"/>
            <a:ext cx="11399520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42"/>
              </a:lnSpc>
              <a:buNone/>
            </a:pPr>
            <a:r>
              <a:rPr lang="en-US" sz="3900" b="1" spc="-78" kern="0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their words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914400" y="2072580"/>
            <a:ext cx="38100" cy="2311003"/>
          </a:xfrm>
          <a:prstGeom prst="rect">
            <a:avLst/>
          </a:prstGeom>
          <a:solidFill>
            <a:srgbClr val="B8401B"/>
          </a:solidFill>
          <a:ln/>
        </p:spPr>
      </p:sp>
      <p:sp>
        <p:nvSpPr>
          <p:cNvPr id="6" name="Text 4"/>
          <p:cNvSpPr/>
          <p:nvPr/>
        </p:nvSpPr>
        <p:spPr>
          <a:xfrm>
            <a:off x="1333500" y="2072580"/>
            <a:ext cx="4669917" cy="1339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750"/>
              </a:lnSpc>
              <a:buNone/>
            </a:pPr>
            <a:r>
              <a:rPr lang="en-US" sz="2100" spc="-21" kern="0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“She turned a wall of dashboards into something my team actually reads on Monday.”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333500" y="3735884"/>
            <a:ext cx="647700" cy="647700"/>
          </a:xfrm>
          <a:prstGeom prst="ellipse">
            <a:avLst/>
          </a:prstGeom>
          <a:solidFill>
            <a:srgbClr val="42A5F5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3735884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152650" y="3863057"/>
            <a:ext cx="1742785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Derek M.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152650" y="4096420"/>
            <a:ext cx="1742785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811"/>
              </a:lnSpc>
              <a:buNone/>
            </a:pPr>
            <a:r>
              <a:rPr lang="en-US" sz="1200" b="1" spc="-24" kern="0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of Insights · NetBase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24600" y="2072580"/>
            <a:ext cx="38100" cy="2311003"/>
          </a:xfrm>
          <a:prstGeom prst="rect">
            <a:avLst/>
          </a:prstGeom>
          <a:solidFill>
            <a:srgbClr val="B8401B"/>
          </a:solidFill>
          <a:ln/>
        </p:spPr>
      </p:sp>
      <p:sp>
        <p:nvSpPr>
          <p:cNvPr id="12" name="Text 10"/>
          <p:cNvSpPr/>
          <p:nvPr/>
        </p:nvSpPr>
        <p:spPr>
          <a:xfrm>
            <a:off x="6743700" y="2072580"/>
            <a:ext cx="4669917" cy="1014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750"/>
              </a:lnSpc>
              <a:buNone/>
            </a:pPr>
            <a:r>
              <a:rPr lang="en-US" sz="2100" spc="-21" kern="0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“The source-on-demand detail is why our analysts finally trust the numbers.”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6743700" y="3410545"/>
            <a:ext cx="647700" cy="647700"/>
          </a:xfrm>
          <a:prstGeom prst="ellipse">
            <a:avLst/>
          </a:prstGeom>
          <a:solidFill>
            <a:srgbClr val="42A5F5"/>
          </a:solidFill>
          <a:ln/>
        </p:spPr>
      </p:sp>
      <p:sp>
        <p:nvSpPr>
          <p:cNvPr id="14" name="Text 12"/>
          <p:cNvSpPr/>
          <p:nvPr/>
        </p:nvSpPr>
        <p:spPr>
          <a:xfrm>
            <a:off x="6705600" y="3410545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562850" y="3537719"/>
            <a:ext cx="1783058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Priya L.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562850" y="3771081"/>
            <a:ext cx="1783058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811"/>
              </a:lnSpc>
              <a:buNone/>
            </a:pPr>
            <a:r>
              <a:rPr lang="en-US" sz="1200" b="1" spc="-24" kern="0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of Analytics · Acme</a:t>
            </a:r>
            <a:endParaRPr lang="en-US" sz="12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2DDEC">
                  <a:alpha val="100000"/>
                </a:srgbClr>
              </a:gs>
              <a:gs pos="100000">
                <a:srgbClr val="E9EFF7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762000"/>
            <a:ext cx="3505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b="1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41165" y="785813"/>
            <a:ext cx="212218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372"/>
              </a:lnSpc>
              <a:buNone/>
            </a:pPr>
            <a:r>
              <a:rPr lang="en-US" sz="1425" spc="314" kern="0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 LAUNCH</a:t>
            </a:r>
            <a:endParaRPr lang="en-US" sz="1425" dirty="0"/>
          </a:p>
        </p:txBody>
      </p:sp>
      <p:sp>
        <p:nvSpPr>
          <p:cNvPr id="5" name="Text 3"/>
          <p:cNvSpPr/>
          <p:nvPr/>
        </p:nvSpPr>
        <p:spPr>
          <a:xfrm>
            <a:off x="914400" y="1181100"/>
            <a:ext cx="11399520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42"/>
              </a:lnSpc>
              <a:buNone/>
            </a:pPr>
            <a:r>
              <a:rPr lang="en-US" sz="3900" b="1" spc="-78" kern="0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Requirements checklist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914400" y="2082105"/>
            <a:ext cx="228600" cy="190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6486"/>
              </a:lnSpc>
              <a:buNone/>
            </a:pPr>
            <a:r>
              <a:rPr lang="en-US" sz="12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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00150" y="2082105"/>
            <a:ext cx="345577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Single-metric dashboard signed off</a:t>
            </a:r>
            <a:endParaRPr lang="en-US" sz="1575" dirty="0"/>
          </a:p>
        </p:txBody>
      </p:sp>
      <p:sp>
        <p:nvSpPr>
          <p:cNvPr id="8" name="Text 6"/>
          <p:cNvSpPr/>
          <p:nvPr/>
        </p:nvSpPr>
        <p:spPr>
          <a:xfrm>
            <a:off x="5905500" y="2082105"/>
            <a:ext cx="228600" cy="190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6486"/>
              </a:lnSpc>
              <a:buNone/>
            </a:pPr>
            <a:r>
              <a:rPr lang="en-US" sz="12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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191250" y="2082105"/>
            <a:ext cx="292772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tracing on every figure</a:t>
            </a:r>
            <a:endParaRPr lang="en-US" sz="1575" dirty="0"/>
          </a:p>
        </p:txBody>
      </p:sp>
      <p:sp>
        <p:nvSpPr>
          <p:cNvPr id="10" name="Text 8"/>
          <p:cNvSpPr/>
          <p:nvPr/>
        </p:nvSpPr>
        <p:spPr>
          <a:xfrm>
            <a:off x="914400" y="2534543"/>
            <a:ext cx="228600" cy="190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6486"/>
              </a:lnSpc>
              <a:buNone/>
            </a:pPr>
            <a:r>
              <a:rPr lang="en-US" sz="12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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00150" y="2534543"/>
            <a:ext cx="250526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view QA passed</a:t>
            </a:r>
            <a:endParaRPr lang="en-US" sz="1575" dirty="0"/>
          </a:p>
        </p:txBody>
      </p:sp>
      <p:sp>
        <p:nvSpPr>
          <p:cNvPr id="12" name="Text 10"/>
          <p:cNvSpPr/>
          <p:nvPr/>
        </p:nvSpPr>
        <p:spPr>
          <a:xfrm>
            <a:off x="5905500" y="2534543"/>
            <a:ext cx="228600" cy="190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6486"/>
              </a:lnSpc>
              <a:buNone/>
            </a:pPr>
            <a:r>
              <a:rPr lang="en-US" sz="1200" dirty="0">
                <a:solidFill>
                  <a:srgbClr val="C4D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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91250" y="2534543"/>
            <a:ext cx="277784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alerts load-tested</a:t>
            </a:r>
            <a:endParaRPr lang="en-US" sz="1575" dirty="0"/>
          </a:p>
        </p:txBody>
      </p:sp>
      <p:sp>
        <p:nvSpPr>
          <p:cNvPr id="14" name="Text 12"/>
          <p:cNvSpPr/>
          <p:nvPr/>
        </p:nvSpPr>
        <p:spPr>
          <a:xfrm>
            <a:off x="914400" y="2986980"/>
            <a:ext cx="228600" cy="190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6486"/>
              </a:lnSpc>
              <a:buNone/>
            </a:pPr>
            <a:r>
              <a:rPr lang="en-US" sz="1200" dirty="0">
                <a:solidFill>
                  <a:srgbClr val="C4D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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00150" y="2986980"/>
            <a:ext cx="362808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SSO configured for first five accounts</a:t>
            </a:r>
            <a:endParaRPr lang="en-US" sz="1575" dirty="0"/>
          </a:p>
        </p:txBody>
      </p:sp>
      <p:sp>
        <p:nvSpPr>
          <p:cNvPr id="16" name="Text 14"/>
          <p:cNvSpPr/>
          <p:nvPr/>
        </p:nvSpPr>
        <p:spPr>
          <a:xfrm>
            <a:off x="5905500" y="2986980"/>
            <a:ext cx="228600" cy="190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6486"/>
              </a:lnSpc>
              <a:buNone/>
            </a:pPr>
            <a:r>
              <a:rPr lang="en-US" sz="1200" dirty="0">
                <a:solidFill>
                  <a:srgbClr val="C4D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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91250" y="2986980"/>
            <a:ext cx="263402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Rollback plan documented</a:t>
            </a:r>
            <a:endParaRPr lang="en-US" sz="1575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2DDEC">
                  <a:alpha val="100000"/>
                </a:srgbClr>
              </a:gs>
              <a:gs pos="100000">
                <a:srgbClr val="E9EFF7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762000"/>
            <a:ext cx="52141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372"/>
              </a:lnSpc>
              <a:buNone/>
            </a:pPr>
            <a:r>
              <a:rPr lang="en-US" sz="1425" spc="314" kern="0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FAQ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914400" y="1133475"/>
            <a:ext cx="11399520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42"/>
              </a:lnSpc>
              <a:buNone/>
            </a:pPr>
            <a:r>
              <a:rPr lang="en-US" sz="3900" b="1" spc="-78" kern="0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Questions we hear most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914400" y="2034480"/>
            <a:ext cx="54483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fresh is the data?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914400" y="2339280"/>
            <a:ext cx="5101590" cy="65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1575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live pipeline refreshes every 90 seconds — no nightly batch.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6324600" y="2034480"/>
            <a:ext cx="54483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 I trace a number?</a:t>
            </a:r>
            <a:endParaRPr lang="en-US" sz="1575" dirty="0"/>
          </a:p>
        </p:txBody>
      </p:sp>
      <p:sp>
        <p:nvSpPr>
          <p:cNvPr id="8" name="Text 6"/>
          <p:cNvSpPr/>
          <p:nvPr/>
        </p:nvSpPr>
        <p:spPr>
          <a:xfrm>
            <a:off x="6324600" y="2339280"/>
            <a:ext cx="5101590" cy="65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1575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— every figure is one click from its underlying source.</a:t>
            </a:r>
            <a:endParaRPr lang="en-US" sz="1575" dirty="0"/>
          </a:p>
        </p:txBody>
      </p:sp>
      <p:sp>
        <p:nvSpPr>
          <p:cNvPr id="9" name="Text 7"/>
          <p:cNvSpPr/>
          <p:nvPr/>
        </p:nvSpPr>
        <p:spPr>
          <a:xfrm>
            <a:off x="914400" y="3225998"/>
            <a:ext cx="54483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far back can I look?</a:t>
            </a:r>
            <a:endParaRPr lang="en-US" sz="1575" dirty="0"/>
          </a:p>
        </p:txBody>
      </p:sp>
      <p:sp>
        <p:nvSpPr>
          <p:cNvPr id="10" name="Text 8"/>
          <p:cNvSpPr/>
          <p:nvPr/>
        </p:nvSpPr>
        <p:spPr>
          <a:xfrm>
            <a:off x="914400" y="3530798"/>
            <a:ext cx="5448300" cy="348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1575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days in v1; longer ranges are on the v2 roadmap.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6324600" y="3225998"/>
            <a:ext cx="54483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 there an API?</a:t>
            </a:r>
            <a:endParaRPr lang="en-US" sz="1575" dirty="0"/>
          </a:p>
        </p:txBody>
      </p:sp>
      <p:sp>
        <p:nvSpPr>
          <p:cNvPr id="12" name="Text 10"/>
          <p:cNvSpPr/>
          <p:nvPr/>
        </p:nvSpPr>
        <p:spPr>
          <a:xfrm>
            <a:off x="6324600" y="3530798"/>
            <a:ext cx="5448300" cy="348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1575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on the Enterprise tier, alongside SSO.</a:t>
            </a:r>
            <a:endParaRPr lang="en-US" sz="1575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2DDEC">
                  <a:alpha val="100000"/>
                </a:srgbClr>
              </a:gs>
              <a:gs pos="100000">
                <a:srgbClr val="E9EFF7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762000"/>
            <a:ext cx="1958883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372"/>
              </a:lnSpc>
              <a:buNone/>
            </a:pPr>
            <a:r>
              <a:rPr lang="en-US" sz="1425" spc="314" kern="0" dirty="0">
                <a:solidFill>
                  <a:srgbClr val="B840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IN TOUCH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914400" y="1133475"/>
            <a:ext cx="11399520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42"/>
              </a:lnSpc>
              <a:buNone/>
            </a:pPr>
            <a:r>
              <a:rPr lang="en-US" sz="3900" b="1" spc="-78" kern="0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Let's keep talking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914400" y="1805880"/>
            <a:ext cx="7063740" cy="65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1575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Questions, a demo, or a deeper dive on any of the appendix material — reach out any time.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914400" y="2952155"/>
            <a:ext cx="285750" cy="2476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650" dirty="0">
                <a:solidFill>
                  <a:srgbClr val="B84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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238250" y="2921198"/>
            <a:ext cx="2255341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hello@netbasepro.com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4881786" y="2952155"/>
            <a:ext cx="285750" cy="2476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650" dirty="0">
                <a:solidFill>
                  <a:srgbClr val="B84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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205636" y="2921198"/>
            <a:ext cx="1604293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netbasepro.com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8198123" y="2921198"/>
            <a:ext cx="202406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B840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☎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8438629" y="2921198"/>
            <a:ext cx="1907902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 (415) 555-0142</a:t>
            </a:r>
            <a:endParaRPr lang="en-US" sz="16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2DDEC">
                  <a:alpha val="100000"/>
                </a:srgbClr>
              </a:gs>
              <a:gs pos="100000">
                <a:srgbClr val="E9EFF7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762000"/>
            <a:ext cx="163244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372"/>
              </a:lnSpc>
              <a:buNone/>
            </a:pPr>
            <a:r>
              <a:rPr lang="en-US" sz="1425" spc="314" kern="0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CHECKPOINT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914400" y="1133475"/>
            <a:ext cx="11399520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42"/>
              </a:lnSpc>
              <a:buNone/>
            </a:pPr>
            <a:r>
              <a:rPr lang="en-US" sz="3900" b="1" spc="-78" kern="0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we are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914400" y="2034480"/>
            <a:ext cx="532257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58" kern="0" dirty="0">
                <a:solidFill>
                  <a:srgbClr val="546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WE'VE BEEN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81050" y="2410718"/>
            <a:ext cx="4781550" cy="1143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15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Framed the problem: signal buried under noise</a:t>
            </a:r>
            <a:endParaRPr lang="en-US" sz="1500" dirty="0"/>
          </a:p>
          <a:p>
            <a:pPr algn="l" indent="0" marL="0">
              <a:lnSpc>
                <a:spcPct val="124444"/>
              </a:lnSpc>
              <a:buNone/>
            </a:pPr>
            <a:r>
              <a:rPr lang="en-US" sz="15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Talked to 11 analysts and 3 executives</a:t>
            </a:r>
            <a:endParaRPr lang="en-US" sz="1500" dirty="0"/>
          </a:p>
          <a:p>
            <a:pPr algn="l" indent="0" marL="0">
              <a:lnSpc>
                <a:spcPct val="124444"/>
              </a:lnSpc>
              <a:buNone/>
            </a:pPr>
            <a:r>
              <a:rPr lang="en-US" sz="15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Landed three principles to design against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38900" y="2034480"/>
            <a:ext cx="532257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58" kern="0" dirty="0">
                <a:solidFill>
                  <a:srgbClr val="B840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WE'RE GOING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6305550" y="2410718"/>
            <a:ext cx="4781550" cy="1143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15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design decisions that followed</a:t>
            </a:r>
            <a:endParaRPr lang="en-US" sz="1500" dirty="0"/>
          </a:p>
          <a:p>
            <a:pPr algn="l" indent="0" marL="0">
              <a:lnSpc>
                <a:spcPct val="124444"/>
              </a:lnSpc>
              <a:buNone/>
            </a:pPr>
            <a:r>
              <a:rPr lang="en-US" sz="15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features that closed enterprise deals</a:t>
            </a:r>
            <a:endParaRPr lang="en-US" sz="1500" dirty="0"/>
          </a:p>
          <a:p>
            <a:pPr algn="l" indent="0" marL="0">
              <a:lnSpc>
                <a:spcPct val="124444"/>
              </a:lnSpc>
              <a:buNone/>
            </a:pPr>
            <a:r>
              <a:rPr lang="en-US" sz="15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actually moved after launch</a:t>
            </a:r>
            <a:endParaRPr lang="en-US" sz="15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2DDEC">
                  <a:alpha val="100000"/>
                </a:srgbClr>
              </a:gs>
              <a:gs pos="100000">
                <a:srgbClr val="E9EFF7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606996"/>
            <a:ext cx="126340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372"/>
              </a:lnSpc>
              <a:buNone/>
            </a:pPr>
            <a:r>
              <a:rPr lang="en-US" sz="1425" spc="314" kern="0" dirty="0">
                <a:solidFill>
                  <a:srgbClr val="B840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IDEA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914400" y="1016571"/>
            <a:ext cx="2087835" cy="2918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761"/>
              </a:lnSpc>
              <a:buNone/>
            </a:pPr>
            <a:r>
              <a:rPr lang="en-US" sz="5400" b="1" spc="-108" kern="0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Trust is a UI problem.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914400" y="4125292"/>
            <a:ext cx="2087835" cy="216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273"/>
              </a:lnSpc>
              <a:buNone/>
            </a:pPr>
            <a:r>
              <a:rPr lang="en-US" sz="1800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believe a number when they can reach its source — proximity beats persuasion, every time.</a:t>
            </a:r>
            <a:endParaRPr lang="en-US" sz="18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2DDEC">
                  <a:alpha val="100000"/>
                </a:srgbClr>
              </a:gs>
              <a:gs pos="100000">
                <a:srgbClr val="E9EFF7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762000"/>
            <a:ext cx="3505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b="1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41165" y="785813"/>
            <a:ext cx="146922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372"/>
              </a:lnSpc>
              <a:buNone/>
            </a:pPr>
            <a:r>
              <a:rPr lang="en-US" sz="1425" spc="314" kern="0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TWO PATHS</a:t>
            </a:r>
            <a:endParaRPr lang="en-US" sz="1425" dirty="0"/>
          </a:p>
        </p:txBody>
      </p:sp>
      <p:sp>
        <p:nvSpPr>
          <p:cNvPr id="5" name="Text 3"/>
          <p:cNvSpPr/>
          <p:nvPr/>
        </p:nvSpPr>
        <p:spPr>
          <a:xfrm>
            <a:off x="914400" y="1181100"/>
            <a:ext cx="11399520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42"/>
              </a:lnSpc>
              <a:buNone/>
            </a:pPr>
            <a:r>
              <a:rPr lang="en-US" sz="3900" b="1" spc="-78" kern="0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Rebuild vs. refactor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914400" y="2082105"/>
            <a:ext cx="5029200" cy="28575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0" dist="171450" dir="5400000">
              <a:srgbClr val="141C28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4930080"/>
            <a:ext cx="5029200" cy="9525"/>
          </a:xfrm>
          <a:prstGeom prst="rect">
            <a:avLst/>
          </a:prstGeom>
          <a:solidFill>
            <a:srgbClr val="C4D3E6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2082105"/>
            <a:ext cx="5029200" cy="38100"/>
          </a:xfrm>
          <a:prstGeom prst="rect">
            <a:avLst/>
          </a:prstGeom>
          <a:solidFill>
            <a:srgbClr val="C4D3E6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2082105"/>
            <a:ext cx="9525" cy="2857500"/>
          </a:xfrm>
          <a:prstGeom prst="rect">
            <a:avLst/>
          </a:prstGeom>
          <a:solidFill>
            <a:srgbClr val="C4D3E6"/>
          </a:solidFill>
          <a:ln/>
        </p:spPr>
      </p:sp>
      <p:sp>
        <p:nvSpPr>
          <p:cNvPr id="10" name="Shape 8"/>
          <p:cNvSpPr/>
          <p:nvPr/>
        </p:nvSpPr>
        <p:spPr>
          <a:xfrm>
            <a:off x="5934075" y="2082105"/>
            <a:ext cx="9525" cy="2857500"/>
          </a:xfrm>
          <a:prstGeom prst="rect">
            <a:avLst/>
          </a:prstGeom>
          <a:solidFill>
            <a:srgbClr val="C4D3E6"/>
          </a:solidFill>
          <a:ln/>
        </p:spPr>
      </p:sp>
      <p:sp>
        <p:nvSpPr>
          <p:cNvPr id="11" name="Text 9"/>
          <p:cNvSpPr/>
          <p:nvPr/>
        </p:nvSpPr>
        <p:spPr>
          <a:xfrm>
            <a:off x="1228725" y="2425005"/>
            <a:ext cx="484060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Refactor the old app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5375" y="2948880"/>
            <a:ext cx="4610100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15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to ship — weeks, not months</a:t>
            </a:r>
            <a:endParaRPr lang="en-US" sz="1500" dirty="0"/>
          </a:p>
          <a:p>
            <a:pPr algn="l" indent="0" marL="0">
              <a:lnSpc>
                <a:spcPct val="124444"/>
              </a:lnSpc>
              <a:buNone/>
            </a:pPr>
            <a:r>
              <a:rPr lang="en-US" sz="15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the team on familiar ground</a:t>
            </a:r>
            <a:endParaRPr lang="en-US" sz="1500" dirty="0"/>
          </a:p>
          <a:p>
            <a:pPr algn="l" indent="0" marL="0">
              <a:lnSpc>
                <a:spcPct val="124444"/>
              </a:lnSpc>
              <a:buNone/>
            </a:pPr>
            <a:r>
              <a:rPr lang="en-US" sz="15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Carries the legacy data model forward</a:t>
            </a:r>
            <a:endParaRPr lang="en-US" sz="1500" dirty="0"/>
          </a:p>
          <a:p>
            <a:pPr algn="l" indent="0" marL="0">
              <a:lnSpc>
                <a:spcPct val="124444"/>
              </a:lnSpc>
              <a:buNone/>
            </a:pPr>
            <a:r>
              <a:rPr lang="en-US" sz="15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Ceiling on how much can actually change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48400" y="2082105"/>
            <a:ext cx="5029200" cy="28575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0" dist="171450" dir="5400000">
              <a:srgbClr val="141C28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48400" y="4930080"/>
            <a:ext cx="5029200" cy="9525"/>
          </a:xfrm>
          <a:prstGeom prst="rect">
            <a:avLst/>
          </a:prstGeom>
          <a:solidFill>
            <a:srgbClr val="C4D3E6"/>
          </a:solidFill>
          <a:ln/>
        </p:spPr>
      </p:sp>
      <p:sp>
        <p:nvSpPr>
          <p:cNvPr id="15" name="Shape 13"/>
          <p:cNvSpPr/>
          <p:nvPr/>
        </p:nvSpPr>
        <p:spPr>
          <a:xfrm>
            <a:off x="6248400" y="2082105"/>
            <a:ext cx="5029200" cy="38100"/>
          </a:xfrm>
          <a:prstGeom prst="rect">
            <a:avLst/>
          </a:prstGeom>
          <a:solidFill>
            <a:srgbClr val="B8401B"/>
          </a:solidFill>
          <a:ln/>
        </p:spPr>
      </p:sp>
      <p:sp>
        <p:nvSpPr>
          <p:cNvPr id="16" name="Shape 14"/>
          <p:cNvSpPr/>
          <p:nvPr/>
        </p:nvSpPr>
        <p:spPr>
          <a:xfrm>
            <a:off x="6248400" y="2082105"/>
            <a:ext cx="9525" cy="2857500"/>
          </a:xfrm>
          <a:prstGeom prst="rect">
            <a:avLst/>
          </a:prstGeom>
          <a:solidFill>
            <a:srgbClr val="C4D3E6"/>
          </a:solidFill>
          <a:ln/>
        </p:spPr>
      </p:sp>
      <p:sp>
        <p:nvSpPr>
          <p:cNvPr id="17" name="Shape 15"/>
          <p:cNvSpPr/>
          <p:nvPr/>
        </p:nvSpPr>
        <p:spPr>
          <a:xfrm>
            <a:off x="11268075" y="2082105"/>
            <a:ext cx="9525" cy="2857500"/>
          </a:xfrm>
          <a:prstGeom prst="rect">
            <a:avLst/>
          </a:prstGeom>
          <a:solidFill>
            <a:srgbClr val="C4D3E6"/>
          </a:solidFill>
          <a:ln/>
        </p:spPr>
      </p:sp>
      <p:sp>
        <p:nvSpPr>
          <p:cNvPr id="18" name="Text 16"/>
          <p:cNvSpPr/>
          <p:nvPr/>
        </p:nvSpPr>
        <p:spPr>
          <a:xfrm>
            <a:off x="6562725" y="2425005"/>
            <a:ext cx="484060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Rebuild from the metric up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29375" y="2948880"/>
            <a:ext cx="4610100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15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clean model built for the live pipeline</a:t>
            </a:r>
            <a:endParaRPr lang="en-US" sz="1500" dirty="0"/>
          </a:p>
          <a:p>
            <a:pPr algn="l" indent="0" marL="0">
              <a:lnSpc>
                <a:spcPct val="124444"/>
              </a:lnSpc>
              <a:buNone/>
            </a:pPr>
            <a:r>
              <a:rPr lang="en-US" sz="15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to rethink the whole hierarchy</a:t>
            </a:r>
            <a:endParaRPr lang="en-US" sz="1500" dirty="0"/>
          </a:p>
          <a:p>
            <a:pPr algn="l" indent="0" marL="0">
              <a:lnSpc>
                <a:spcPct val="124444"/>
              </a:lnSpc>
              <a:buNone/>
            </a:pPr>
            <a:r>
              <a:rPr lang="en-US" sz="15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cost and longer runway</a:t>
            </a:r>
            <a:endParaRPr lang="en-US" sz="1500" dirty="0"/>
          </a:p>
          <a:p>
            <a:pPr algn="l" indent="0" marL="0">
              <a:lnSpc>
                <a:spcPct val="124444"/>
              </a:lnSpc>
              <a:buNone/>
            </a:pPr>
            <a:r>
              <a:rPr lang="en-US" sz="15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bet that actually paid off</a:t>
            </a:r>
            <a:endParaRPr lang="en-US" sz="15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2DDEC">
                  <a:alpha val="100000"/>
                </a:srgbClr>
              </a:gs>
              <a:gs pos="100000">
                <a:srgbClr val="E9EFF7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762000"/>
            <a:ext cx="3505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b="1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41165" y="785813"/>
            <a:ext cx="3428107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372"/>
              </a:lnSpc>
              <a:buNone/>
            </a:pPr>
            <a:r>
              <a:rPr lang="en-US" sz="1425" spc="314" kern="0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SEATS CAME FROM</a:t>
            </a:r>
            <a:endParaRPr lang="en-US" sz="1425" dirty="0"/>
          </a:p>
        </p:txBody>
      </p:sp>
      <p:sp>
        <p:nvSpPr>
          <p:cNvPr id="5" name="Text 3"/>
          <p:cNvSpPr/>
          <p:nvPr/>
        </p:nvSpPr>
        <p:spPr>
          <a:xfrm>
            <a:off x="914400" y="1181100"/>
            <a:ext cx="11399520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42"/>
              </a:lnSpc>
              <a:buNone/>
            </a:pPr>
            <a:r>
              <a:rPr lang="en-US" sz="3900" b="1" spc="-78" kern="0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Composition of new accounts</a:t>
            </a:r>
            <a:endParaRPr lang="en-US" sz="3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-5400000">
            <a:off x="914400" y="2044005"/>
            <a:ext cx="2667000" cy="2667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91000" y="2820293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1976D2"/>
          </a:solidFill>
          <a:ln/>
        </p:spPr>
      </p:sp>
      <p:sp>
        <p:nvSpPr>
          <p:cNvPr id="8" name="Text 5"/>
          <p:cNvSpPr/>
          <p:nvPr/>
        </p:nvSpPr>
        <p:spPr>
          <a:xfrm>
            <a:off x="4476750" y="2760762"/>
            <a:ext cx="2570098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 </a:t>
            </a:r>
            <a:pPr algn="l" indent="0" marL="0">
              <a:buNone/>
            </a:pPr>
            <a:r>
              <a:rPr lang="en-US" sz="165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Free-tier upgrades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4191000" y="3301305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B8401B"/>
          </a:solidFill>
          <a:ln/>
        </p:spPr>
      </p:sp>
      <p:sp>
        <p:nvSpPr>
          <p:cNvPr id="10" name="Text 7"/>
          <p:cNvSpPr/>
          <p:nvPr/>
        </p:nvSpPr>
        <p:spPr>
          <a:xfrm>
            <a:off x="4476750" y="3241774"/>
            <a:ext cx="2144368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</a:t>
            </a:r>
            <a:pPr algn="l" indent="0" marL="0">
              <a:buNone/>
            </a:pPr>
            <a:r>
              <a:rPr lang="en-US" sz="165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Net-new logos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4191000" y="3782318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2E7D32"/>
          </a:solidFill>
          <a:ln/>
        </p:spPr>
      </p:sp>
      <p:sp>
        <p:nvSpPr>
          <p:cNvPr id="12" name="Text 9"/>
          <p:cNvSpPr/>
          <p:nvPr/>
        </p:nvSpPr>
        <p:spPr>
          <a:xfrm>
            <a:off x="4476750" y="3722787"/>
            <a:ext cx="2345405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 </a:t>
            </a:r>
            <a:pPr algn="l" indent="0" marL="0">
              <a:buNone/>
            </a:pPr>
            <a:r>
              <a:rPr lang="en-US" sz="165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Partner referrals</a:t>
            </a:r>
            <a:endParaRPr lang="en-US" sz="165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2DDEC">
                  <a:alpha val="100000"/>
                </a:srgbClr>
              </a:gs>
              <a:gs pos="100000">
                <a:srgbClr val="E9EFF7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762000"/>
            <a:ext cx="3505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b="1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41165" y="785813"/>
            <a:ext cx="1795663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372"/>
              </a:lnSpc>
              <a:buNone/>
            </a:pPr>
            <a:r>
              <a:rPr lang="en-US" sz="1425" spc="314" kern="0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NUMBERS</a:t>
            </a:r>
            <a:endParaRPr lang="en-US" sz="1425" dirty="0"/>
          </a:p>
        </p:txBody>
      </p:sp>
      <p:sp>
        <p:nvSpPr>
          <p:cNvPr id="5" name="Text 3"/>
          <p:cNvSpPr/>
          <p:nvPr/>
        </p:nvSpPr>
        <p:spPr>
          <a:xfrm>
            <a:off x="914400" y="1181100"/>
            <a:ext cx="11399520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42"/>
              </a:lnSpc>
              <a:buNone/>
            </a:pPr>
            <a:r>
              <a:rPr lang="en-US" sz="3900" b="1" spc="-78" kern="0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Quarter-by-quarter detail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914400" y="2463105"/>
            <a:ext cx="10363200" cy="19050"/>
          </a:xfrm>
          <a:prstGeom prst="rect">
            <a:avLst/>
          </a:prstGeom>
          <a:solidFill>
            <a:srgbClr val="C4D3E6"/>
          </a:solidFill>
          <a:ln/>
        </p:spPr>
      </p:sp>
      <p:sp>
        <p:nvSpPr>
          <p:cNvPr id="7" name="Text 5"/>
          <p:cNvSpPr/>
          <p:nvPr/>
        </p:nvSpPr>
        <p:spPr>
          <a:xfrm>
            <a:off x="1066800" y="2177355"/>
            <a:ext cx="195582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125" b="1" spc="68" kern="0" dirty="0">
                <a:solidFill>
                  <a:srgbClr val="58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QUARTER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3175025" y="2177355"/>
            <a:ext cx="215741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125" b="1" spc="68" kern="0" dirty="0">
                <a:solidFill>
                  <a:srgbClr val="58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SEATS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5561037" y="2177355"/>
            <a:ext cx="196244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125" b="1" spc="68" kern="0" dirty="0">
                <a:solidFill>
                  <a:srgbClr val="58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UPGRADES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7752085" y="2177355"/>
            <a:ext cx="137710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125" b="1" spc="68" kern="0" dirty="0">
                <a:solidFill>
                  <a:srgbClr val="58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CHURN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9357792" y="2177355"/>
            <a:ext cx="176740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125" b="1" spc="68" kern="0" dirty="0">
                <a:solidFill>
                  <a:srgbClr val="58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 ARR</a:t>
            </a:r>
            <a:endParaRPr lang="en-US" sz="1125" dirty="0"/>
          </a:p>
        </p:txBody>
      </p:sp>
      <p:sp>
        <p:nvSpPr>
          <p:cNvPr id="12" name="Shape 10"/>
          <p:cNvSpPr/>
          <p:nvPr/>
        </p:nvSpPr>
        <p:spPr>
          <a:xfrm>
            <a:off x="914400" y="3001268"/>
            <a:ext cx="10363200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13" name="Text 11"/>
          <p:cNvSpPr/>
          <p:nvPr/>
        </p:nvSpPr>
        <p:spPr>
          <a:xfrm>
            <a:off x="1066800" y="2615505"/>
            <a:ext cx="195582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2019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175025" y="2615505"/>
            <a:ext cx="215741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5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561037" y="2615505"/>
            <a:ext cx="196244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5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752085" y="2615505"/>
            <a:ext cx="137710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5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357792" y="2615505"/>
            <a:ext cx="176740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5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$120k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14400" y="3525143"/>
            <a:ext cx="10363200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19" name="Text 17"/>
          <p:cNvSpPr/>
          <p:nvPr/>
        </p:nvSpPr>
        <p:spPr>
          <a:xfrm>
            <a:off x="1066800" y="3144143"/>
            <a:ext cx="195582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2019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175025" y="3144143"/>
            <a:ext cx="215741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5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561037" y="3144143"/>
            <a:ext cx="196244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5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752085" y="3144143"/>
            <a:ext cx="137710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5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357792" y="3144143"/>
            <a:ext cx="176740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5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$340k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914400" y="4049018"/>
            <a:ext cx="10363200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25" name="Text 23"/>
          <p:cNvSpPr/>
          <p:nvPr/>
        </p:nvSpPr>
        <p:spPr>
          <a:xfrm>
            <a:off x="1066800" y="3668018"/>
            <a:ext cx="195582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2019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175025" y="3668018"/>
            <a:ext cx="215741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5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561037" y="3668018"/>
            <a:ext cx="196244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5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752085" y="3668018"/>
            <a:ext cx="137710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5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357792" y="3668018"/>
            <a:ext cx="176740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5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$290k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914400" y="4534793"/>
            <a:ext cx="10363200" cy="19050"/>
          </a:xfrm>
          <a:prstGeom prst="rect">
            <a:avLst/>
          </a:prstGeom>
          <a:solidFill>
            <a:srgbClr val="C4D3E6"/>
          </a:solidFill>
          <a:ln/>
        </p:spPr>
      </p:sp>
      <p:sp>
        <p:nvSpPr>
          <p:cNvPr id="31" name="Text 29"/>
          <p:cNvSpPr/>
          <p:nvPr/>
        </p:nvSpPr>
        <p:spPr>
          <a:xfrm>
            <a:off x="1066800" y="4191893"/>
            <a:ext cx="195582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3175025" y="4191893"/>
            <a:ext cx="215741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561037" y="4191893"/>
            <a:ext cx="196244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752085" y="4191893"/>
            <a:ext cx="137710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9357792" y="4191893"/>
            <a:ext cx="176740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$750k</a:t>
            </a:r>
            <a:endParaRPr lang="en-US" sz="15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2DDEC">
                  <a:alpha val="100000"/>
                </a:srgbClr>
              </a:gs>
              <a:gs pos="100000">
                <a:srgbClr val="E9EFF7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762000"/>
            <a:ext cx="3505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b="1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41165" y="785813"/>
            <a:ext cx="1795663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372"/>
              </a:lnSpc>
              <a:buNone/>
            </a:pPr>
            <a:r>
              <a:rPr lang="en-US" sz="1425" spc="314" kern="0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A GLANCE</a:t>
            </a:r>
            <a:endParaRPr lang="en-US" sz="1425" dirty="0"/>
          </a:p>
        </p:txBody>
      </p:sp>
      <p:sp>
        <p:nvSpPr>
          <p:cNvPr id="5" name="Text 3"/>
          <p:cNvSpPr/>
          <p:nvPr/>
        </p:nvSpPr>
        <p:spPr>
          <a:xfrm>
            <a:off x="914400" y="1181100"/>
            <a:ext cx="11399520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42"/>
              </a:lnSpc>
              <a:buNone/>
            </a:pPr>
            <a:r>
              <a:rPr lang="en-US" sz="3900" b="1" spc="-78" kern="0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Four numbers, this quarter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914400" y="2120205"/>
            <a:ext cx="2419350" cy="1738313"/>
          </a:xfrm>
          <a:prstGeom prst="roundRect">
            <a:avLst>
              <a:gd name="adj" fmla="val 7671"/>
            </a:avLst>
          </a:prstGeom>
          <a:solidFill>
            <a:srgbClr val="FFFFFF"/>
          </a:solidFill>
          <a:ln w="9525">
            <a:solidFill>
              <a:srgbClr val="C4D3E6"/>
            </a:solidFill>
            <a:prstDash val="solid"/>
          </a:ln>
          <a:effectLst>
            <a:outerShdw sx="100000" sy="100000" kx="0" ky="0" algn="bl" rotWithShape="0" blurRad="381000" dist="171450" dir="5400000">
              <a:srgbClr val="141C28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09675" y="2396430"/>
            <a:ext cx="201168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58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SEATS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1209675" y="2672655"/>
            <a:ext cx="201168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189"/>
              </a:lnSpc>
              <a:buNone/>
            </a:pPr>
            <a:r>
              <a:rPr lang="en-US" sz="420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1209675" y="3358455"/>
            <a:ext cx="937468" cy="219075"/>
          </a:xfrm>
          <a:prstGeom prst="roundRect">
            <a:avLst>
              <a:gd name="adj" fmla="val 50000"/>
            </a:avLst>
          </a:prstGeom>
          <a:solidFill>
            <a:srgbClr val="2E7D32">
              <a:alpha val="12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304925" y="3396555"/>
            <a:ext cx="219075" cy="1809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125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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1514475" y="3391793"/>
            <a:ext cx="613618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500"/>
              </a:lnSpc>
              <a:buNone/>
            </a:pPr>
            <a:r>
              <a:rPr lang="en-US" sz="10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 vs Q1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562350" y="2120205"/>
            <a:ext cx="2419350" cy="1738313"/>
          </a:xfrm>
          <a:prstGeom prst="roundRect">
            <a:avLst>
              <a:gd name="adj" fmla="val 7671"/>
            </a:avLst>
          </a:prstGeom>
          <a:solidFill>
            <a:srgbClr val="FFFFFF"/>
          </a:solidFill>
          <a:ln w="9525">
            <a:solidFill>
              <a:srgbClr val="C4D3E6"/>
            </a:solidFill>
            <a:prstDash val="solid"/>
          </a:ln>
          <a:effectLst>
            <a:outerShdw sx="100000" sy="100000" kx="0" ky="0" algn="bl" rotWithShape="0" blurRad="381000" dist="171450" dir="5400000">
              <a:srgbClr val="141C28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857625" y="2396430"/>
            <a:ext cx="201168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58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 SUCCESS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3857625" y="2672655"/>
            <a:ext cx="201168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189"/>
              </a:lnSpc>
              <a:buNone/>
            </a:pPr>
            <a:r>
              <a:rPr lang="en-US" sz="420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</a:t>
            </a:r>
            <a:pPr algn="l" indent="0" marL="0">
              <a:lnSpc>
                <a:spcPct val="88189"/>
              </a:lnSpc>
              <a:buNone/>
            </a:pPr>
            <a:r>
              <a:rPr lang="en-US" sz="2250" b="1" dirty="0">
                <a:solidFill>
                  <a:srgbClr val="546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4200" dirty="0"/>
          </a:p>
        </p:txBody>
      </p:sp>
      <p:sp>
        <p:nvSpPr>
          <p:cNvPr id="15" name="Shape 13"/>
          <p:cNvSpPr/>
          <p:nvPr/>
        </p:nvSpPr>
        <p:spPr>
          <a:xfrm>
            <a:off x="3857625" y="3358455"/>
            <a:ext cx="841251" cy="219075"/>
          </a:xfrm>
          <a:prstGeom prst="roundRect">
            <a:avLst>
              <a:gd name="adj" fmla="val 50000"/>
            </a:avLst>
          </a:prstGeom>
          <a:solidFill>
            <a:srgbClr val="2E7D32">
              <a:alpha val="12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952875" y="3396555"/>
            <a:ext cx="219075" cy="1809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125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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4162425" y="3391793"/>
            <a:ext cx="517401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500"/>
              </a:lnSpc>
              <a:buNone/>
            </a:pPr>
            <a:r>
              <a:rPr lang="en-US" sz="10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+24 pts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10300" y="2120205"/>
            <a:ext cx="2419350" cy="1738313"/>
          </a:xfrm>
          <a:prstGeom prst="roundRect">
            <a:avLst>
              <a:gd name="adj" fmla="val 7671"/>
            </a:avLst>
          </a:prstGeom>
          <a:solidFill>
            <a:srgbClr val="FFFFFF"/>
          </a:solidFill>
          <a:ln w="9525">
            <a:solidFill>
              <a:srgbClr val="C4D3E6"/>
            </a:solidFill>
            <a:prstDash val="solid"/>
          </a:ln>
          <a:effectLst>
            <a:outerShdw sx="100000" sy="100000" kx="0" ky="0" algn="bl" rotWithShape="0" blurRad="381000" dist="171450" dir="5400000">
              <a:srgbClr val="141C28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505575" y="2396430"/>
            <a:ext cx="201168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58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REPORTING TIME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6505575" y="2672655"/>
            <a:ext cx="201168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189"/>
              </a:lnSpc>
              <a:buNone/>
            </a:pPr>
            <a:r>
              <a:rPr lang="en-US" sz="420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ct val="88189"/>
              </a:lnSpc>
              <a:buNone/>
            </a:pPr>
            <a:r>
              <a:rPr lang="en-US" sz="2250" b="1" dirty="0">
                <a:solidFill>
                  <a:srgbClr val="546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</a:t>
            </a:r>
            <a:endParaRPr lang="en-US" sz="4200" dirty="0"/>
          </a:p>
        </p:txBody>
      </p:sp>
      <p:sp>
        <p:nvSpPr>
          <p:cNvPr id="21" name="Shape 19"/>
          <p:cNvSpPr/>
          <p:nvPr/>
        </p:nvSpPr>
        <p:spPr>
          <a:xfrm>
            <a:off x="6505575" y="3358455"/>
            <a:ext cx="922660" cy="219075"/>
          </a:xfrm>
          <a:prstGeom prst="roundRect">
            <a:avLst>
              <a:gd name="adj" fmla="val 50000"/>
            </a:avLst>
          </a:prstGeom>
          <a:solidFill>
            <a:srgbClr val="2E7D32">
              <a:alpha val="12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600825" y="3396555"/>
            <a:ext cx="219075" cy="1809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125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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6810375" y="3391793"/>
            <a:ext cx="59881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500"/>
              </a:lnSpc>
              <a:buNone/>
            </a:pPr>
            <a:r>
              <a:rPr lang="en-US" sz="10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8× faster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858250" y="2120205"/>
            <a:ext cx="2419350" cy="1738313"/>
          </a:xfrm>
          <a:prstGeom prst="roundRect">
            <a:avLst>
              <a:gd name="adj" fmla="val 7671"/>
            </a:avLst>
          </a:prstGeom>
          <a:solidFill>
            <a:srgbClr val="FFFFFF"/>
          </a:solidFill>
          <a:ln w="9525">
            <a:solidFill>
              <a:srgbClr val="C4D3E6"/>
            </a:solidFill>
            <a:prstDash val="solid"/>
          </a:ln>
          <a:effectLst>
            <a:outerShdw sx="100000" sy="100000" kx="0" ky="0" algn="bl" rotWithShape="0" blurRad="381000" dist="171450" dir="5400000">
              <a:srgbClr val="141C28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153525" y="2396430"/>
            <a:ext cx="201168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58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CHURN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9153525" y="2672655"/>
            <a:ext cx="201168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189"/>
              </a:lnSpc>
              <a:buNone/>
            </a:pPr>
            <a:r>
              <a:rPr lang="en-US" sz="420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4200" dirty="0"/>
          </a:p>
        </p:txBody>
      </p:sp>
      <p:sp>
        <p:nvSpPr>
          <p:cNvPr id="27" name="Shape 25"/>
          <p:cNvSpPr/>
          <p:nvPr/>
        </p:nvSpPr>
        <p:spPr>
          <a:xfrm>
            <a:off x="9153525" y="3358455"/>
            <a:ext cx="1400845" cy="219075"/>
          </a:xfrm>
          <a:prstGeom prst="roundRect">
            <a:avLst>
              <a:gd name="adj" fmla="val 50000"/>
            </a:avLst>
          </a:prstGeom>
          <a:solidFill>
            <a:srgbClr val="2E7D32">
              <a:alpha val="12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9248775" y="3396555"/>
            <a:ext cx="219075" cy="1809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125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</a:t>
            </a:r>
            <a:endParaRPr lang="en-US" sz="1125" dirty="0"/>
          </a:p>
        </p:txBody>
      </p:sp>
      <p:sp>
        <p:nvSpPr>
          <p:cNvPr id="29" name="Text 27"/>
          <p:cNvSpPr/>
          <p:nvPr/>
        </p:nvSpPr>
        <p:spPr>
          <a:xfrm>
            <a:off x="9458325" y="3391793"/>
            <a:ext cx="1076995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500"/>
              </a:lnSpc>
              <a:buNone/>
            </a:pPr>
            <a:r>
              <a:rPr lang="en-US" sz="10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this quarter</a:t>
            </a:r>
            <a:endParaRPr lang="en-US" sz="105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2DDEC">
                  <a:alpha val="100000"/>
                </a:srgbClr>
              </a:gs>
              <a:gs pos="100000">
                <a:srgbClr val="E9EFF7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762000"/>
            <a:ext cx="3505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b="1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41165" y="785813"/>
            <a:ext cx="1958883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372"/>
              </a:lnSpc>
              <a:buNone/>
            </a:pPr>
            <a:r>
              <a:rPr lang="en-US" sz="1425" spc="314" kern="0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YOU GET</a:t>
            </a:r>
            <a:endParaRPr lang="en-US" sz="1425" dirty="0"/>
          </a:p>
        </p:txBody>
      </p:sp>
      <p:sp>
        <p:nvSpPr>
          <p:cNvPr id="5" name="Text 3"/>
          <p:cNvSpPr/>
          <p:nvPr/>
        </p:nvSpPr>
        <p:spPr>
          <a:xfrm>
            <a:off x="914400" y="1181100"/>
            <a:ext cx="11399520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42"/>
              </a:lnSpc>
              <a:buNone/>
            </a:pPr>
            <a:r>
              <a:rPr lang="en-US" sz="3900" b="1" spc="-78" kern="0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Three things it does well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914400" y="2120205"/>
            <a:ext cx="3276600" cy="2028825"/>
          </a:xfrm>
          <a:prstGeom prst="roundRect">
            <a:avLst>
              <a:gd name="adj" fmla="val 6573"/>
            </a:avLst>
          </a:prstGeom>
          <a:solidFill>
            <a:srgbClr val="FFFFFF"/>
          </a:solidFill>
          <a:ln w="9525">
            <a:solidFill>
              <a:srgbClr val="C4D3E6"/>
            </a:solidFill>
            <a:prstDash val="solid"/>
          </a:ln>
          <a:effectLst>
            <a:outerShdw sx="100000" sy="100000" kx="0" ky="0" algn="bl" rotWithShape="0" blurRad="381000" dist="171450" dir="5400000">
              <a:srgbClr val="141C28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90625" y="2415480"/>
            <a:ext cx="438150" cy="438150"/>
          </a:xfrm>
          <a:prstGeom prst="roundRect">
            <a:avLst>
              <a:gd name="adj" fmla="val 21739"/>
            </a:avLst>
          </a:prstGeom>
          <a:solidFill>
            <a:srgbClr val="F4F8FF"/>
          </a:solidFill>
          <a:ln w="9525">
            <a:solidFill>
              <a:srgbClr val="C4D3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5875" y="2510730"/>
            <a:ext cx="323850" cy="2857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6667"/>
              </a:lnSpc>
              <a:buNone/>
            </a:pPr>
            <a:r>
              <a:rPr lang="en-US" sz="1950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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190625" y="3044130"/>
            <a:ext cx="299656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 the signal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190625" y="3396555"/>
            <a:ext cx="280587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730"/>
              </a:lnSpc>
              <a:buNone/>
            </a:pPr>
            <a:r>
              <a:rPr lang="en-US" sz="1200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headline number per view — the rest is a click away when you want it.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57700" y="2120205"/>
            <a:ext cx="3276600" cy="2028825"/>
          </a:xfrm>
          <a:prstGeom prst="roundRect">
            <a:avLst>
              <a:gd name="adj" fmla="val 6573"/>
            </a:avLst>
          </a:prstGeom>
          <a:solidFill>
            <a:srgbClr val="FFFFFF"/>
          </a:solidFill>
          <a:ln w="9525">
            <a:solidFill>
              <a:srgbClr val="C4D3E6"/>
            </a:solidFill>
            <a:prstDash val="solid"/>
          </a:ln>
          <a:effectLst>
            <a:outerShdw sx="100000" sy="100000" kx="0" ky="0" algn="bl" rotWithShape="0" blurRad="381000" dist="171450" dir="5400000">
              <a:srgbClr val="141C28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33925" y="2415480"/>
            <a:ext cx="438150" cy="438150"/>
          </a:xfrm>
          <a:prstGeom prst="roundRect">
            <a:avLst>
              <a:gd name="adj" fmla="val 21739"/>
            </a:avLst>
          </a:prstGeom>
          <a:solidFill>
            <a:srgbClr val="F4F8FF"/>
          </a:solidFill>
          <a:ln w="9525">
            <a:solidFill>
              <a:srgbClr val="C4D3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29175" y="2510730"/>
            <a:ext cx="323850" cy="2857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6667"/>
              </a:lnSpc>
              <a:buNone/>
            </a:pPr>
            <a:r>
              <a:rPr lang="en-US" sz="1950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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4733925" y="3044130"/>
            <a:ext cx="299656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Trust every figure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4733925" y="3396555"/>
            <a:ext cx="280587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730"/>
              </a:lnSpc>
              <a:buNone/>
            </a:pPr>
            <a:r>
              <a:rPr lang="en-US" sz="1200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number carries a one-click path to the data behind it.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01000" y="2120205"/>
            <a:ext cx="3276600" cy="2028825"/>
          </a:xfrm>
          <a:prstGeom prst="roundRect">
            <a:avLst>
              <a:gd name="adj" fmla="val 6573"/>
            </a:avLst>
          </a:prstGeom>
          <a:solidFill>
            <a:srgbClr val="FFFFFF"/>
          </a:solidFill>
          <a:ln w="9525">
            <a:solidFill>
              <a:srgbClr val="C4D3E6"/>
            </a:solidFill>
            <a:prstDash val="solid"/>
          </a:ln>
          <a:effectLst>
            <a:outerShdw sx="100000" sy="100000" kx="0" ky="0" algn="bl" rotWithShape="0" blurRad="381000" dist="171450" dir="5400000">
              <a:srgbClr val="141C28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77225" y="2415480"/>
            <a:ext cx="438150" cy="438150"/>
          </a:xfrm>
          <a:prstGeom prst="roundRect">
            <a:avLst>
              <a:gd name="adj" fmla="val 21739"/>
            </a:avLst>
          </a:prstGeom>
          <a:solidFill>
            <a:srgbClr val="F4F8FF"/>
          </a:solidFill>
          <a:ln w="9525">
            <a:solidFill>
              <a:srgbClr val="C4D3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72475" y="2510730"/>
            <a:ext cx="323850" cy="2857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6667"/>
              </a:lnSpc>
              <a:buNone/>
            </a:pPr>
            <a:r>
              <a:rPr lang="en-US" sz="1950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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8277225" y="3044130"/>
            <a:ext cx="299656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 in real time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8277225" y="3396555"/>
            <a:ext cx="280587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730"/>
              </a:lnSpc>
              <a:buNone/>
            </a:pPr>
            <a:r>
              <a:rPr lang="en-US" sz="1200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 fire the moment a threshold breaks, not the next morning.</a:t>
            </a:r>
            <a:endParaRPr lang="en-US" sz="12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2DDEC">
                  <a:alpha val="100000"/>
                </a:srgbClr>
              </a:gs>
              <a:gs pos="100000">
                <a:srgbClr val="E9EFF7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762000"/>
            <a:ext cx="3505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b="1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41165" y="785813"/>
            <a:ext cx="1958883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372"/>
              </a:lnSpc>
              <a:buNone/>
            </a:pPr>
            <a:r>
              <a:rPr lang="en-US" sz="1425" spc="314" kern="0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IT WORKS</a:t>
            </a:r>
            <a:endParaRPr lang="en-US" sz="1425" dirty="0"/>
          </a:p>
        </p:txBody>
      </p:sp>
      <p:sp>
        <p:nvSpPr>
          <p:cNvPr id="5" name="Text 3"/>
          <p:cNvSpPr/>
          <p:nvPr/>
        </p:nvSpPr>
        <p:spPr>
          <a:xfrm>
            <a:off x="914400" y="1181100"/>
            <a:ext cx="11399520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42"/>
              </a:lnSpc>
              <a:buNone/>
            </a:pPr>
            <a:r>
              <a:rPr lang="en-US" sz="3900" b="1" spc="-78" kern="0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Four steps to a shared read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914400" y="2044005"/>
            <a:ext cx="5715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B840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638300" y="2044005"/>
            <a:ext cx="44901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Pick a template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638300" y="2320230"/>
            <a:ext cx="4490100" cy="348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1575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from a saved view or a blank dashboard.</a:t>
            </a:r>
            <a:endParaRPr lang="en-US" sz="1575" dirty="0"/>
          </a:p>
        </p:txBody>
      </p:sp>
      <p:sp>
        <p:nvSpPr>
          <p:cNvPr id="9" name="Text 7"/>
          <p:cNvSpPr/>
          <p:nvPr/>
        </p:nvSpPr>
        <p:spPr>
          <a:xfrm>
            <a:off x="914400" y="2839789"/>
            <a:ext cx="5715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B840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638300" y="2839789"/>
            <a:ext cx="50301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the metric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638300" y="3116014"/>
            <a:ext cx="5030100" cy="348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1575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the headline number, axes, and thresholds.</a:t>
            </a:r>
            <a:endParaRPr lang="en-US" sz="1575" dirty="0"/>
          </a:p>
        </p:txBody>
      </p:sp>
      <p:sp>
        <p:nvSpPr>
          <p:cNvPr id="12" name="Text 10"/>
          <p:cNvSpPr/>
          <p:nvPr/>
        </p:nvSpPr>
        <p:spPr>
          <a:xfrm>
            <a:off x="914400" y="3635573"/>
            <a:ext cx="5715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B840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638300" y="3635573"/>
            <a:ext cx="417814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Preview the read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638300" y="3911798"/>
            <a:ext cx="4178149" cy="348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1575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the live view exactly as your team will.</a:t>
            </a:r>
            <a:endParaRPr lang="en-US" sz="1575" dirty="0"/>
          </a:p>
        </p:txBody>
      </p:sp>
      <p:sp>
        <p:nvSpPr>
          <p:cNvPr id="15" name="Text 13"/>
          <p:cNvSpPr/>
          <p:nvPr/>
        </p:nvSpPr>
        <p:spPr>
          <a:xfrm>
            <a:off x="914400" y="4431357"/>
            <a:ext cx="5715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B840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638300" y="4431357"/>
            <a:ext cx="404521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 &amp; alert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638300" y="4707582"/>
            <a:ext cx="4045215" cy="348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1575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Publish, schedule, or set real-time alerts.</a:t>
            </a:r>
            <a:endParaRPr lang="en-US" sz="1575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2DDEC">
                  <a:alpha val="100000"/>
                </a:srgbClr>
              </a:gs>
              <a:gs pos="100000">
                <a:srgbClr val="E9EFF7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762000"/>
            <a:ext cx="212218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372"/>
              </a:lnSpc>
              <a:buNone/>
            </a:pPr>
            <a:r>
              <a:rPr lang="en-US" sz="1425" spc="314" kern="0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WE HEARD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914400" y="1133475"/>
            <a:ext cx="11399520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42"/>
              </a:lnSpc>
              <a:buNone/>
            </a:pPr>
            <a:r>
              <a:rPr lang="en-US" sz="3900" b="1" spc="-78" kern="0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their own words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914400" y="2034480"/>
            <a:ext cx="28575" cy="846683"/>
          </a:xfrm>
          <a:prstGeom prst="rect">
            <a:avLst/>
          </a:prstGeom>
          <a:solidFill>
            <a:srgbClr val="B8401B"/>
          </a:solidFill>
          <a:ln/>
        </p:spPr>
      </p:sp>
      <p:sp>
        <p:nvSpPr>
          <p:cNvPr id="6" name="Text 4"/>
          <p:cNvSpPr/>
          <p:nvPr/>
        </p:nvSpPr>
        <p:spPr>
          <a:xfrm>
            <a:off x="1171575" y="2034480"/>
            <a:ext cx="4934807" cy="603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800"/>
              </a:lnSpc>
              <a:buNone/>
            </a:pPr>
            <a:r>
              <a:rPr lang="en-US" sz="1650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“I stopped rebuilding the same report every Monday.”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171575" y="2695426"/>
            <a:ext cx="5270183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Analyst, CPG brand</a:t>
            </a:r>
            <a:endParaRPr lang="en-US" sz="1125" dirty="0"/>
          </a:p>
        </p:txBody>
      </p:sp>
      <p:sp>
        <p:nvSpPr>
          <p:cNvPr id="8" name="Shape 6"/>
          <p:cNvSpPr/>
          <p:nvPr/>
        </p:nvSpPr>
        <p:spPr>
          <a:xfrm>
            <a:off x="6229350" y="2034480"/>
            <a:ext cx="28575" cy="846683"/>
          </a:xfrm>
          <a:prstGeom prst="rect">
            <a:avLst/>
          </a:prstGeom>
          <a:solidFill>
            <a:srgbClr val="B8401B"/>
          </a:solidFill>
          <a:ln/>
        </p:spPr>
      </p:sp>
      <p:sp>
        <p:nvSpPr>
          <p:cNvPr id="9" name="Text 7"/>
          <p:cNvSpPr/>
          <p:nvPr/>
        </p:nvSpPr>
        <p:spPr>
          <a:xfrm>
            <a:off x="6486525" y="2034480"/>
            <a:ext cx="4934807" cy="603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800"/>
              </a:lnSpc>
              <a:buNone/>
            </a:pPr>
            <a:r>
              <a:rPr lang="en-US" sz="1650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“Finally one number I can put in front of the board.”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486525" y="2695426"/>
            <a:ext cx="5270183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VP of Insights</a:t>
            </a:r>
            <a:endParaRPr lang="en-US" sz="1125" dirty="0"/>
          </a:p>
        </p:txBody>
      </p:sp>
      <p:sp>
        <p:nvSpPr>
          <p:cNvPr id="11" name="Shape 9"/>
          <p:cNvSpPr/>
          <p:nvPr/>
        </p:nvSpPr>
        <p:spPr>
          <a:xfrm>
            <a:off x="914400" y="3147864"/>
            <a:ext cx="28575" cy="846683"/>
          </a:xfrm>
          <a:prstGeom prst="rect">
            <a:avLst/>
          </a:prstGeom>
          <a:solidFill>
            <a:srgbClr val="B8401B"/>
          </a:solidFill>
          <a:ln/>
        </p:spPr>
      </p:sp>
      <p:sp>
        <p:nvSpPr>
          <p:cNvPr id="12" name="Text 10"/>
          <p:cNvSpPr/>
          <p:nvPr/>
        </p:nvSpPr>
        <p:spPr>
          <a:xfrm>
            <a:off x="1171575" y="3147864"/>
            <a:ext cx="4934807" cy="603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800"/>
              </a:lnSpc>
              <a:buNone/>
            </a:pPr>
            <a:r>
              <a:rPr lang="en-US" sz="1650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“The source link is why my team trusts it.”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171575" y="3808809"/>
            <a:ext cx="5270183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Head of Analytics</a:t>
            </a:r>
            <a:endParaRPr lang="en-US" sz="1125" dirty="0"/>
          </a:p>
        </p:txBody>
      </p:sp>
      <p:sp>
        <p:nvSpPr>
          <p:cNvPr id="14" name="Shape 12"/>
          <p:cNvSpPr/>
          <p:nvPr/>
        </p:nvSpPr>
        <p:spPr>
          <a:xfrm>
            <a:off x="6229350" y="3147864"/>
            <a:ext cx="28575" cy="846683"/>
          </a:xfrm>
          <a:prstGeom prst="rect">
            <a:avLst/>
          </a:prstGeom>
          <a:solidFill>
            <a:srgbClr val="B8401B"/>
          </a:solidFill>
          <a:ln/>
        </p:spPr>
      </p:sp>
      <p:sp>
        <p:nvSpPr>
          <p:cNvPr id="15" name="Text 13"/>
          <p:cNvSpPr/>
          <p:nvPr/>
        </p:nvSpPr>
        <p:spPr>
          <a:xfrm>
            <a:off x="6486525" y="3147864"/>
            <a:ext cx="4934807" cy="603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800"/>
              </a:lnSpc>
              <a:buNone/>
            </a:pPr>
            <a:r>
              <a:rPr lang="en-US" sz="1650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“Alerts reach me before the story breaks now.”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6486525" y="3808809"/>
            <a:ext cx="5270183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Strategist</a:t>
            </a:r>
            <a:endParaRPr lang="en-US" sz="1125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2DDEC">
                  <a:alpha val="100000"/>
                </a:srgbClr>
              </a:gs>
              <a:gs pos="100000">
                <a:srgbClr val="E9EFF7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762000"/>
            <a:ext cx="212218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372"/>
              </a:lnSpc>
              <a:buNone/>
            </a:pPr>
            <a:r>
              <a:rPr lang="en-US" sz="1425" spc="314" kern="0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COMPARE PLANS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914400" y="1133475"/>
            <a:ext cx="11399520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42"/>
              </a:lnSpc>
              <a:buNone/>
            </a:pPr>
            <a:r>
              <a:rPr lang="en-US" sz="3900" b="1" spc="-78" kern="0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What's in each tier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914400" y="2448818"/>
            <a:ext cx="3649712" cy="19050"/>
          </a:xfrm>
          <a:prstGeom prst="rect">
            <a:avLst/>
          </a:prstGeom>
          <a:solidFill>
            <a:srgbClr val="C4D3E6"/>
          </a:solidFill>
          <a:ln/>
        </p:spPr>
      </p:sp>
      <p:sp>
        <p:nvSpPr>
          <p:cNvPr id="6" name="Text 4"/>
          <p:cNvSpPr/>
          <p:nvPr/>
        </p:nvSpPr>
        <p:spPr>
          <a:xfrm>
            <a:off x="1104900" y="2129730"/>
            <a:ext cx="3378203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84" kern="0" dirty="0">
                <a:solidFill>
                  <a:srgbClr val="58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64112" y="2448818"/>
            <a:ext cx="2035597" cy="19050"/>
          </a:xfrm>
          <a:prstGeom prst="rect">
            <a:avLst/>
          </a:prstGeom>
          <a:solidFill>
            <a:srgbClr val="C4D3E6"/>
          </a:solidFill>
          <a:ln/>
        </p:spPr>
      </p:sp>
      <p:sp>
        <p:nvSpPr>
          <p:cNvPr id="8" name="Text 6"/>
          <p:cNvSpPr/>
          <p:nvPr/>
        </p:nvSpPr>
        <p:spPr>
          <a:xfrm>
            <a:off x="4716512" y="2129730"/>
            <a:ext cx="1730797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spc="84" kern="0" dirty="0">
                <a:solidFill>
                  <a:srgbClr val="58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STARTER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599709" y="2448818"/>
            <a:ext cx="2097063" cy="19050"/>
          </a:xfrm>
          <a:prstGeom prst="rect">
            <a:avLst/>
          </a:prstGeom>
          <a:solidFill>
            <a:srgbClr val="C4D3E6"/>
          </a:solidFill>
          <a:ln/>
        </p:spPr>
      </p:sp>
      <p:sp>
        <p:nvSpPr>
          <p:cNvPr id="10" name="Text 8"/>
          <p:cNvSpPr/>
          <p:nvPr/>
        </p:nvSpPr>
        <p:spPr>
          <a:xfrm>
            <a:off x="6752109" y="2129730"/>
            <a:ext cx="1792263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spc="84" kern="0" dirty="0">
                <a:solidFill>
                  <a:srgbClr val="58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696771" y="2448818"/>
            <a:ext cx="2580829" cy="19050"/>
          </a:xfrm>
          <a:prstGeom prst="rect">
            <a:avLst/>
          </a:prstGeom>
          <a:solidFill>
            <a:srgbClr val="C4D3E6"/>
          </a:solidFill>
          <a:ln/>
        </p:spPr>
      </p:sp>
      <p:sp>
        <p:nvSpPr>
          <p:cNvPr id="12" name="Text 10"/>
          <p:cNvSpPr/>
          <p:nvPr/>
        </p:nvSpPr>
        <p:spPr>
          <a:xfrm>
            <a:off x="8848559" y="2129730"/>
            <a:ext cx="2277253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spc="84" kern="0" dirty="0">
                <a:solidFill>
                  <a:srgbClr val="58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ENTERPRISE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14400" y="3010793"/>
            <a:ext cx="3649712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14" name="Text 12"/>
          <p:cNvSpPr/>
          <p:nvPr/>
        </p:nvSpPr>
        <p:spPr>
          <a:xfrm>
            <a:off x="1104900" y="2639318"/>
            <a:ext cx="337820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564112" y="3010793"/>
            <a:ext cx="2035597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16" name="Text 14"/>
          <p:cNvSpPr/>
          <p:nvPr/>
        </p:nvSpPr>
        <p:spPr>
          <a:xfrm>
            <a:off x="4716512" y="2639318"/>
            <a:ext cx="173079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99709" y="3010793"/>
            <a:ext cx="2097063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18" name="Text 16"/>
          <p:cNvSpPr/>
          <p:nvPr/>
        </p:nvSpPr>
        <p:spPr>
          <a:xfrm>
            <a:off x="6752109" y="2639318"/>
            <a:ext cx="179226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Unlimited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696771" y="3010793"/>
            <a:ext cx="2580829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20" name="Text 18"/>
          <p:cNvSpPr/>
          <p:nvPr/>
        </p:nvSpPr>
        <p:spPr>
          <a:xfrm>
            <a:off x="8848559" y="2639318"/>
            <a:ext cx="227725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Unlimited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14400" y="3563243"/>
            <a:ext cx="3649712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22" name="Text 20"/>
          <p:cNvSpPr/>
          <p:nvPr/>
        </p:nvSpPr>
        <p:spPr>
          <a:xfrm>
            <a:off x="1104900" y="3191768"/>
            <a:ext cx="337820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History window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4564112" y="3563243"/>
            <a:ext cx="2035597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24" name="Text 22"/>
          <p:cNvSpPr/>
          <p:nvPr/>
        </p:nvSpPr>
        <p:spPr>
          <a:xfrm>
            <a:off x="4716512" y="3191768"/>
            <a:ext cx="173079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days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599709" y="3563243"/>
            <a:ext cx="2097063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26" name="Text 24"/>
          <p:cNvSpPr/>
          <p:nvPr/>
        </p:nvSpPr>
        <p:spPr>
          <a:xfrm>
            <a:off x="6752109" y="3191768"/>
            <a:ext cx="179226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days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696771" y="3563243"/>
            <a:ext cx="2580829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28" name="Text 26"/>
          <p:cNvSpPr/>
          <p:nvPr/>
        </p:nvSpPr>
        <p:spPr>
          <a:xfrm>
            <a:off x="8848559" y="3191768"/>
            <a:ext cx="227725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days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14400" y="4163318"/>
            <a:ext cx="3649712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30" name="Text 28"/>
          <p:cNvSpPr/>
          <p:nvPr/>
        </p:nvSpPr>
        <p:spPr>
          <a:xfrm>
            <a:off x="1104900" y="3744218"/>
            <a:ext cx="337820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Compare view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4564112" y="4163318"/>
            <a:ext cx="2035597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32" name="Text 30"/>
          <p:cNvSpPr/>
          <p:nvPr/>
        </p:nvSpPr>
        <p:spPr>
          <a:xfrm>
            <a:off x="5448523" y="3795117"/>
            <a:ext cx="266700" cy="228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88889"/>
              </a:lnSpc>
              <a:buNone/>
            </a:pPr>
            <a:r>
              <a:rPr lang="en-US" sz="1500" dirty="0">
                <a:solidFill>
                  <a:srgbClr val="C4D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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6599709" y="4163318"/>
            <a:ext cx="2097063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34" name="Text 32"/>
          <p:cNvSpPr/>
          <p:nvPr/>
        </p:nvSpPr>
        <p:spPr>
          <a:xfrm>
            <a:off x="7514853" y="3786188"/>
            <a:ext cx="266700" cy="228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88889"/>
              </a:lnSpc>
              <a:buNone/>
            </a:pPr>
            <a:r>
              <a:rPr lang="en-US" sz="15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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8696771" y="4163318"/>
            <a:ext cx="2580829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36" name="Text 34"/>
          <p:cNvSpPr/>
          <p:nvPr/>
        </p:nvSpPr>
        <p:spPr>
          <a:xfrm>
            <a:off x="9853836" y="3786188"/>
            <a:ext cx="266700" cy="228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88889"/>
              </a:lnSpc>
              <a:buNone/>
            </a:pPr>
            <a:r>
              <a:rPr lang="en-US" sz="15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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914400" y="4763393"/>
            <a:ext cx="3649712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38" name="Text 36"/>
          <p:cNvSpPr/>
          <p:nvPr/>
        </p:nvSpPr>
        <p:spPr>
          <a:xfrm>
            <a:off x="1104900" y="4344293"/>
            <a:ext cx="337820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Smart alerts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4564112" y="4763393"/>
            <a:ext cx="2035597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40" name="Text 38"/>
          <p:cNvSpPr/>
          <p:nvPr/>
        </p:nvSpPr>
        <p:spPr>
          <a:xfrm>
            <a:off x="5448523" y="4395192"/>
            <a:ext cx="266700" cy="228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88889"/>
              </a:lnSpc>
              <a:buNone/>
            </a:pPr>
            <a:r>
              <a:rPr lang="en-US" sz="1500" dirty="0">
                <a:solidFill>
                  <a:srgbClr val="C4D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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6599709" y="4763393"/>
            <a:ext cx="2097063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42" name="Text 40"/>
          <p:cNvSpPr/>
          <p:nvPr/>
        </p:nvSpPr>
        <p:spPr>
          <a:xfrm>
            <a:off x="7514853" y="4386263"/>
            <a:ext cx="266700" cy="228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88889"/>
              </a:lnSpc>
              <a:buNone/>
            </a:pPr>
            <a:r>
              <a:rPr lang="en-US" sz="15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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8696771" y="4763393"/>
            <a:ext cx="2580829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44" name="Text 42"/>
          <p:cNvSpPr/>
          <p:nvPr/>
        </p:nvSpPr>
        <p:spPr>
          <a:xfrm>
            <a:off x="9853836" y="4386263"/>
            <a:ext cx="266700" cy="228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88889"/>
              </a:lnSpc>
              <a:buNone/>
            </a:pPr>
            <a:r>
              <a:rPr lang="en-US" sz="15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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914400" y="5363468"/>
            <a:ext cx="3649712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46" name="Text 44"/>
          <p:cNvSpPr/>
          <p:nvPr/>
        </p:nvSpPr>
        <p:spPr>
          <a:xfrm>
            <a:off x="1104900" y="4944368"/>
            <a:ext cx="337820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SSO &amp; API</a:t>
            </a:r>
            <a:endParaRPr lang="en-US" sz="1350" dirty="0"/>
          </a:p>
        </p:txBody>
      </p:sp>
      <p:sp>
        <p:nvSpPr>
          <p:cNvPr id="47" name="Shape 45"/>
          <p:cNvSpPr/>
          <p:nvPr/>
        </p:nvSpPr>
        <p:spPr>
          <a:xfrm>
            <a:off x="4564112" y="5363468"/>
            <a:ext cx="2035597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48" name="Text 46"/>
          <p:cNvSpPr/>
          <p:nvPr/>
        </p:nvSpPr>
        <p:spPr>
          <a:xfrm>
            <a:off x="5448523" y="4995267"/>
            <a:ext cx="266700" cy="228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88889"/>
              </a:lnSpc>
              <a:buNone/>
            </a:pPr>
            <a:r>
              <a:rPr lang="en-US" sz="1500" dirty="0">
                <a:solidFill>
                  <a:srgbClr val="C4D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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6599709" y="5363468"/>
            <a:ext cx="2097063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50" name="Text 48"/>
          <p:cNvSpPr/>
          <p:nvPr/>
        </p:nvSpPr>
        <p:spPr>
          <a:xfrm>
            <a:off x="7514853" y="4995267"/>
            <a:ext cx="266700" cy="228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88889"/>
              </a:lnSpc>
              <a:buNone/>
            </a:pPr>
            <a:r>
              <a:rPr lang="en-US" sz="1500" dirty="0">
                <a:solidFill>
                  <a:srgbClr val="C4D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</a:t>
            </a:r>
            <a:endParaRPr lang="en-US" sz="1500" dirty="0"/>
          </a:p>
        </p:txBody>
      </p:sp>
      <p:sp>
        <p:nvSpPr>
          <p:cNvPr id="51" name="Shape 49"/>
          <p:cNvSpPr/>
          <p:nvPr/>
        </p:nvSpPr>
        <p:spPr>
          <a:xfrm>
            <a:off x="8696771" y="5363468"/>
            <a:ext cx="2580829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52" name="Text 50"/>
          <p:cNvSpPr/>
          <p:nvPr/>
        </p:nvSpPr>
        <p:spPr>
          <a:xfrm>
            <a:off x="9853836" y="4986338"/>
            <a:ext cx="266700" cy="228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88889"/>
              </a:lnSpc>
              <a:buNone/>
            </a:pPr>
            <a:r>
              <a:rPr lang="en-US" sz="15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</a:t>
            </a:r>
            <a:endParaRPr lang="en-US" sz="1500" dirty="0"/>
          </a:p>
        </p:txBody>
      </p:sp>
      <p:sp>
        <p:nvSpPr>
          <p:cNvPr id="53" name="Shape 51"/>
          <p:cNvSpPr/>
          <p:nvPr/>
        </p:nvSpPr>
        <p:spPr>
          <a:xfrm>
            <a:off x="914400" y="5372993"/>
            <a:ext cx="3649712" cy="552450"/>
          </a:xfrm>
          <a:prstGeom prst="rect">
            <a:avLst/>
          </a:prstGeom>
          <a:solidFill>
            <a:srgbClr val="F4F8FF"/>
          </a:solidFill>
          <a:ln/>
        </p:spPr>
      </p:sp>
      <p:sp>
        <p:nvSpPr>
          <p:cNvPr id="54" name="Shape 52"/>
          <p:cNvSpPr/>
          <p:nvPr/>
        </p:nvSpPr>
        <p:spPr>
          <a:xfrm>
            <a:off x="914400" y="5915918"/>
            <a:ext cx="3649712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55" name="Text 53"/>
          <p:cNvSpPr/>
          <p:nvPr/>
        </p:nvSpPr>
        <p:spPr>
          <a:xfrm>
            <a:off x="1104900" y="5544443"/>
            <a:ext cx="337820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</a:t>
            </a:r>
            <a:endParaRPr lang="en-US" sz="1350" dirty="0"/>
          </a:p>
        </p:txBody>
      </p:sp>
      <p:sp>
        <p:nvSpPr>
          <p:cNvPr id="56" name="Shape 54"/>
          <p:cNvSpPr/>
          <p:nvPr/>
        </p:nvSpPr>
        <p:spPr>
          <a:xfrm>
            <a:off x="4564112" y="5372993"/>
            <a:ext cx="2035597" cy="552450"/>
          </a:xfrm>
          <a:prstGeom prst="roundRect">
            <a:avLst>
              <a:gd name="adj" fmla="val 17241"/>
            </a:avLst>
          </a:prstGeom>
          <a:solidFill>
            <a:srgbClr val="F4F8FF"/>
          </a:solidFill>
          <a:ln/>
        </p:spPr>
      </p:sp>
      <p:sp>
        <p:nvSpPr>
          <p:cNvPr id="57" name="Shape 55"/>
          <p:cNvSpPr/>
          <p:nvPr/>
        </p:nvSpPr>
        <p:spPr>
          <a:xfrm>
            <a:off x="4564112" y="5915918"/>
            <a:ext cx="2035597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58" name="Text 56"/>
          <p:cNvSpPr/>
          <p:nvPr/>
        </p:nvSpPr>
        <p:spPr>
          <a:xfrm>
            <a:off x="4716512" y="5544443"/>
            <a:ext cx="173079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6599709" y="5372993"/>
            <a:ext cx="2097063" cy="552450"/>
          </a:xfrm>
          <a:prstGeom prst="rect">
            <a:avLst/>
          </a:prstGeom>
          <a:solidFill>
            <a:srgbClr val="F4F8FF"/>
          </a:solidFill>
          <a:ln/>
        </p:spPr>
      </p:sp>
      <p:sp>
        <p:nvSpPr>
          <p:cNvPr id="60" name="Shape 58"/>
          <p:cNvSpPr/>
          <p:nvPr/>
        </p:nvSpPr>
        <p:spPr>
          <a:xfrm>
            <a:off x="6599709" y="5915918"/>
            <a:ext cx="2097063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61" name="Text 59"/>
          <p:cNvSpPr/>
          <p:nvPr/>
        </p:nvSpPr>
        <p:spPr>
          <a:xfrm>
            <a:off x="6752109" y="5544443"/>
            <a:ext cx="179226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$49/mo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8696771" y="5372993"/>
            <a:ext cx="2580829" cy="552450"/>
          </a:xfrm>
          <a:prstGeom prst="rect">
            <a:avLst/>
          </a:prstGeom>
          <a:solidFill>
            <a:srgbClr val="F4F8FF"/>
          </a:solidFill>
          <a:ln/>
        </p:spPr>
      </p:sp>
      <p:sp>
        <p:nvSpPr>
          <p:cNvPr id="63" name="Shape 61"/>
          <p:cNvSpPr/>
          <p:nvPr/>
        </p:nvSpPr>
        <p:spPr>
          <a:xfrm>
            <a:off x="8696771" y="5915918"/>
            <a:ext cx="2580829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64" name="Text 62"/>
          <p:cNvSpPr/>
          <p:nvPr/>
        </p:nvSpPr>
        <p:spPr>
          <a:xfrm>
            <a:off x="8848559" y="5544443"/>
            <a:ext cx="227725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</a:t>
            </a:r>
            <a:endParaRPr lang="en-US" sz="12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BE4F0">
                  <a:alpha val="100000"/>
                </a:srgbClr>
              </a:gs>
              <a:gs pos="100000">
                <a:srgbClr val="F4F8FF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5361351" y="2343150"/>
            <a:ext cx="146922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8372"/>
              </a:lnSpc>
              <a:buNone/>
            </a:pPr>
            <a:r>
              <a:rPr lang="en-US" sz="1425" spc="314" kern="0" dirty="0">
                <a:solidFill>
                  <a:srgbClr val="B840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THANK YOU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758952" y="2790825"/>
            <a:ext cx="10674096" cy="1762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000" b="1" spc="-120" kern="0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Let's build the next one.</a:t>
            </a:r>
            <a:endParaRPr lang="en-US" sz="60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2DDEC">
                  <a:alpha val="100000"/>
                </a:srgbClr>
              </a:gs>
              <a:gs pos="100000">
                <a:srgbClr val="E9EFF7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762000"/>
            <a:ext cx="3505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b="1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41165" y="785813"/>
            <a:ext cx="244862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372"/>
              </a:lnSpc>
              <a:buNone/>
            </a:pPr>
            <a:r>
              <a:rPr lang="en-US" sz="1425" spc="314" kern="0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 CONTRIBUTION</a:t>
            </a:r>
            <a:endParaRPr lang="en-US" sz="1425" dirty="0"/>
          </a:p>
        </p:txBody>
      </p:sp>
      <p:sp>
        <p:nvSpPr>
          <p:cNvPr id="5" name="Text 3"/>
          <p:cNvSpPr/>
          <p:nvPr/>
        </p:nvSpPr>
        <p:spPr>
          <a:xfrm>
            <a:off x="914400" y="1181100"/>
            <a:ext cx="11399520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42"/>
              </a:lnSpc>
              <a:buNone/>
            </a:pPr>
            <a:r>
              <a:rPr lang="en-US" sz="3900" b="1" spc="-78" kern="0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 owned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914400" y="2082105"/>
            <a:ext cx="532257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58" kern="0" dirty="0">
                <a:solidFill>
                  <a:srgbClr val="B840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LED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781050" y="2458343"/>
            <a:ext cx="4781550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15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11 analyst interviews and the synthesis</a:t>
            </a:r>
            <a:endParaRPr lang="en-US" sz="1500" dirty="0"/>
          </a:p>
          <a:p>
            <a:pPr algn="l" indent="0" marL="0">
              <a:lnSpc>
                <a:spcPct val="124444"/>
              </a:lnSpc>
              <a:buNone/>
            </a:pPr>
            <a:r>
              <a:rPr lang="en-US" sz="15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metric hierarchy and IA</a:t>
            </a:r>
            <a:endParaRPr lang="en-US" sz="1500" dirty="0"/>
          </a:p>
          <a:p>
            <a:pPr algn="l" indent="0" marL="0">
              <a:lnSpc>
                <a:spcPct val="124444"/>
              </a:lnSpc>
              <a:buNone/>
            </a:pPr>
            <a:r>
              <a:rPr lang="en-US" sz="15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screen from wireframe to hi-fi</a:t>
            </a:r>
            <a:endParaRPr lang="en-US" sz="1500" dirty="0"/>
          </a:p>
          <a:p>
            <a:pPr algn="l" indent="0" marL="0">
              <a:lnSpc>
                <a:spcPct val="124444"/>
              </a:lnSpc>
              <a:buNone/>
            </a:pPr>
            <a:r>
              <a:rPr lang="en-US" sz="15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component spec at handoff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38900" y="2082105"/>
            <a:ext cx="532257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58" kern="0" dirty="0">
                <a:solidFill>
                  <a:srgbClr val="546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TEAM OWNED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6305550" y="2458343"/>
            <a:ext cx="4781550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15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— scope, stakeholders, roadmap</a:t>
            </a:r>
            <a:endParaRPr lang="en-US" sz="1500" dirty="0"/>
          </a:p>
          <a:p>
            <a:pPr algn="l" indent="0" marL="0">
              <a:lnSpc>
                <a:spcPct val="124444"/>
              </a:lnSpc>
              <a:buNone/>
            </a:pPr>
            <a:r>
              <a:rPr lang="en-US" sz="15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— the live pipeline and build</a:t>
            </a:r>
            <a:endParaRPr lang="en-US" sz="1500" dirty="0"/>
          </a:p>
          <a:p>
            <a:pPr algn="l" indent="0" marL="0">
              <a:lnSpc>
                <a:spcPct val="124444"/>
              </a:lnSpc>
              <a:buNone/>
            </a:pPr>
            <a:r>
              <a:rPr lang="en-US" sz="15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second designer — the marketing site</a:t>
            </a:r>
            <a:endParaRPr lang="en-US" sz="1500" dirty="0"/>
          </a:p>
          <a:p>
            <a:pPr algn="l" indent="0" marL="0">
              <a:lnSpc>
                <a:spcPct val="124444"/>
              </a:lnSpc>
              <a:buNone/>
            </a:pPr>
            <a:r>
              <a:rPr lang="en-US" sz="15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science — the alert thresholds</a:t>
            </a:r>
            <a:endParaRPr lang="en-US" sz="15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2DDEC">
                  <a:alpha val="100000"/>
                </a:srgbClr>
              </a:gs>
              <a:gs pos="100000">
                <a:srgbClr val="E9EFF7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F4F8FF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2477021"/>
            <a:ext cx="228540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372"/>
              </a:lnSpc>
              <a:buNone/>
            </a:pPr>
            <a:r>
              <a:rPr lang="en-US" sz="1425" spc="314" kern="0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BRIEF SAID</a:t>
            </a:r>
            <a:endParaRPr lang="en-US" sz="1425" dirty="0"/>
          </a:p>
        </p:txBody>
      </p:sp>
      <p:sp>
        <p:nvSpPr>
          <p:cNvPr id="5" name="Text 3"/>
          <p:cNvSpPr/>
          <p:nvPr/>
        </p:nvSpPr>
        <p:spPr>
          <a:xfrm>
            <a:off x="762000" y="2848496"/>
            <a:ext cx="470916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791"/>
              </a:lnSpc>
              <a:buNone/>
            </a:pPr>
            <a:r>
              <a:rPr lang="en-US" sz="2850" b="1" spc="-57" kern="0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“Make the dashboard prettier.”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762000" y="3760961"/>
            <a:ext cx="4709160" cy="65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1575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visual refresh of the existing twelve-widget layout — same data, nicer chrome.</a:t>
            </a:r>
            <a:endParaRPr lang="en-US" sz="1575" dirty="0"/>
          </a:p>
        </p:txBody>
      </p:sp>
      <p:sp>
        <p:nvSpPr>
          <p:cNvPr id="7" name="Shape 5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141C28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0" y="2477021"/>
            <a:ext cx="261184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372"/>
              </a:lnSpc>
              <a:buNone/>
            </a:pPr>
            <a:r>
              <a:rPr lang="en-US" sz="1425" spc="314" kern="0" dirty="0">
                <a:solidFill>
                  <a:srgbClr val="42A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REAL PROBLEM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6858000" y="2848496"/>
            <a:ext cx="470916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791"/>
              </a:lnSpc>
              <a:buNone/>
            </a:pPr>
            <a:r>
              <a:rPr lang="en-US" sz="2850" b="1" spc="-57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Analysts couldn't trust what they saw.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6858000" y="3760961"/>
            <a:ext cx="4709160" cy="65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1575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amount of polish fixes a number you can't trace. The work was about trust, not looks.</a:t>
            </a:r>
            <a:endParaRPr lang="en-US" sz="1575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2DDEC">
                  <a:alpha val="100000"/>
                </a:srgbClr>
              </a:gs>
              <a:gs pos="100000">
                <a:srgbClr val="E9EFF7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762000"/>
            <a:ext cx="3505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b="1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41165" y="785813"/>
            <a:ext cx="146922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372"/>
              </a:lnSpc>
              <a:buNone/>
            </a:pPr>
            <a:r>
              <a:rPr lang="en-US" sz="1425" spc="314" kern="0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ITERATION</a:t>
            </a:r>
            <a:endParaRPr lang="en-US" sz="1425" dirty="0"/>
          </a:p>
        </p:txBody>
      </p:sp>
      <p:sp>
        <p:nvSpPr>
          <p:cNvPr id="5" name="Text 3"/>
          <p:cNvSpPr/>
          <p:nvPr/>
        </p:nvSpPr>
        <p:spPr>
          <a:xfrm>
            <a:off x="914400" y="1181100"/>
            <a:ext cx="11399520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42"/>
              </a:lnSpc>
              <a:buNone/>
            </a:pPr>
            <a:r>
              <a:rPr lang="en-US" sz="3900" b="1" spc="-78" kern="0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screen, three rounds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914400" y="2089249"/>
            <a:ext cx="95250" cy="95250"/>
          </a:xfrm>
          <a:prstGeom prst="ellipse">
            <a:avLst/>
          </a:prstGeom>
          <a:solidFill>
            <a:srgbClr val="586780"/>
          </a:solidFill>
          <a:ln/>
        </p:spPr>
      </p:sp>
      <p:sp>
        <p:nvSpPr>
          <p:cNvPr id="7" name="Text 5"/>
          <p:cNvSpPr/>
          <p:nvPr/>
        </p:nvSpPr>
        <p:spPr>
          <a:xfrm>
            <a:off x="1104900" y="2044005"/>
            <a:ext cx="1596405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80" kern="0" dirty="0">
                <a:solidFill>
                  <a:srgbClr val="58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 · TOO DENSE</a:t>
            </a:r>
            <a:endParaRPr lang="en-US" sz="1125" dirty="0"/>
          </a:p>
        </p:txBody>
      </p:sp>
      <p:sp>
        <p:nvSpPr>
          <p:cNvPr id="8" name="Shape 6"/>
          <p:cNvSpPr/>
          <p:nvPr/>
        </p:nvSpPr>
        <p:spPr>
          <a:xfrm>
            <a:off x="914400" y="2363093"/>
            <a:ext cx="3301975" cy="2381250"/>
          </a:xfrm>
          <a:prstGeom prst="rect">
            <a:avLst/>
          </a:prstGeom>
          <a:solidFill>
            <a:srgbClr val="EEF3FA"/>
          </a:solidFill>
          <a:ln/>
        </p:spPr>
      </p:sp>
      <p:sp>
        <p:nvSpPr>
          <p:cNvPr id="9" name="Shape 7"/>
          <p:cNvSpPr/>
          <p:nvPr/>
        </p:nvSpPr>
        <p:spPr>
          <a:xfrm>
            <a:off x="1790477" y="3356074"/>
            <a:ext cx="1549747" cy="395288"/>
          </a:xfrm>
          <a:prstGeom prst="roundRect">
            <a:avLst>
              <a:gd name="adj" fmla="val 19277"/>
            </a:avLst>
          </a:prstGeom>
          <a:solidFill>
            <a:srgbClr val="FFFFFF">
              <a:alpha val="70000"/>
            </a:srgbClr>
          </a:solidFill>
          <a:ln w="9525">
            <a:solidFill>
              <a:srgbClr val="C4D3E6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1914302" y="3460849"/>
            <a:ext cx="1302097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spc="68" kern="0" dirty="0">
                <a:solidFill>
                  <a:srgbClr val="58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 screenshot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914400" y="4858643"/>
            <a:ext cx="3632173" cy="2728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410"/>
              </a:lnSpc>
              <a:buNone/>
            </a:pPr>
            <a:r>
              <a:rPr lang="en-US" sz="1275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Kept all twelve widgets — no hierarchy.</a:t>
            </a:r>
            <a:endParaRPr lang="en-US" sz="1275" dirty="0"/>
          </a:p>
        </p:txBody>
      </p:sp>
      <p:sp>
        <p:nvSpPr>
          <p:cNvPr id="12" name="Shape 10"/>
          <p:cNvSpPr/>
          <p:nvPr/>
        </p:nvSpPr>
        <p:spPr>
          <a:xfrm>
            <a:off x="4444975" y="2089249"/>
            <a:ext cx="95250" cy="95250"/>
          </a:xfrm>
          <a:prstGeom prst="ellipse">
            <a:avLst/>
          </a:prstGeom>
          <a:solidFill>
            <a:srgbClr val="586780"/>
          </a:solidFill>
          <a:ln/>
        </p:spPr>
      </p:sp>
      <p:sp>
        <p:nvSpPr>
          <p:cNvPr id="13" name="Text 11"/>
          <p:cNvSpPr/>
          <p:nvPr/>
        </p:nvSpPr>
        <p:spPr>
          <a:xfrm>
            <a:off x="4635475" y="2044005"/>
            <a:ext cx="1704975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80" kern="0" dirty="0">
                <a:solidFill>
                  <a:srgbClr val="58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V2 · ONE METRIC</a:t>
            </a:r>
            <a:endParaRPr lang="en-US" sz="1125" dirty="0"/>
          </a:p>
        </p:txBody>
      </p:sp>
      <p:sp>
        <p:nvSpPr>
          <p:cNvPr id="14" name="Shape 12"/>
          <p:cNvSpPr/>
          <p:nvPr/>
        </p:nvSpPr>
        <p:spPr>
          <a:xfrm>
            <a:off x="4444975" y="2363093"/>
            <a:ext cx="3301975" cy="2381250"/>
          </a:xfrm>
          <a:prstGeom prst="rect">
            <a:avLst/>
          </a:prstGeom>
          <a:solidFill>
            <a:srgbClr val="EEF3FA"/>
          </a:solidFill>
          <a:ln/>
        </p:spPr>
      </p:sp>
      <p:sp>
        <p:nvSpPr>
          <p:cNvPr id="15" name="Shape 13"/>
          <p:cNvSpPr/>
          <p:nvPr/>
        </p:nvSpPr>
        <p:spPr>
          <a:xfrm>
            <a:off x="5321052" y="3356074"/>
            <a:ext cx="1549747" cy="395288"/>
          </a:xfrm>
          <a:prstGeom prst="roundRect">
            <a:avLst>
              <a:gd name="adj" fmla="val 19277"/>
            </a:avLst>
          </a:prstGeom>
          <a:solidFill>
            <a:srgbClr val="FFFFFF">
              <a:alpha val="70000"/>
            </a:srgbClr>
          </a:solidFill>
          <a:ln w="9525">
            <a:solidFill>
              <a:srgbClr val="C4D3E6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5444877" y="3460849"/>
            <a:ext cx="1302097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spc="68" kern="0" dirty="0">
                <a:solidFill>
                  <a:srgbClr val="58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v2 screenshot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4444975" y="4858643"/>
            <a:ext cx="3632173" cy="2728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410"/>
              </a:lnSpc>
              <a:buNone/>
            </a:pPr>
            <a:r>
              <a:rPr lang="en-US" sz="1275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Promoted a headline, hid the rest.</a:t>
            </a:r>
            <a:endParaRPr lang="en-US" sz="1275" dirty="0"/>
          </a:p>
        </p:txBody>
      </p:sp>
      <p:sp>
        <p:nvSpPr>
          <p:cNvPr id="18" name="Shape 16"/>
          <p:cNvSpPr/>
          <p:nvPr/>
        </p:nvSpPr>
        <p:spPr>
          <a:xfrm>
            <a:off x="7975550" y="2089249"/>
            <a:ext cx="95250" cy="95250"/>
          </a:xfrm>
          <a:prstGeom prst="ellipse">
            <a:avLst/>
          </a:prstGeom>
          <a:solidFill>
            <a:srgbClr val="586780"/>
          </a:solidFill>
          <a:ln/>
        </p:spPr>
      </p:sp>
      <p:sp>
        <p:nvSpPr>
          <p:cNvPr id="19" name="Text 17"/>
          <p:cNvSpPr/>
          <p:nvPr/>
        </p:nvSpPr>
        <p:spPr>
          <a:xfrm>
            <a:off x="8166050" y="2044005"/>
            <a:ext cx="1379265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80" kern="0" dirty="0">
                <a:solidFill>
                  <a:srgbClr val="58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V3 · SHIPPED</a:t>
            </a:r>
            <a:endParaRPr lang="en-US" sz="1125" dirty="0"/>
          </a:p>
        </p:txBody>
      </p:sp>
      <p:sp>
        <p:nvSpPr>
          <p:cNvPr id="20" name="Shape 18"/>
          <p:cNvSpPr/>
          <p:nvPr/>
        </p:nvSpPr>
        <p:spPr>
          <a:xfrm>
            <a:off x="7975550" y="2363093"/>
            <a:ext cx="3301975" cy="2381250"/>
          </a:xfrm>
          <a:prstGeom prst="rect">
            <a:avLst/>
          </a:prstGeom>
          <a:solidFill>
            <a:srgbClr val="EEF3FA"/>
          </a:solidFill>
          <a:ln/>
        </p:spPr>
      </p:sp>
      <p:sp>
        <p:nvSpPr>
          <p:cNvPr id="21" name="Shape 19"/>
          <p:cNvSpPr/>
          <p:nvPr/>
        </p:nvSpPr>
        <p:spPr>
          <a:xfrm>
            <a:off x="8851627" y="3356074"/>
            <a:ext cx="1549747" cy="395288"/>
          </a:xfrm>
          <a:prstGeom prst="roundRect">
            <a:avLst>
              <a:gd name="adj" fmla="val 19277"/>
            </a:avLst>
          </a:prstGeom>
          <a:solidFill>
            <a:srgbClr val="FFFFFF">
              <a:alpha val="70000"/>
            </a:srgbClr>
          </a:solidFill>
          <a:ln w="9525">
            <a:solidFill>
              <a:srgbClr val="C4D3E6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8975452" y="3460849"/>
            <a:ext cx="1302097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spc="68" kern="0" dirty="0">
                <a:solidFill>
                  <a:srgbClr val="58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v3 screenshot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7975550" y="4858643"/>
            <a:ext cx="3632173" cy="2728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410"/>
              </a:lnSpc>
              <a:buNone/>
            </a:pPr>
            <a:r>
              <a:rPr lang="en-US" sz="1275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Added source-on-demand and alerts.</a:t>
            </a:r>
            <a:endParaRPr lang="en-US" sz="1275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2DDEC">
                  <a:alpha val="100000"/>
                </a:srgbClr>
              </a:gs>
              <a:gs pos="100000">
                <a:srgbClr val="E9EFF7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762000"/>
            <a:ext cx="3505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b="1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41165" y="785813"/>
            <a:ext cx="293836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372"/>
              </a:lnSpc>
              <a:buNone/>
            </a:pPr>
            <a:r>
              <a:rPr lang="en-US" sz="1425" spc="314" kern="0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ROUGH TO REAL</a:t>
            </a:r>
            <a:endParaRPr lang="en-US" sz="1425" dirty="0"/>
          </a:p>
        </p:txBody>
      </p:sp>
      <p:sp>
        <p:nvSpPr>
          <p:cNvPr id="5" name="Text 3"/>
          <p:cNvSpPr/>
          <p:nvPr/>
        </p:nvSpPr>
        <p:spPr>
          <a:xfrm>
            <a:off x="914400" y="1181100"/>
            <a:ext cx="11399520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42"/>
              </a:lnSpc>
              <a:buNone/>
            </a:pPr>
            <a:r>
              <a:rPr lang="en-US" sz="3900" b="1" spc="-78" kern="0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Sketch → wireframe → hi-fi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914400" y="2044005"/>
            <a:ext cx="1283271" cy="328613"/>
          </a:xfrm>
          <a:prstGeom prst="roundRect">
            <a:avLst>
              <a:gd name="adj" fmla="val 50000"/>
            </a:avLst>
          </a:prstGeom>
          <a:solidFill>
            <a:srgbClr val="F4F8FF"/>
          </a:solidFill>
          <a:ln w="9525">
            <a:solidFill>
              <a:srgbClr val="C4D3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7275" y="2120205"/>
            <a:ext cx="1073721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spc="84" kern="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SKETCH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914400" y="2715518"/>
            <a:ext cx="3301975" cy="2476500"/>
          </a:xfrm>
          <a:prstGeom prst="rect">
            <a:avLst/>
          </a:prstGeom>
          <a:solidFill>
            <a:srgbClr val="EEF3FA"/>
          </a:solidFill>
          <a:ln/>
        </p:spPr>
      </p:sp>
      <p:sp>
        <p:nvSpPr>
          <p:cNvPr id="9" name="Shape 7"/>
          <p:cNvSpPr/>
          <p:nvPr/>
        </p:nvSpPr>
        <p:spPr>
          <a:xfrm>
            <a:off x="1884759" y="3756124"/>
            <a:ext cx="1361182" cy="395288"/>
          </a:xfrm>
          <a:prstGeom prst="roundRect">
            <a:avLst>
              <a:gd name="adj" fmla="val 19277"/>
            </a:avLst>
          </a:prstGeom>
          <a:solidFill>
            <a:srgbClr val="FFFFFF">
              <a:alpha val="70000"/>
            </a:srgbClr>
          </a:solidFill>
          <a:ln w="9525">
            <a:solidFill>
              <a:srgbClr val="C4D3E6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2008584" y="3860899"/>
            <a:ext cx="1113532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spc="68" kern="0" dirty="0">
                <a:solidFill>
                  <a:srgbClr val="58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 &amp; paper</a:t>
            </a:r>
            <a:endParaRPr lang="en-US" sz="1125" dirty="0"/>
          </a:p>
        </p:txBody>
      </p:sp>
      <p:sp>
        <p:nvSpPr>
          <p:cNvPr id="11" name="Shape 9"/>
          <p:cNvSpPr/>
          <p:nvPr/>
        </p:nvSpPr>
        <p:spPr>
          <a:xfrm>
            <a:off x="4444975" y="2044005"/>
            <a:ext cx="1555254" cy="328613"/>
          </a:xfrm>
          <a:prstGeom prst="roundRect">
            <a:avLst>
              <a:gd name="adj" fmla="val 50000"/>
            </a:avLst>
          </a:prstGeom>
          <a:solidFill>
            <a:srgbClr val="F4F8FF"/>
          </a:solidFill>
          <a:ln w="9525">
            <a:solidFill>
              <a:srgbClr val="C4D3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87850" y="2120205"/>
            <a:ext cx="1345704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spc="84" kern="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WIREFRAME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444975" y="2715518"/>
            <a:ext cx="3301975" cy="2476500"/>
          </a:xfrm>
          <a:prstGeom prst="rect">
            <a:avLst/>
          </a:prstGeom>
          <a:solidFill>
            <a:srgbClr val="EEF3FA"/>
          </a:solidFill>
          <a:ln/>
        </p:spPr>
      </p:sp>
      <p:sp>
        <p:nvSpPr>
          <p:cNvPr id="14" name="Shape 12"/>
          <p:cNvSpPr/>
          <p:nvPr/>
        </p:nvSpPr>
        <p:spPr>
          <a:xfrm>
            <a:off x="5368230" y="3756124"/>
            <a:ext cx="1455465" cy="395288"/>
          </a:xfrm>
          <a:prstGeom prst="roundRect">
            <a:avLst>
              <a:gd name="adj" fmla="val 19277"/>
            </a:avLst>
          </a:prstGeom>
          <a:solidFill>
            <a:srgbClr val="FFFFFF">
              <a:alpha val="70000"/>
            </a:srgbClr>
          </a:solidFill>
          <a:ln w="9525">
            <a:solidFill>
              <a:srgbClr val="C4D3E6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5492055" y="3860899"/>
            <a:ext cx="120781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spc="68" kern="0" dirty="0">
                <a:solidFill>
                  <a:srgbClr val="58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Lo-fi layout</a:t>
            </a:r>
            <a:endParaRPr lang="en-US" sz="1125" dirty="0"/>
          </a:p>
        </p:txBody>
      </p:sp>
      <p:sp>
        <p:nvSpPr>
          <p:cNvPr id="16" name="Shape 14"/>
          <p:cNvSpPr/>
          <p:nvPr/>
        </p:nvSpPr>
        <p:spPr>
          <a:xfrm>
            <a:off x="7975550" y="2044005"/>
            <a:ext cx="1192560" cy="328613"/>
          </a:xfrm>
          <a:prstGeom prst="roundRect">
            <a:avLst>
              <a:gd name="adj" fmla="val 50000"/>
            </a:avLst>
          </a:prstGeom>
          <a:solidFill>
            <a:srgbClr val="F4F8FF"/>
          </a:solidFill>
          <a:ln w="9525">
            <a:solidFill>
              <a:srgbClr val="C4D3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18425" y="2120205"/>
            <a:ext cx="98301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spc="84" kern="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HI-FI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975550" y="2715518"/>
            <a:ext cx="3301975" cy="2476500"/>
          </a:xfrm>
          <a:prstGeom prst="rect">
            <a:avLst/>
          </a:prstGeom>
          <a:solidFill>
            <a:srgbClr val="EEF3FA"/>
          </a:solidFill>
          <a:ln/>
        </p:spPr>
      </p:sp>
      <p:sp>
        <p:nvSpPr>
          <p:cNvPr id="19" name="Shape 17"/>
          <p:cNvSpPr/>
          <p:nvPr/>
        </p:nvSpPr>
        <p:spPr>
          <a:xfrm>
            <a:off x="9087371" y="3756124"/>
            <a:ext cx="1078260" cy="395288"/>
          </a:xfrm>
          <a:prstGeom prst="roundRect">
            <a:avLst>
              <a:gd name="adj" fmla="val 19277"/>
            </a:avLst>
          </a:prstGeom>
          <a:solidFill>
            <a:srgbClr val="FFFFFF">
              <a:alpha val="70000"/>
            </a:srgbClr>
          </a:solidFill>
          <a:ln w="9525">
            <a:solidFill>
              <a:srgbClr val="C4D3E6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9211196" y="3860899"/>
            <a:ext cx="83061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spc="68" kern="0" dirty="0">
                <a:solidFill>
                  <a:srgbClr val="58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UI</a:t>
            </a:r>
            <a:endParaRPr lang="en-US" sz="1125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2DDEC">
                  <a:alpha val="100000"/>
                </a:srgbClr>
              </a:gs>
              <a:gs pos="100000">
                <a:srgbClr val="E9EFF7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762000"/>
            <a:ext cx="3505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b="1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41165" y="785813"/>
            <a:ext cx="293836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372"/>
              </a:lnSpc>
              <a:buNone/>
            </a:pPr>
            <a:r>
              <a:rPr lang="en-US" sz="1425" spc="314" kern="0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WE CONSIDERED</a:t>
            </a:r>
            <a:endParaRPr lang="en-US" sz="1425" dirty="0"/>
          </a:p>
        </p:txBody>
      </p:sp>
      <p:sp>
        <p:nvSpPr>
          <p:cNvPr id="5" name="Text 3"/>
          <p:cNvSpPr/>
          <p:nvPr/>
        </p:nvSpPr>
        <p:spPr>
          <a:xfrm>
            <a:off x="914400" y="1181100"/>
            <a:ext cx="11399520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42"/>
              </a:lnSpc>
              <a:buNone/>
            </a:pPr>
            <a:r>
              <a:rPr lang="en-US" sz="3900" b="1" spc="-78" kern="0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Four directions, one bet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914400" y="2044005"/>
            <a:ext cx="2447925" cy="2190750"/>
          </a:xfrm>
          <a:prstGeom prst="rect">
            <a:avLst/>
          </a:prstGeom>
          <a:solidFill>
            <a:srgbClr val="EEF3FA"/>
          </a:solidFill>
          <a:ln/>
        </p:spPr>
      </p:sp>
      <p:sp>
        <p:nvSpPr>
          <p:cNvPr id="7" name="Shape 5"/>
          <p:cNvSpPr/>
          <p:nvPr/>
        </p:nvSpPr>
        <p:spPr>
          <a:xfrm>
            <a:off x="1599233" y="2941737"/>
            <a:ext cx="1078260" cy="395288"/>
          </a:xfrm>
          <a:prstGeom prst="roundRect">
            <a:avLst>
              <a:gd name="adj" fmla="val 19277"/>
            </a:avLst>
          </a:prstGeom>
          <a:solidFill>
            <a:srgbClr val="FFFFFF">
              <a:alpha val="70000"/>
            </a:srgbClr>
          </a:solidFill>
          <a:ln w="9525">
            <a:solidFill>
              <a:srgbClr val="C4D3E6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1723058" y="3046512"/>
            <a:ext cx="83061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spc="68" kern="0" dirty="0">
                <a:solidFill>
                  <a:srgbClr val="58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 A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914400" y="4330005"/>
            <a:ext cx="2692718" cy="2728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410"/>
              </a:lnSpc>
              <a:buNone/>
            </a:pPr>
            <a:r>
              <a:rPr lang="en-US" sz="1275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Tabbed by data source.</a:t>
            </a:r>
            <a:endParaRPr lang="en-US" sz="1275" dirty="0"/>
          </a:p>
        </p:txBody>
      </p:sp>
      <p:sp>
        <p:nvSpPr>
          <p:cNvPr id="10" name="Shape 8"/>
          <p:cNvSpPr/>
          <p:nvPr/>
        </p:nvSpPr>
        <p:spPr>
          <a:xfrm>
            <a:off x="3552825" y="2044005"/>
            <a:ext cx="2447925" cy="2190750"/>
          </a:xfrm>
          <a:prstGeom prst="rect">
            <a:avLst/>
          </a:prstGeom>
          <a:solidFill>
            <a:srgbClr val="EEF3FA"/>
          </a:solidFill>
          <a:ln/>
        </p:spPr>
      </p:sp>
      <p:sp>
        <p:nvSpPr>
          <p:cNvPr id="11" name="Shape 9"/>
          <p:cNvSpPr/>
          <p:nvPr/>
        </p:nvSpPr>
        <p:spPr>
          <a:xfrm>
            <a:off x="4237658" y="2941737"/>
            <a:ext cx="1078260" cy="395288"/>
          </a:xfrm>
          <a:prstGeom prst="roundRect">
            <a:avLst>
              <a:gd name="adj" fmla="val 19277"/>
            </a:avLst>
          </a:prstGeom>
          <a:solidFill>
            <a:srgbClr val="FFFFFF">
              <a:alpha val="70000"/>
            </a:srgbClr>
          </a:solidFill>
          <a:ln w="9525">
            <a:solidFill>
              <a:srgbClr val="C4D3E6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4361483" y="3046512"/>
            <a:ext cx="83061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spc="68" kern="0" dirty="0">
                <a:solidFill>
                  <a:srgbClr val="58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 B</a:t>
            </a:r>
            <a:endParaRPr lang="en-US" sz="1125" dirty="0"/>
          </a:p>
        </p:txBody>
      </p:sp>
      <p:sp>
        <p:nvSpPr>
          <p:cNvPr id="13" name="Shape 11"/>
          <p:cNvSpPr/>
          <p:nvPr/>
        </p:nvSpPr>
        <p:spPr>
          <a:xfrm>
            <a:off x="5303416" y="2139255"/>
            <a:ext cx="602084" cy="204788"/>
          </a:xfrm>
          <a:prstGeom prst="roundRect">
            <a:avLst>
              <a:gd name="adj" fmla="val 27907"/>
            </a:avLst>
          </a:prstGeom>
          <a:solidFill>
            <a:srgbClr val="B8401B"/>
          </a:solidFill>
          <a:ln/>
        </p:spPr>
      </p:sp>
      <p:sp>
        <p:nvSpPr>
          <p:cNvPr id="14" name="Text 12"/>
          <p:cNvSpPr/>
          <p:nvPr/>
        </p:nvSpPr>
        <p:spPr>
          <a:xfrm>
            <a:off x="5398666" y="2177355"/>
            <a:ext cx="487784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CHOSEN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552825" y="4330005"/>
            <a:ext cx="2692718" cy="2776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410"/>
              </a:lnSpc>
              <a:buNone/>
            </a:pPr>
            <a:r>
              <a:rPr lang="en-US" sz="1275" b="1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Single-metric hero.</a:t>
            </a:r>
            <a:endParaRPr lang="en-US" sz="1275" dirty="0"/>
          </a:p>
        </p:txBody>
      </p:sp>
      <p:sp>
        <p:nvSpPr>
          <p:cNvPr id="16" name="Shape 14"/>
          <p:cNvSpPr/>
          <p:nvPr/>
        </p:nvSpPr>
        <p:spPr>
          <a:xfrm>
            <a:off x="6191250" y="2044005"/>
            <a:ext cx="2447925" cy="2190750"/>
          </a:xfrm>
          <a:prstGeom prst="rect">
            <a:avLst/>
          </a:prstGeom>
          <a:solidFill>
            <a:srgbClr val="EEF3FA"/>
          </a:solidFill>
          <a:ln/>
        </p:spPr>
      </p:sp>
      <p:sp>
        <p:nvSpPr>
          <p:cNvPr id="17" name="Shape 15"/>
          <p:cNvSpPr/>
          <p:nvPr/>
        </p:nvSpPr>
        <p:spPr>
          <a:xfrm>
            <a:off x="6876083" y="2941737"/>
            <a:ext cx="1078260" cy="395288"/>
          </a:xfrm>
          <a:prstGeom prst="roundRect">
            <a:avLst>
              <a:gd name="adj" fmla="val 19277"/>
            </a:avLst>
          </a:prstGeom>
          <a:solidFill>
            <a:srgbClr val="FFFFFF">
              <a:alpha val="70000"/>
            </a:srgbClr>
          </a:solidFill>
          <a:ln w="9525">
            <a:solidFill>
              <a:srgbClr val="C4D3E6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6999908" y="3046512"/>
            <a:ext cx="83061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spc="68" kern="0" dirty="0">
                <a:solidFill>
                  <a:srgbClr val="58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 C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6191250" y="4330005"/>
            <a:ext cx="2692718" cy="2728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410"/>
              </a:lnSpc>
              <a:buNone/>
            </a:pPr>
            <a:r>
              <a:rPr lang="en-US" sz="1275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Feed-first timeline.</a:t>
            </a:r>
            <a:endParaRPr lang="en-US" sz="1275" dirty="0"/>
          </a:p>
        </p:txBody>
      </p:sp>
      <p:sp>
        <p:nvSpPr>
          <p:cNvPr id="20" name="Shape 18"/>
          <p:cNvSpPr/>
          <p:nvPr/>
        </p:nvSpPr>
        <p:spPr>
          <a:xfrm>
            <a:off x="8829675" y="2044005"/>
            <a:ext cx="2447925" cy="2190750"/>
          </a:xfrm>
          <a:prstGeom prst="rect">
            <a:avLst/>
          </a:prstGeom>
          <a:solidFill>
            <a:srgbClr val="EEF3FA"/>
          </a:solidFill>
          <a:ln/>
        </p:spPr>
      </p:sp>
      <p:sp>
        <p:nvSpPr>
          <p:cNvPr id="21" name="Shape 19"/>
          <p:cNvSpPr/>
          <p:nvPr/>
        </p:nvSpPr>
        <p:spPr>
          <a:xfrm>
            <a:off x="9514508" y="2941737"/>
            <a:ext cx="1078260" cy="395288"/>
          </a:xfrm>
          <a:prstGeom prst="roundRect">
            <a:avLst>
              <a:gd name="adj" fmla="val 19277"/>
            </a:avLst>
          </a:prstGeom>
          <a:solidFill>
            <a:srgbClr val="FFFFFF">
              <a:alpha val="70000"/>
            </a:srgbClr>
          </a:solidFill>
          <a:ln w="9525">
            <a:solidFill>
              <a:srgbClr val="C4D3E6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9638333" y="3046512"/>
            <a:ext cx="83061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spc="68" kern="0" dirty="0">
                <a:solidFill>
                  <a:srgbClr val="58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 D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8829675" y="4330005"/>
            <a:ext cx="2692718" cy="2728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410"/>
              </a:lnSpc>
              <a:buNone/>
            </a:pPr>
            <a:r>
              <a:rPr lang="en-US" sz="1275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customizable grid.</a:t>
            </a:r>
            <a:endParaRPr lang="en-US" sz="1275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2DDEC">
                  <a:alpha val="100000"/>
                </a:srgbClr>
              </a:gs>
              <a:gs pos="100000">
                <a:srgbClr val="E9EFF7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914400" y="1473994"/>
            <a:ext cx="5806380" cy="3910013"/>
          </a:xfrm>
          <a:prstGeom prst="roundRect">
            <a:avLst>
              <a:gd name="adj" fmla="val 4385"/>
            </a:avLst>
          </a:prstGeom>
          <a:solidFill>
            <a:srgbClr val="FFFFFF"/>
          </a:solidFill>
          <a:ln w="9525">
            <a:solidFill>
              <a:srgbClr val="C4D3E6"/>
            </a:solidFill>
            <a:prstDash val="solid"/>
          </a:ln>
          <a:effectLst>
            <a:outerShdw sx="100000" sy="100000" kx="0" ky="0" algn="bl" rotWithShape="0" blurRad="571500" dist="228600" dir="5400000">
              <a:srgbClr val="141C28">
                <a:alpha val="4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23925" y="1935956"/>
            <a:ext cx="5787330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5" name="Shape 3"/>
          <p:cNvSpPr/>
          <p:nvPr/>
        </p:nvSpPr>
        <p:spPr>
          <a:xfrm>
            <a:off x="1095375" y="1657350"/>
            <a:ext cx="104775" cy="104775"/>
          </a:xfrm>
          <a:prstGeom prst="ellipse">
            <a:avLst/>
          </a:prstGeom>
          <a:solidFill>
            <a:srgbClr val="E1552F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276350" y="1657350"/>
            <a:ext cx="104775" cy="104775"/>
          </a:xfrm>
          <a:prstGeom prst="ellipse">
            <a:avLst/>
          </a:prstGeom>
          <a:solidFill>
            <a:srgbClr val="E0A62F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457325" y="1657350"/>
            <a:ext cx="104775" cy="104775"/>
          </a:xfrm>
          <a:prstGeom prst="ellipse">
            <a:avLst/>
          </a:prstGeom>
          <a:solidFill>
            <a:srgbClr val="2E7D32">
              <a:alpha val="4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714500" y="1616869"/>
            <a:ext cx="2546033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58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app.netbase.com / dashboard</a:t>
            </a:r>
            <a:endParaRPr lang="en-US" sz="1125" dirty="0"/>
          </a:p>
        </p:txBody>
      </p:sp>
      <p:sp>
        <p:nvSpPr>
          <p:cNvPr id="9" name="Shape 7"/>
          <p:cNvSpPr/>
          <p:nvPr/>
        </p:nvSpPr>
        <p:spPr>
          <a:xfrm>
            <a:off x="923925" y="1945481"/>
            <a:ext cx="5787330" cy="3429000"/>
          </a:xfrm>
          <a:prstGeom prst="rect">
            <a:avLst/>
          </a:prstGeom>
          <a:solidFill>
            <a:srgbClr val="EEF3FA"/>
          </a:solidFill>
          <a:ln/>
        </p:spPr>
      </p:sp>
      <p:sp>
        <p:nvSpPr>
          <p:cNvPr id="10" name="Shape 8"/>
          <p:cNvSpPr/>
          <p:nvPr/>
        </p:nvSpPr>
        <p:spPr>
          <a:xfrm>
            <a:off x="2759794" y="3462338"/>
            <a:ext cx="2115517" cy="395288"/>
          </a:xfrm>
          <a:prstGeom prst="roundRect">
            <a:avLst>
              <a:gd name="adj" fmla="val 19277"/>
            </a:avLst>
          </a:prstGeom>
          <a:solidFill>
            <a:srgbClr val="FFFFFF">
              <a:alpha val="70000"/>
            </a:srgbClr>
          </a:solidFill>
          <a:ln w="9525">
            <a:solidFill>
              <a:srgbClr val="C4D3E6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2883619" y="3567113"/>
            <a:ext cx="1867867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spc="68" kern="0" dirty="0">
                <a:solidFill>
                  <a:srgbClr val="58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Hero screen · 16:10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7406580" y="2151534"/>
            <a:ext cx="212218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372"/>
              </a:lnSpc>
              <a:buNone/>
            </a:pPr>
            <a:r>
              <a:rPr lang="en-US" sz="1425" spc="314" kern="0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DECISIONS</a:t>
            </a:r>
            <a:endParaRPr lang="en-US" sz="1425" dirty="0"/>
          </a:p>
        </p:txBody>
      </p:sp>
      <p:sp>
        <p:nvSpPr>
          <p:cNvPr id="13" name="Text 11"/>
          <p:cNvSpPr/>
          <p:nvPr/>
        </p:nvSpPr>
        <p:spPr>
          <a:xfrm>
            <a:off x="7406580" y="2523009"/>
            <a:ext cx="3987150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195"/>
              </a:lnSpc>
              <a:buNone/>
            </a:pPr>
            <a:r>
              <a:rPr lang="en-US" sz="2700" b="1" spc="-54" kern="0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 choice on one screen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7406580" y="3433539"/>
            <a:ext cx="266700" cy="266700"/>
          </a:xfrm>
          <a:prstGeom prst="ellipse">
            <a:avLst/>
          </a:prstGeom>
          <a:solidFill>
            <a:srgbClr val="B8401B"/>
          </a:solidFill>
          <a:ln/>
        </p:spPr>
      </p:sp>
      <p:sp>
        <p:nvSpPr>
          <p:cNvPr id="15" name="Text 13"/>
          <p:cNvSpPr/>
          <p:nvPr/>
        </p:nvSpPr>
        <p:spPr>
          <a:xfrm>
            <a:off x="7368480" y="3433539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806630" y="3433539"/>
            <a:ext cx="3489253" cy="348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1575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Headline metric, sized to dominate.</a:t>
            </a:r>
            <a:endParaRPr lang="en-US" sz="1575" dirty="0"/>
          </a:p>
        </p:txBody>
      </p:sp>
      <p:sp>
        <p:nvSpPr>
          <p:cNvPr id="17" name="Shape 15"/>
          <p:cNvSpPr/>
          <p:nvPr/>
        </p:nvSpPr>
        <p:spPr>
          <a:xfrm>
            <a:off x="7406580" y="3914998"/>
            <a:ext cx="266700" cy="266700"/>
          </a:xfrm>
          <a:prstGeom prst="ellipse">
            <a:avLst/>
          </a:prstGeom>
          <a:solidFill>
            <a:srgbClr val="B8401B"/>
          </a:solidFill>
          <a:ln/>
        </p:spPr>
      </p:sp>
      <p:sp>
        <p:nvSpPr>
          <p:cNvPr id="18" name="Text 16"/>
          <p:cNvSpPr/>
          <p:nvPr/>
        </p:nvSpPr>
        <p:spPr>
          <a:xfrm>
            <a:off x="7368480" y="3914998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806630" y="3914998"/>
            <a:ext cx="2657520" cy="348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1575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link on every figure.</a:t>
            </a:r>
            <a:endParaRPr lang="en-US" sz="1575" dirty="0"/>
          </a:p>
        </p:txBody>
      </p:sp>
      <p:sp>
        <p:nvSpPr>
          <p:cNvPr id="20" name="Shape 18"/>
          <p:cNvSpPr/>
          <p:nvPr/>
        </p:nvSpPr>
        <p:spPr>
          <a:xfrm>
            <a:off x="7406580" y="4396457"/>
            <a:ext cx="266700" cy="266700"/>
          </a:xfrm>
          <a:prstGeom prst="ellipse">
            <a:avLst/>
          </a:prstGeom>
          <a:solidFill>
            <a:srgbClr val="B8401B"/>
          </a:solidFill>
          <a:ln/>
        </p:spPr>
      </p:sp>
      <p:sp>
        <p:nvSpPr>
          <p:cNvPr id="21" name="Text 19"/>
          <p:cNvSpPr/>
          <p:nvPr/>
        </p:nvSpPr>
        <p:spPr>
          <a:xfrm>
            <a:off x="7368480" y="4396457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806630" y="4396457"/>
            <a:ext cx="2962922" cy="348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1575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alert banner up top.</a:t>
            </a:r>
            <a:endParaRPr lang="en-US" sz="1575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2DDEC">
                  <a:alpha val="100000"/>
                </a:srgbClr>
              </a:gs>
              <a:gs pos="100000">
                <a:srgbClr val="E9EFF7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762000"/>
            <a:ext cx="3505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b="1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41165" y="785813"/>
            <a:ext cx="228540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372"/>
              </a:lnSpc>
              <a:buNone/>
            </a:pPr>
            <a:r>
              <a:rPr lang="en-US" sz="1425" spc="314" kern="0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KEY DECISION</a:t>
            </a:r>
            <a:endParaRPr lang="en-US" sz="1425" dirty="0"/>
          </a:p>
        </p:txBody>
      </p:sp>
      <p:sp>
        <p:nvSpPr>
          <p:cNvPr id="5" name="Text 3"/>
          <p:cNvSpPr/>
          <p:nvPr/>
        </p:nvSpPr>
        <p:spPr>
          <a:xfrm>
            <a:off x="914400" y="1181100"/>
            <a:ext cx="11399520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42"/>
              </a:lnSpc>
              <a:buNone/>
            </a:pPr>
            <a:r>
              <a:rPr lang="en-US" sz="3900" b="1" spc="-78" kern="0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number, not twelve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914400" y="2044005"/>
            <a:ext cx="3276600" cy="2159198"/>
          </a:xfrm>
          <a:prstGeom prst="roundRect">
            <a:avLst>
              <a:gd name="adj" fmla="val 7058"/>
            </a:avLst>
          </a:prstGeom>
          <a:solidFill>
            <a:srgbClr val="FFFFFF"/>
          </a:solidFill>
          <a:ln w="9525">
            <a:solidFill>
              <a:srgbClr val="C4D3E6"/>
            </a:solidFill>
            <a:prstDash val="solid"/>
          </a:ln>
          <a:effectLst>
            <a:outerShdw sx="100000" sy="100000" kx="0" ky="0" algn="bl" rotWithShape="0" blurRad="381000" dist="171450" dir="5400000">
              <a:srgbClr val="141C28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28725" y="2358330"/>
            <a:ext cx="2912745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05" kern="0" dirty="0">
                <a:solidFill>
                  <a:srgbClr val="58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DECISION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228725" y="2648843"/>
            <a:ext cx="2727389" cy="12781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1575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a single headline metric per view; demote everything else to drill-downs.</a:t>
            </a:r>
            <a:endParaRPr lang="en-US" sz="1575" dirty="0"/>
          </a:p>
        </p:txBody>
      </p:sp>
      <p:sp>
        <p:nvSpPr>
          <p:cNvPr id="9" name="Shape 7"/>
          <p:cNvSpPr/>
          <p:nvPr/>
        </p:nvSpPr>
        <p:spPr>
          <a:xfrm>
            <a:off x="4457700" y="2044005"/>
            <a:ext cx="3276600" cy="2159198"/>
          </a:xfrm>
          <a:prstGeom prst="roundRect">
            <a:avLst>
              <a:gd name="adj" fmla="val 7058"/>
            </a:avLst>
          </a:prstGeom>
          <a:solidFill>
            <a:srgbClr val="FFFFFF"/>
          </a:solidFill>
          <a:ln w="9525">
            <a:solidFill>
              <a:srgbClr val="C4D3E6"/>
            </a:solidFill>
            <a:prstDash val="solid"/>
          </a:ln>
          <a:effectLst>
            <a:outerShdw sx="100000" sy="100000" kx="0" ky="0" algn="bl" rotWithShape="0" blurRad="381000" dist="171450" dir="5400000">
              <a:srgbClr val="141C28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72025" y="2358330"/>
            <a:ext cx="2912745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05" kern="0" dirty="0">
                <a:solidFill>
                  <a:srgbClr val="58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72025" y="2648843"/>
            <a:ext cx="2727389" cy="968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1575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Executives read for seconds, not minutes. A single number is what they act on.</a:t>
            </a:r>
            <a:endParaRPr lang="en-US" sz="1575" dirty="0"/>
          </a:p>
        </p:txBody>
      </p:sp>
      <p:sp>
        <p:nvSpPr>
          <p:cNvPr id="12" name="Shape 10"/>
          <p:cNvSpPr/>
          <p:nvPr/>
        </p:nvSpPr>
        <p:spPr>
          <a:xfrm>
            <a:off x="8001000" y="2044005"/>
            <a:ext cx="3276600" cy="2159198"/>
          </a:xfrm>
          <a:prstGeom prst="roundRect">
            <a:avLst>
              <a:gd name="adj" fmla="val 70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0" dist="171450" dir="5400000">
              <a:srgbClr val="141C28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01000" y="4193679"/>
            <a:ext cx="3276600" cy="9525"/>
          </a:xfrm>
          <a:prstGeom prst="rect">
            <a:avLst/>
          </a:prstGeom>
          <a:solidFill>
            <a:srgbClr val="C4D3E6"/>
          </a:solidFill>
          <a:ln/>
        </p:spPr>
      </p:sp>
      <p:sp>
        <p:nvSpPr>
          <p:cNvPr id="14" name="Shape 12"/>
          <p:cNvSpPr/>
          <p:nvPr/>
        </p:nvSpPr>
        <p:spPr>
          <a:xfrm>
            <a:off x="8001000" y="2044005"/>
            <a:ext cx="3276600" cy="9525"/>
          </a:xfrm>
          <a:prstGeom prst="rect">
            <a:avLst/>
          </a:prstGeom>
          <a:solidFill>
            <a:srgbClr val="C4D3E6"/>
          </a:solidFill>
          <a:ln/>
        </p:spPr>
      </p:sp>
      <p:sp>
        <p:nvSpPr>
          <p:cNvPr id="15" name="Shape 13"/>
          <p:cNvSpPr/>
          <p:nvPr/>
        </p:nvSpPr>
        <p:spPr>
          <a:xfrm>
            <a:off x="8001000" y="2044005"/>
            <a:ext cx="28575" cy="2159198"/>
          </a:xfrm>
          <a:prstGeom prst="rect">
            <a:avLst/>
          </a:prstGeom>
          <a:solidFill>
            <a:srgbClr val="B8401B"/>
          </a:solidFill>
          <a:ln/>
        </p:spPr>
      </p:sp>
      <p:sp>
        <p:nvSpPr>
          <p:cNvPr id="16" name="Shape 14"/>
          <p:cNvSpPr/>
          <p:nvPr/>
        </p:nvSpPr>
        <p:spPr>
          <a:xfrm>
            <a:off x="11268075" y="2044005"/>
            <a:ext cx="9525" cy="2159198"/>
          </a:xfrm>
          <a:prstGeom prst="rect">
            <a:avLst/>
          </a:prstGeom>
          <a:solidFill>
            <a:srgbClr val="C4D3E6"/>
          </a:solidFill>
          <a:ln/>
        </p:spPr>
      </p:sp>
      <p:sp>
        <p:nvSpPr>
          <p:cNvPr id="17" name="Text 15"/>
          <p:cNvSpPr/>
          <p:nvPr/>
        </p:nvSpPr>
        <p:spPr>
          <a:xfrm>
            <a:off x="8334375" y="2358330"/>
            <a:ext cx="289179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05" kern="0" dirty="0">
                <a:solidFill>
                  <a:srgbClr val="B840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TRADEOFF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334375" y="2648843"/>
            <a:ext cx="2707767" cy="968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1575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users lost the at-a-glance grid — we won them back with fast drill-downs.</a:t>
            </a:r>
            <a:endParaRPr lang="en-US" sz="1575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2DDEC">
                  <a:alpha val="100000"/>
                </a:srgbClr>
              </a:gs>
              <a:gs pos="100000">
                <a:srgbClr val="E9EFF7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762000"/>
            <a:ext cx="3505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b="1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41165" y="785813"/>
            <a:ext cx="228581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372"/>
              </a:lnSpc>
              <a:buNone/>
            </a:pPr>
            <a:r>
              <a:rPr lang="en-US" sz="1425" spc="314" kern="0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→ ITERATE</a:t>
            </a:r>
            <a:endParaRPr lang="en-US" sz="1425" dirty="0"/>
          </a:p>
        </p:txBody>
      </p:sp>
      <p:sp>
        <p:nvSpPr>
          <p:cNvPr id="5" name="Text 3"/>
          <p:cNvSpPr/>
          <p:nvPr/>
        </p:nvSpPr>
        <p:spPr>
          <a:xfrm>
            <a:off x="914400" y="1181100"/>
            <a:ext cx="11399520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42"/>
              </a:lnSpc>
              <a:buNone/>
            </a:pPr>
            <a:r>
              <a:rPr lang="en-US" sz="3900" b="1" spc="-78" kern="0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testing changed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914400" y="2199010"/>
            <a:ext cx="4610100" cy="986284"/>
          </a:xfrm>
          <a:prstGeom prst="roundRect">
            <a:avLst>
              <a:gd name="adj" fmla="val 15452"/>
            </a:avLst>
          </a:prstGeom>
          <a:solidFill>
            <a:srgbClr val="FFFFFF"/>
          </a:solidFill>
          <a:ln w="9525">
            <a:solidFill>
              <a:srgbClr val="C4D3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1575" y="2418085"/>
            <a:ext cx="450532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78" kern="0" dirty="0">
                <a:solidFill>
                  <a:srgbClr val="58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OBSERVED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1171575" y="2656210"/>
            <a:ext cx="4505325" cy="348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1575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of 9 missed the source link entirely.</a:t>
            </a:r>
            <a:endParaRPr lang="en-US" sz="1575" dirty="0"/>
          </a:p>
        </p:txBody>
      </p:sp>
      <p:sp>
        <p:nvSpPr>
          <p:cNvPr id="9" name="Text 7"/>
          <p:cNvSpPr/>
          <p:nvPr/>
        </p:nvSpPr>
        <p:spPr>
          <a:xfrm>
            <a:off x="5734050" y="2558802"/>
            <a:ext cx="342900" cy="3048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6154"/>
              </a:lnSpc>
              <a:buNone/>
            </a:pPr>
            <a:r>
              <a:rPr lang="en-US" sz="2100" dirty="0">
                <a:solidFill>
                  <a:srgbClr val="B84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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6210300" y="2044005"/>
            <a:ext cx="4610100" cy="1296293"/>
          </a:xfrm>
          <a:prstGeom prst="roundRect">
            <a:avLst>
              <a:gd name="adj" fmla="val 117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0" dist="171450" dir="5400000">
              <a:srgbClr val="141C28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10300" y="3330773"/>
            <a:ext cx="4610100" cy="9525"/>
          </a:xfrm>
          <a:prstGeom prst="rect">
            <a:avLst/>
          </a:prstGeom>
          <a:solidFill>
            <a:srgbClr val="C4D3E6"/>
          </a:solidFill>
          <a:ln/>
        </p:spPr>
      </p:sp>
      <p:sp>
        <p:nvSpPr>
          <p:cNvPr id="12" name="Shape 10"/>
          <p:cNvSpPr/>
          <p:nvPr/>
        </p:nvSpPr>
        <p:spPr>
          <a:xfrm>
            <a:off x="6210300" y="2044005"/>
            <a:ext cx="4610100" cy="9525"/>
          </a:xfrm>
          <a:prstGeom prst="rect">
            <a:avLst/>
          </a:prstGeom>
          <a:solidFill>
            <a:srgbClr val="C4D3E6"/>
          </a:solidFill>
          <a:ln/>
        </p:spPr>
      </p:sp>
      <p:sp>
        <p:nvSpPr>
          <p:cNvPr id="13" name="Shape 11"/>
          <p:cNvSpPr/>
          <p:nvPr/>
        </p:nvSpPr>
        <p:spPr>
          <a:xfrm>
            <a:off x="6210300" y="2044005"/>
            <a:ext cx="28575" cy="1296293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4" name="Shape 12"/>
          <p:cNvSpPr/>
          <p:nvPr/>
        </p:nvSpPr>
        <p:spPr>
          <a:xfrm>
            <a:off x="10810875" y="2044005"/>
            <a:ext cx="9525" cy="1296293"/>
          </a:xfrm>
          <a:prstGeom prst="rect">
            <a:avLst/>
          </a:prstGeom>
          <a:solidFill>
            <a:srgbClr val="C4D3E6"/>
          </a:solidFill>
          <a:ln/>
        </p:spPr>
      </p:sp>
      <p:sp>
        <p:nvSpPr>
          <p:cNvPr id="15" name="Text 13"/>
          <p:cNvSpPr/>
          <p:nvPr/>
        </p:nvSpPr>
        <p:spPr>
          <a:xfrm>
            <a:off x="6486525" y="2263080"/>
            <a:ext cx="448437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78" kern="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CHANGED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6486525" y="2501205"/>
            <a:ext cx="4199001" cy="65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1575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Moved it inline, next to the number — 8 of 9 found it.</a:t>
            </a:r>
            <a:endParaRPr lang="en-US" sz="1575" dirty="0"/>
          </a:p>
        </p:txBody>
      </p:sp>
      <p:sp>
        <p:nvSpPr>
          <p:cNvPr id="17" name="Shape 15"/>
          <p:cNvSpPr/>
          <p:nvPr/>
        </p:nvSpPr>
        <p:spPr>
          <a:xfrm>
            <a:off x="914400" y="3704853"/>
            <a:ext cx="4610100" cy="986284"/>
          </a:xfrm>
          <a:prstGeom prst="roundRect">
            <a:avLst>
              <a:gd name="adj" fmla="val 15452"/>
            </a:avLst>
          </a:prstGeom>
          <a:solidFill>
            <a:srgbClr val="FFFFFF"/>
          </a:solidFill>
          <a:ln w="9525">
            <a:solidFill>
              <a:srgbClr val="C4D3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71575" y="3923928"/>
            <a:ext cx="450532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78" kern="0" dirty="0">
                <a:solidFill>
                  <a:srgbClr val="58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OBSERVED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1171575" y="4162053"/>
            <a:ext cx="4505325" cy="348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1575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banner was mistaken for an ad.</a:t>
            </a:r>
            <a:endParaRPr lang="en-US" sz="1575" dirty="0"/>
          </a:p>
        </p:txBody>
      </p:sp>
      <p:sp>
        <p:nvSpPr>
          <p:cNvPr id="20" name="Text 18"/>
          <p:cNvSpPr/>
          <p:nvPr/>
        </p:nvSpPr>
        <p:spPr>
          <a:xfrm>
            <a:off x="5734050" y="4064645"/>
            <a:ext cx="342900" cy="3048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6154"/>
              </a:lnSpc>
              <a:buNone/>
            </a:pPr>
            <a:r>
              <a:rPr lang="en-US" sz="2100" dirty="0">
                <a:solidFill>
                  <a:srgbClr val="B84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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6210300" y="3549848"/>
            <a:ext cx="4610100" cy="1296293"/>
          </a:xfrm>
          <a:prstGeom prst="roundRect">
            <a:avLst>
              <a:gd name="adj" fmla="val 117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0" dist="171450" dir="5400000">
              <a:srgbClr val="141C28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10300" y="4836616"/>
            <a:ext cx="4610100" cy="9525"/>
          </a:xfrm>
          <a:prstGeom prst="rect">
            <a:avLst/>
          </a:prstGeom>
          <a:solidFill>
            <a:srgbClr val="C4D3E6"/>
          </a:solidFill>
          <a:ln/>
        </p:spPr>
      </p:sp>
      <p:sp>
        <p:nvSpPr>
          <p:cNvPr id="23" name="Shape 21"/>
          <p:cNvSpPr/>
          <p:nvPr/>
        </p:nvSpPr>
        <p:spPr>
          <a:xfrm>
            <a:off x="6210300" y="3549848"/>
            <a:ext cx="4610100" cy="9525"/>
          </a:xfrm>
          <a:prstGeom prst="rect">
            <a:avLst/>
          </a:prstGeom>
          <a:solidFill>
            <a:srgbClr val="C4D3E6"/>
          </a:solidFill>
          <a:ln/>
        </p:spPr>
      </p:sp>
      <p:sp>
        <p:nvSpPr>
          <p:cNvPr id="24" name="Shape 22"/>
          <p:cNvSpPr/>
          <p:nvPr/>
        </p:nvSpPr>
        <p:spPr>
          <a:xfrm>
            <a:off x="6210300" y="3549848"/>
            <a:ext cx="28575" cy="1296293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5" name="Shape 23"/>
          <p:cNvSpPr/>
          <p:nvPr/>
        </p:nvSpPr>
        <p:spPr>
          <a:xfrm>
            <a:off x="10810875" y="3549848"/>
            <a:ext cx="9525" cy="1296293"/>
          </a:xfrm>
          <a:prstGeom prst="rect">
            <a:avLst/>
          </a:prstGeom>
          <a:solidFill>
            <a:srgbClr val="C4D3E6"/>
          </a:solidFill>
          <a:ln/>
        </p:spPr>
      </p:sp>
      <p:sp>
        <p:nvSpPr>
          <p:cNvPr id="26" name="Text 24"/>
          <p:cNvSpPr/>
          <p:nvPr/>
        </p:nvSpPr>
        <p:spPr>
          <a:xfrm>
            <a:off x="6486525" y="3768923"/>
            <a:ext cx="448437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78" kern="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CHANGED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6486525" y="4007048"/>
            <a:ext cx="4199001" cy="65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1575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Re-styled to match the system — dismissals dropped 60%.</a:t>
            </a:r>
            <a:endParaRPr lang="en-US" sz="1575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2DDEC">
                  <a:alpha val="100000"/>
                </a:srgbClr>
              </a:gs>
              <a:gs pos="100000">
                <a:srgbClr val="E9EFF7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762000"/>
            <a:ext cx="3505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b="1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41165" y="785813"/>
            <a:ext cx="293836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372"/>
              </a:lnSpc>
              <a:buNone/>
            </a:pPr>
            <a:r>
              <a:rPr lang="en-US" sz="1425" spc="314" kern="0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 LEFT BEHIND</a:t>
            </a:r>
            <a:endParaRPr lang="en-US" sz="1425" dirty="0"/>
          </a:p>
        </p:txBody>
      </p:sp>
      <p:sp>
        <p:nvSpPr>
          <p:cNvPr id="5" name="Text 3"/>
          <p:cNvSpPr/>
          <p:nvPr/>
        </p:nvSpPr>
        <p:spPr>
          <a:xfrm>
            <a:off x="914400" y="1181100"/>
            <a:ext cx="11399520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42"/>
              </a:lnSpc>
              <a:buNone/>
            </a:pPr>
            <a:r>
              <a:rPr lang="en-US" sz="3900" b="1" spc="-78" kern="0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Contribution to the design system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914400" y="2044005"/>
            <a:ext cx="549021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58" kern="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COMPONENTS</a:t>
            </a:r>
            <a:endParaRPr lang="en-US" sz="1125" dirty="0"/>
          </a:p>
        </p:txBody>
      </p:sp>
      <p:sp>
        <p:nvSpPr>
          <p:cNvPr id="7" name="Shape 5"/>
          <p:cNvSpPr/>
          <p:nvPr/>
        </p:nvSpPr>
        <p:spPr>
          <a:xfrm>
            <a:off x="914400" y="2382143"/>
            <a:ext cx="1192560" cy="328613"/>
          </a:xfrm>
          <a:prstGeom prst="roundRect">
            <a:avLst>
              <a:gd name="adj" fmla="val 50000"/>
            </a:avLst>
          </a:prstGeom>
          <a:solidFill>
            <a:srgbClr val="F4F8FF"/>
          </a:solidFill>
          <a:ln w="9525">
            <a:solidFill>
              <a:srgbClr val="C4D3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7275" y="2458343"/>
            <a:ext cx="98301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spc="84" kern="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METRICCARD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02210" y="2382143"/>
            <a:ext cx="1192560" cy="328613"/>
          </a:xfrm>
          <a:prstGeom prst="roundRect">
            <a:avLst>
              <a:gd name="adj" fmla="val 50000"/>
            </a:avLst>
          </a:prstGeom>
          <a:solidFill>
            <a:srgbClr val="F4F8FF"/>
          </a:solidFill>
          <a:ln w="9525">
            <a:solidFill>
              <a:srgbClr val="C4D3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45085" y="2458343"/>
            <a:ext cx="98301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spc="84" kern="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SOURCELINK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90020" y="2382143"/>
            <a:ext cx="1283271" cy="328613"/>
          </a:xfrm>
          <a:prstGeom prst="roundRect">
            <a:avLst>
              <a:gd name="adj" fmla="val 50000"/>
            </a:avLst>
          </a:prstGeom>
          <a:solidFill>
            <a:srgbClr val="F4F8FF"/>
          </a:solidFill>
          <a:ln w="9525">
            <a:solidFill>
              <a:srgbClr val="C4D3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32895" y="2458343"/>
            <a:ext cx="1073721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spc="84" kern="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ALERTBANNER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14400" y="3015555"/>
            <a:ext cx="1283271" cy="328613"/>
          </a:xfrm>
          <a:prstGeom prst="roundRect">
            <a:avLst>
              <a:gd name="adj" fmla="val 50000"/>
            </a:avLst>
          </a:prstGeom>
          <a:solidFill>
            <a:srgbClr val="F4F8FF"/>
          </a:solidFill>
          <a:ln w="9525">
            <a:solidFill>
              <a:srgbClr val="C4D3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7275" y="3091755"/>
            <a:ext cx="1073721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spc="84" kern="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COMPARETRAY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292921" y="3015555"/>
            <a:ext cx="1555254" cy="328613"/>
          </a:xfrm>
          <a:prstGeom prst="roundRect">
            <a:avLst>
              <a:gd name="adj" fmla="val 50000"/>
            </a:avLst>
          </a:prstGeom>
          <a:solidFill>
            <a:srgbClr val="F4F8FF"/>
          </a:solidFill>
          <a:ln w="9525">
            <a:solidFill>
              <a:srgbClr val="C4D3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35796" y="3091755"/>
            <a:ext cx="1345704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spc="84" kern="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THRESHOLDINPUT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14400" y="3782318"/>
            <a:ext cx="5140833" cy="65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1575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components, documented and handed off with usage specs — now used across three other teams.</a:t>
            </a:r>
            <a:endParaRPr lang="en-US" sz="1575" dirty="0"/>
          </a:p>
        </p:txBody>
      </p:sp>
      <p:sp>
        <p:nvSpPr>
          <p:cNvPr id="18" name="Text 16"/>
          <p:cNvSpPr/>
          <p:nvPr/>
        </p:nvSpPr>
        <p:spPr>
          <a:xfrm>
            <a:off x="6286500" y="2044005"/>
            <a:ext cx="549021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58" kern="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TOKENS DEFINED</a:t>
            </a:r>
            <a:endParaRPr lang="en-US" sz="1125" dirty="0"/>
          </a:p>
        </p:txBody>
      </p:sp>
      <p:sp>
        <p:nvSpPr>
          <p:cNvPr id="19" name="Shape 17"/>
          <p:cNvSpPr/>
          <p:nvPr/>
        </p:nvSpPr>
        <p:spPr>
          <a:xfrm>
            <a:off x="6286500" y="2382143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1976D2"/>
          </a:solidFill>
          <a:ln/>
        </p:spPr>
      </p:sp>
      <p:sp>
        <p:nvSpPr>
          <p:cNvPr id="20" name="Text 18"/>
          <p:cNvSpPr/>
          <p:nvPr/>
        </p:nvSpPr>
        <p:spPr>
          <a:xfrm>
            <a:off x="6248400" y="2991743"/>
            <a:ext cx="6096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46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934200" y="2382143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B8401B"/>
          </a:solidFill>
          <a:ln/>
        </p:spPr>
      </p:sp>
      <p:sp>
        <p:nvSpPr>
          <p:cNvPr id="22" name="Text 20"/>
          <p:cNvSpPr/>
          <p:nvPr/>
        </p:nvSpPr>
        <p:spPr>
          <a:xfrm>
            <a:off x="6896100" y="2991743"/>
            <a:ext cx="6096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46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signal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581900" y="2382143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2E7D32"/>
          </a:solidFill>
          <a:ln/>
        </p:spPr>
      </p:sp>
      <p:sp>
        <p:nvSpPr>
          <p:cNvPr id="24" name="Text 22"/>
          <p:cNvSpPr/>
          <p:nvPr/>
        </p:nvSpPr>
        <p:spPr>
          <a:xfrm>
            <a:off x="7543800" y="2991743"/>
            <a:ext cx="6096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46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success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229600" y="2382143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141C28"/>
          </a:solidFill>
          <a:ln/>
        </p:spPr>
      </p:sp>
      <p:sp>
        <p:nvSpPr>
          <p:cNvPr id="26" name="Text 24"/>
          <p:cNvSpPr/>
          <p:nvPr/>
        </p:nvSpPr>
        <p:spPr>
          <a:xfrm>
            <a:off x="8191500" y="2991743"/>
            <a:ext cx="6096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46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ink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86500" y="3372743"/>
            <a:ext cx="5140833" cy="65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1575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semantic color layer and an 8px spacing scale the whole product now shares.</a:t>
            </a:r>
            <a:endParaRPr lang="en-US" sz="1575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2DDEC">
                  <a:alpha val="100000"/>
                </a:srgbClr>
              </a:gs>
              <a:gs pos="100000">
                <a:srgbClr val="E9EFF7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762000"/>
            <a:ext cx="3505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b="1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41165" y="785813"/>
            <a:ext cx="293836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372"/>
              </a:lnSpc>
              <a:buNone/>
            </a:pPr>
            <a:r>
              <a:rPr lang="en-US" sz="1425" spc="314" kern="0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BUILT FOR EVERYONE</a:t>
            </a:r>
            <a:endParaRPr lang="en-US" sz="1425" dirty="0"/>
          </a:p>
        </p:txBody>
      </p:sp>
      <p:sp>
        <p:nvSpPr>
          <p:cNvPr id="5" name="Text 3"/>
          <p:cNvSpPr/>
          <p:nvPr/>
        </p:nvSpPr>
        <p:spPr>
          <a:xfrm>
            <a:off x="914400" y="1181100"/>
            <a:ext cx="11399520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42"/>
              </a:lnSpc>
              <a:buNone/>
            </a:pPr>
            <a:r>
              <a:rPr lang="en-US" sz="3900" b="1" spc="-78" kern="0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Accessibility notes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914400" y="2044005"/>
            <a:ext cx="228600" cy="190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6486"/>
              </a:lnSpc>
              <a:buNone/>
            </a:pPr>
            <a:r>
              <a:rPr lang="en-US" sz="12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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00150" y="2044005"/>
            <a:ext cx="478870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text meets WCAG AA — 4.5:1 minimum contrast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096000" y="2044005"/>
            <a:ext cx="228600" cy="190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6486"/>
              </a:lnSpc>
              <a:buNone/>
            </a:pPr>
            <a:r>
              <a:rPr lang="en-US" sz="12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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81750" y="2044005"/>
            <a:ext cx="343662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 targets 44px or larger throughout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2482155"/>
            <a:ext cx="228600" cy="190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6486"/>
              </a:lnSpc>
              <a:buNone/>
            </a:pPr>
            <a:r>
              <a:rPr lang="en-US" sz="12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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00150" y="2482155"/>
            <a:ext cx="395386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keyboard navigation with visible focus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096000" y="2482155"/>
            <a:ext cx="228600" cy="190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6486"/>
              </a:lnSpc>
              <a:buNone/>
            </a:pPr>
            <a:r>
              <a:rPr lang="en-US" sz="12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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81750" y="2482155"/>
            <a:ext cx="406780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color alone — icons and labels paired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2920305"/>
            <a:ext cx="228600" cy="190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6486"/>
              </a:lnSpc>
              <a:buNone/>
            </a:pPr>
            <a:r>
              <a:rPr lang="en-US" sz="12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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00150" y="2920305"/>
            <a:ext cx="359108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regions announce real-time alerts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096000" y="2920305"/>
            <a:ext cx="228600" cy="190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6486"/>
              </a:lnSpc>
              <a:buNone/>
            </a:pPr>
            <a:r>
              <a:rPr lang="en-US" sz="12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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81750" y="2920305"/>
            <a:ext cx="30875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Tested with VoiceOver and NVDA</a:t>
            </a:r>
            <a:endParaRPr lang="en-US" sz="15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2DDEC">
                  <a:alpha val="100000"/>
                </a:srgbClr>
              </a:gs>
              <a:gs pos="100000">
                <a:srgbClr val="E9EFF7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762000"/>
            <a:ext cx="3505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b="1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41165" y="785813"/>
            <a:ext cx="391776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372"/>
              </a:lnSpc>
              <a:buNone/>
            </a:pPr>
            <a:r>
              <a:rPr lang="en-US" sz="1425" spc="314" kern="0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DESIGN, EVERY SCREEN</a:t>
            </a:r>
            <a:endParaRPr lang="en-US" sz="1425" dirty="0"/>
          </a:p>
        </p:txBody>
      </p:sp>
      <p:sp>
        <p:nvSpPr>
          <p:cNvPr id="5" name="Text 3"/>
          <p:cNvSpPr/>
          <p:nvPr/>
        </p:nvSpPr>
        <p:spPr>
          <a:xfrm>
            <a:off x="914400" y="1181100"/>
            <a:ext cx="11399520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42"/>
              </a:lnSpc>
              <a:buNone/>
            </a:pPr>
            <a:r>
              <a:rPr lang="en-US" sz="3900" b="1" spc="-78" kern="0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Across breakpoints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1571625" y="2044005"/>
            <a:ext cx="1238250" cy="3619500"/>
          </a:xfrm>
          <a:prstGeom prst="rect">
            <a:avLst/>
          </a:prstGeom>
          <a:solidFill>
            <a:srgbClr val="EEF3FA"/>
          </a:solidFill>
          <a:ln/>
        </p:spPr>
      </p:sp>
      <p:sp>
        <p:nvSpPr>
          <p:cNvPr id="7" name="Shape 5"/>
          <p:cNvSpPr/>
          <p:nvPr/>
        </p:nvSpPr>
        <p:spPr>
          <a:xfrm>
            <a:off x="1745903" y="3656112"/>
            <a:ext cx="889695" cy="395288"/>
          </a:xfrm>
          <a:prstGeom prst="roundRect">
            <a:avLst>
              <a:gd name="adj" fmla="val 19277"/>
            </a:avLst>
          </a:prstGeom>
          <a:solidFill>
            <a:srgbClr val="FFFFFF">
              <a:alpha val="70000"/>
            </a:srgbClr>
          </a:solidFill>
          <a:ln w="9525">
            <a:solidFill>
              <a:srgbClr val="C4D3E6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1869728" y="3760887"/>
            <a:ext cx="64204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spc="68" kern="0" dirty="0">
                <a:solidFill>
                  <a:srgbClr val="58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Mobile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1509713" y="5777805"/>
            <a:ext cx="1362075" cy="2728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6410"/>
              </a:lnSpc>
              <a:buNone/>
            </a:pPr>
            <a:r>
              <a:rPr lang="en-US" sz="1275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375px</a:t>
            </a:r>
            <a:endParaRPr lang="en-US" sz="1275" dirty="0"/>
          </a:p>
        </p:txBody>
      </p:sp>
      <p:sp>
        <p:nvSpPr>
          <p:cNvPr id="10" name="Shape 8"/>
          <p:cNvSpPr/>
          <p:nvPr/>
        </p:nvSpPr>
        <p:spPr>
          <a:xfrm>
            <a:off x="3190875" y="2044005"/>
            <a:ext cx="2857500" cy="3619500"/>
          </a:xfrm>
          <a:prstGeom prst="rect">
            <a:avLst/>
          </a:prstGeom>
          <a:solidFill>
            <a:srgbClr val="EEF3FA"/>
          </a:solidFill>
          <a:ln/>
        </p:spPr>
      </p:sp>
      <p:sp>
        <p:nvSpPr>
          <p:cNvPr id="11" name="Shape 9"/>
          <p:cNvSpPr/>
          <p:nvPr/>
        </p:nvSpPr>
        <p:spPr>
          <a:xfrm>
            <a:off x="4174778" y="3656112"/>
            <a:ext cx="889695" cy="395288"/>
          </a:xfrm>
          <a:prstGeom prst="roundRect">
            <a:avLst>
              <a:gd name="adj" fmla="val 19277"/>
            </a:avLst>
          </a:prstGeom>
          <a:solidFill>
            <a:srgbClr val="FFFFFF">
              <a:alpha val="70000"/>
            </a:srgbClr>
          </a:solidFill>
          <a:ln w="9525">
            <a:solidFill>
              <a:srgbClr val="C4D3E6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4298603" y="3760887"/>
            <a:ext cx="64204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spc="68" kern="0" dirty="0">
                <a:solidFill>
                  <a:srgbClr val="58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Tablet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3048000" y="5777805"/>
            <a:ext cx="3143250" cy="2728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6410"/>
              </a:lnSpc>
              <a:buNone/>
            </a:pPr>
            <a:r>
              <a:rPr lang="en-US" sz="1275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768px</a:t>
            </a:r>
            <a:endParaRPr lang="en-US" sz="1275" dirty="0"/>
          </a:p>
        </p:txBody>
      </p:sp>
      <p:sp>
        <p:nvSpPr>
          <p:cNvPr id="14" name="Shape 12"/>
          <p:cNvSpPr/>
          <p:nvPr/>
        </p:nvSpPr>
        <p:spPr>
          <a:xfrm>
            <a:off x="6429375" y="2044005"/>
            <a:ext cx="4191000" cy="3619500"/>
          </a:xfrm>
          <a:prstGeom prst="rect">
            <a:avLst/>
          </a:prstGeom>
          <a:solidFill>
            <a:srgbClr val="EEF3FA"/>
          </a:solidFill>
          <a:ln/>
        </p:spPr>
      </p:sp>
      <p:sp>
        <p:nvSpPr>
          <p:cNvPr id="15" name="Shape 13"/>
          <p:cNvSpPr/>
          <p:nvPr/>
        </p:nvSpPr>
        <p:spPr>
          <a:xfrm>
            <a:off x="8032849" y="3656112"/>
            <a:ext cx="983977" cy="395288"/>
          </a:xfrm>
          <a:prstGeom prst="roundRect">
            <a:avLst>
              <a:gd name="adj" fmla="val 19277"/>
            </a:avLst>
          </a:prstGeom>
          <a:solidFill>
            <a:srgbClr val="FFFFFF">
              <a:alpha val="70000"/>
            </a:srgbClr>
          </a:solidFill>
          <a:ln w="9525">
            <a:solidFill>
              <a:srgbClr val="C4D3E6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8156674" y="3760887"/>
            <a:ext cx="736327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spc="68" kern="0" dirty="0">
                <a:solidFill>
                  <a:srgbClr val="58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Desktop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6219825" y="5777805"/>
            <a:ext cx="4610100" cy="2728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6410"/>
              </a:lnSpc>
              <a:buNone/>
            </a:pPr>
            <a:r>
              <a:rPr lang="en-US" sz="1275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1440px</a:t>
            </a:r>
            <a:endParaRPr lang="en-US" sz="1275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2DDEC">
                  <a:alpha val="100000"/>
                </a:srgbClr>
              </a:gs>
              <a:gs pos="100000">
                <a:srgbClr val="E9EFF7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762000"/>
            <a:ext cx="1958883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372"/>
              </a:lnSpc>
              <a:buNone/>
            </a:pPr>
            <a:r>
              <a:rPr lang="en-US" sz="1425" spc="314" kern="0" dirty="0">
                <a:solidFill>
                  <a:srgbClr val="B840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BEING HONEST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914400" y="1133475"/>
            <a:ext cx="11399520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42"/>
              </a:lnSpc>
              <a:buNone/>
            </a:pPr>
            <a:r>
              <a:rPr lang="en-US" sz="3900" b="1" spc="-78" kern="0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I'd do differently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914400" y="1996380"/>
            <a:ext cx="4953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2250" b="1" dirty="0">
                <a:solidFill>
                  <a:srgbClr val="42A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504950" y="1996380"/>
            <a:ext cx="4493324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15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the alert concept before building it — we assumed value we hadn't earned, and it cost a round.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324600" y="1996380"/>
            <a:ext cx="4953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2250" b="1" dirty="0">
                <a:solidFill>
                  <a:srgbClr val="42A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6915150" y="1996380"/>
            <a:ext cx="4493324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15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 at least two net-new prospects — every insight skewed toward retention.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3063180"/>
            <a:ext cx="4953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2250" b="1" dirty="0">
                <a:solidFill>
                  <a:srgbClr val="42A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504950" y="3063180"/>
            <a:ext cx="4493324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15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engineering into the metric-hierarchy call sooner; the pipeline constraint reshaped it late.</a:t>
            </a:r>
            <a:endParaRPr lang="en-US" sz="15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BE4F0">
                  <a:alpha val="100000"/>
                </a:srgbClr>
              </a:gs>
              <a:gs pos="100000">
                <a:srgbClr val="F4F8FF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1045369"/>
            <a:ext cx="126340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372"/>
              </a:lnSpc>
              <a:buNone/>
            </a:pPr>
            <a:r>
              <a:rPr lang="en-US" sz="1425" spc="314" kern="0" dirty="0">
                <a:solidFill>
                  <a:srgbClr val="B840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APPENDIX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857250" y="1416844"/>
            <a:ext cx="11462385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470"/>
              </a:lnSpc>
              <a:buNone/>
            </a:pPr>
            <a:r>
              <a:rPr lang="en-US" sz="15000" b="1" spc="-600" kern="0" dirty="0">
                <a:solidFill>
                  <a:srgbClr val="C4D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914400" y="3207544"/>
            <a:ext cx="1139952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spc="-90" kern="0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Backup &amp; detail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914400" y="4083844"/>
            <a:ext cx="6216030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Supporting material for the deep questions — pull these in only if the room asks. The main story ended on the previous slide.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5398294"/>
            <a:ext cx="10363200" cy="414338"/>
          </a:xfrm>
          <a:prstGeom prst="roundRect">
            <a:avLst>
              <a:gd name="adj" fmla="val 18391"/>
            </a:avLst>
          </a:prstGeom>
          <a:ln w="9525">
            <a:solidFill>
              <a:srgbClr val="C4D3E6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1095375" y="5519738"/>
            <a:ext cx="247650" cy="2095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5714"/>
              </a:lnSpc>
              <a:buNone/>
            </a:pPr>
            <a:r>
              <a:rPr lang="en-US" sz="1350" dirty="0">
                <a:solidFill>
                  <a:srgbClr val="586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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381125" y="5512594"/>
            <a:ext cx="3319321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58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Everything past here is optional</a:t>
            </a:r>
            <a:endParaRPr lang="en-US" sz="1125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2DDEC">
                  <a:alpha val="100000"/>
                </a:srgbClr>
              </a:gs>
              <a:gs pos="100000">
                <a:srgbClr val="E9EFF7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762000"/>
            <a:ext cx="212218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372"/>
              </a:lnSpc>
              <a:buNone/>
            </a:pPr>
            <a:r>
              <a:rPr lang="en-US" sz="1425" spc="314" kern="0" dirty="0">
                <a:solidFill>
                  <a:srgbClr val="B840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APPENDIX · A1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914400" y="1133475"/>
            <a:ext cx="11399520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42"/>
              </a:lnSpc>
              <a:buNone/>
            </a:pPr>
            <a:r>
              <a:rPr lang="en-US" sz="3900" b="1" spc="-78" kern="0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we ran the research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914400" y="1729680"/>
            <a:ext cx="2280717" cy="328613"/>
          </a:xfrm>
          <a:prstGeom prst="roundRect">
            <a:avLst>
              <a:gd name="adj" fmla="val 50000"/>
            </a:avLst>
          </a:prstGeom>
          <a:solidFill>
            <a:srgbClr val="F4F8FF"/>
          </a:solidFill>
          <a:ln w="9525">
            <a:solidFill>
              <a:srgbClr val="C4D3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7275" y="1805880"/>
            <a:ext cx="2071167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spc="84" kern="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INTERVIEWS · 45 MIN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09417" y="1729680"/>
            <a:ext cx="2099370" cy="328613"/>
          </a:xfrm>
          <a:prstGeom prst="roundRect">
            <a:avLst>
              <a:gd name="adj" fmla="val 50000"/>
            </a:avLst>
          </a:prstGeom>
          <a:solidFill>
            <a:srgbClr val="F4F8FF"/>
          </a:solidFill>
          <a:ln w="9525">
            <a:solidFill>
              <a:srgbClr val="C4D3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52292" y="1805880"/>
            <a:ext cx="188982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spc="84" kern="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15-PLATFORM TEARDOWN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523086" y="1729680"/>
            <a:ext cx="2280717" cy="328613"/>
          </a:xfrm>
          <a:prstGeom prst="roundRect">
            <a:avLst>
              <a:gd name="adj" fmla="val 50000"/>
            </a:avLst>
          </a:prstGeom>
          <a:solidFill>
            <a:srgbClr val="F4F8FF"/>
          </a:solidFill>
          <a:ln w="9525">
            <a:solidFill>
              <a:srgbClr val="C4D3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5961" y="1805880"/>
            <a:ext cx="2071167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spc="84" kern="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FIRST-CLICK TEST · N=9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918103" y="1729680"/>
            <a:ext cx="2099370" cy="328613"/>
          </a:xfrm>
          <a:prstGeom prst="roundRect">
            <a:avLst>
              <a:gd name="adj" fmla="val 50000"/>
            </a:avLst>
          </a:prstGeom>
          <a:solidFill>
            <a:srgbClr val="F4F8FF"/>
          </a:solidFill>
          <a:ln w="9525">
            <a:solidFill>
              <a:srgbClr val="C4D3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60978" y="1805880"/>
            <a:ext cx="188982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spc="84" kern="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MAZE ROUNDS · N=24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14400" y="2439293"/>
            <a:ext cx="4953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2250" b="1" dirty="0">
                <a:solidFill>
                  <a:srgbClr val="42A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504950" y="2439293"/>
            <a:ext cx="4493324" cy="110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1500" b="1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Recruiting. </a:t>
            </a:r>
            <a:pPr algn="l" indent="0" marL="0">
              <a:lnSpc>
                <a:spcPct val="124444"/>
              </a:lnSpc>
              <a:buNone/>
            </a:pPr>
            <a:r>
              <a:rPr lang="en-US" sz="15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senior analysts across 6 enterprise accounts, screened for weekly reporting ownership. Sourced through the client's CS team over three weeks.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24600" y="2439293"/>
            <a:ext cx="4953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2250" b="1" dirty="0">
                <a:solidFill>
                  <a:srgbClr val="42A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6915150" y="2439293"/>
            <a:ext cx="4493324" cy="110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1500" b="1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 protocol. </a:t>
            </a:r>
            <a:pPr algn="l" indent="0" marL="0">
              <a:lnSpc>
                <a:spcPct val="124444"/>
              </a:lnSpc>
              <a:buNone/>
            </a:pPr>
            <a:r>
              <a:rPr lang="en-US" sz="15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Semi-structured, task-recall driven. Transcribed and tagged in Dovetail; affinity-mapped to 4 theme clusters (trust, speed, alerts, sharing).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4400" y="3777555"/>
            <a:ext cx="4953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2250" b="1" dirty="0">
                <a:solidFill>
                  <a:srgbClr val="42A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504950" y="3777555"/>
            <a:ext cx="4493324" cy="110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1500" b="1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Usability. </a:t>
            </a:r>
            <a:pPr algn="l" indent="0" marL="0">
              <a:lnSpc>
                <a:spcPct val="124444"/>
              </a:lnSpc>
              <a:buNone/>
            </a:pPr>
            <a:r>
              <a:rPr lang="en-US" sz="15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unmoderated Maze rounds on the prototype — first-click plus task-success on the three highest-traffic flows. Round two after the metric-hierarchy revision.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24600" y="3777555"/>
            <a:ext cx="4953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2250" b="1" dirty="0">
                <a:solidFill>
                  <a:srgbClr val="42A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6915150" y="3777555"/>
            <a:ext cx="4493324" cy="110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1500" b="1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Limitations. </a:t>
            </a:r>
            <a:pPr algn="l" indent="0" marL="0">
              <a:lnSpc>
                <a:spcPct val="124444"/>
              </a:lnSpc>
              <a:buNone/>
            </a:pPr>
            <a:r>
              <a:rPr lang="en-US" sz="15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participants were existing customers; no net-new prospects. Findings skew toward retention, not acquisition — flagged for the exec read.</a:t>
            </a:r>
            <a:endParaRPr lang="en-US" sz="15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2DDEC">
                  <a:alpha val="100000"/>
                </a:srgbClr>
              </a:gs>
              <a:gs pos="100000">
                <a:srgbClr val="E9EFF7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762000"/>
            <a:ext cx="212218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372"/>
              </a:lnSpc>
              <a:buNone/>
            </a:pPr>
            <a:r>
              <a:rPr lang="en-US" sz="1425" spc="314" kern="0" dirty="0">
                <a:solidFill>
                  <a:srgbClr val="B840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APPENDIX · A2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914400" y="1133475"/>
            <a:ext cx="11399520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42"/>
              </a:lnSpc>
              <a:buNone/>
            </a:pPr>
            <a:r>
              <a:rPr lang="en-US" sz="3900" b="1" spc="-78" kern="0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 competitive teardown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914400" y="2486918"/>
            <a:ext cx="1802681" cy="19050"/>
          </a:xfrm>
          <a:prstGeom prst="rect">
            <a:avLst/>
          </a:prstGeom>
          <a:solidFill>
            <a:srgbClr val="C4D3E6"/>
          </a:solidFill>
          <a:ln/>
        </p:spPr>
      </p:sp>
      <p:sp>
        <p:nvSpPr>
          <p:cNvPr id="6" name="Text 4"/>
          <p:cNvSpPr/>
          <p:nvPr/>
        </p:nvSpPr>
        <p:spPr>
          <a:xfrm>
            <a:off x="1104900" y="2167830"/>
            <a:ext cx="1497881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84" kern="0" dirty="0">
                <a:solidFill>
                  <a:srgbClr val="58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PLATFORM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17081" y="2486918"/>
            <a:ext cx="1426666" cy="19050"/>
          </a:xfrm>
          <a:prstGeom prst="rect">
            <a:avLst/>
          </a:prstGeom>
          <a:solidFill>
            <a:srgbClr val="C4D3E6"/>
          </a:solidFill>
          <a:ln/>
        </p:spPr>
      </p:sp>
      <p:sp>
        <p:nvSpPr>
          <p:cNvPr id="8" name="Text 6"/>
          <p:cNvSpPr/>
          <p:nvPr/>
        </p:nvSpPr>
        <p:spPr>
          <a:xfrm>
            <a:off x="2869481" y="2167830"/>
            <a:ext cx="112186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spc="84" kern="0" dirty="0">
                <a:solidFill>
                  <a:srgbClr val="58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REAL-TIME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43747" y="2486918"/>
            <a:ext cx="1210568" cy="19050"/>
          </a:xfrm>
          <a:prstGeom prst="rect">
            <a:avLst/>
          </a:prstGeom>
          <a:solidFill>
            <a:srgbClr val="C4D3E6"/>
          </a:solidFill>
          <a:ln/>
        </p:spPr>
      </p:sp>
      <p:sp>
        <p:nvSpPr>
          <p:cNvPr id="10" name="Text 8"/>
          <p:cNvSpPr/>
          <p:nvPr/>
        </p:nvSpPr>
        <p:spPr>
          <a:xfrm>
            <a:off x="4296147" y="2167830"/>
            <a:ext cx="905768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spc="84" kern="0" dirty="0">
                <a:solidFill>
                  <a:srgbClr val="58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354315" y="2486918"/>
            <a:ext cx="1750888" cy="19050"/>
          </a:xfrm>
          <a:prstGeom prst="rect">
            <a:avLst/>
          </a:prstGeom>
          <a:solidFill>
            <a:srgbClr val="C4D3E6"/>
          </a:solidFill>
          <a:ln/>
        </p:spPr>
      </p:sp>
      <p:sp>
        <p:nvSpPr>
          <p:cNvPr id="12" name="Text 10"/>
          <p:cNvSpPr/>
          <p:nvPr/>
        </p:nvSpPr>
        <p:spPr>
          <a:xfrm>
            <a:off x="5506715" y="2167830"/>
            <a:ext cx="1446088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spc="84" kern="0" dirty="0">
                <a:solidFill>
                  <a:srgbClr val="58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SMART ALERTS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105204" y="2486918"/>
            <a:ext cx="1859012" cy="19050"/>
          </a:xfrm>
          <a:prstGeom prst="rect">
            <a:avLst/>
          </a:prstGeom>
          <a:solidFill>
            <a:srgbClr val="C4D3E6"/>
          </a:solidFill>
          <a:ln/>
        </p:spPr>
      </p:sp>
      <p:sp>
        <p:nvSpPr>
          <p:cNvPr id="14" name="Text 12"/>
          <p:cNvSpPr/>
          <p:nvPr/>
        </p:nvSpPr>
        <p:spPr>
          <a:xfrm>
            <a:off x="7257604" y="2167830"/>
            <a:ext cx="1554212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spc="84" kern="0" dirty="0">
                <a:solidFill>
                  <a:srgbClr val="58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ANALYST-READY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964216" y="2486918"/>
            <a:ext cx="778297" cy="19050"/>
          </a:xfrm>
          <a:prstGeom prst="rect">
            <a:avLst/>
          </a:prstGeom>
          <a:solidFill>
            <a:srgbClr val="C4D3E6"/>
          </a:solidFill>
          <a:ln/>
        </p:spPr>
      </p:sp>
      <p:sp>
        <p:nvSpPr>
          <p:cNvPr id="16" name="Text 14"/>
          <p:cNvSpPr/>
          <p:nvPr/>
        </p:nvSpPr>
        <p:spPr>
          <a:xfrm>
            <a:off x="9116616" y="2167830"/>
            <a:ext cx="473497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spc="84" kern="0" dirty="0">
                <a:solidFill>
                  <a:srgbClr val="58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742512" y="2486918"/>
            <a:ext cx="1535088" cy="19050"/>
          </a:xfrm>
          <a:prstGeom prst="rect">
            <a:avLst/>
          </a:prstGeom>
          <a:solidFill>
            <a:srgbClr val="C4D3E6"/>
          </a:solidFill>
          <a:ln/>
        </p:spPr>
      </p:sp>
      <p:sp>
        <p:nvSpPr>
          <p:cNvPr id="18" name="Text 16"/>
          <p:cNvSpPr/>
          <p:nvPr/>
        </p:nvSpPr>
        <p:spPr>
          <a:xfrm>
            <a:off x="9894912" y="2167830"/>
            <a:ext cx="1230288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spc="84" kern="0" dirty="0">
                <a:solidFill>
                  <a:srgbClr val="58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 TIER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14400" y="2505968"/>
            <a:ext cx="1802681" cy="569714"/>
          </a:xfrm>
          <a:prstGeom prst="rect">
            <a:avLst/>
          </a:prstGeom>
          <a:solidFill>
            <a:srgbClr val="F4F8FF"/>
          </a:solidFill>
          <a:ln/>
        </p:spPr>
      </p:sp>
      <p:sp>
        <p:nvSpPr>
          <p:cNvPr id="20" name="Shape 18"/>
          <p:cNvSpPr/>
          <p:nvPr/>
        </p:nvSpPr>
        <p:spPr>
          <a:xfrm>
            <a:off x="914400" y="3066157"/>
            <a:ext cx="1802681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21" name="Text 19"/>
          <p:cNvSpPr/>
          <p:nvPr/>
        </p:nvSpPr>
        <p:spPr>
          <a:xfrm>
            <a:off x="1104900" y="2677418"/>
            <a:ext cx="1497881" cy="2553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NetBase Pro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2717081" y="2505968"/>
            <a:ext cx="1426666" cy="569714"/>
          </a:xfrm>
          <a:prstGeom prst="roundRect">
            <a:avLst>
              <a:gd name="adj" fmla="val 16719"/>
            </a:avLst>
          </a:prstGeom>
          <a:solidFill>
            <a:srgbClr val="F4F8FF"/>
          </a:solidFill>
          <a:ln/>
        </p:spPr>
      </p:sp>
      <p:sp>
        <p:nvSpPr>
          <p:cNvPr id="23" name="Shape 21"/>
          <p:cNvSpPr/>
          <p:nvPr/>
        </p:nvSpPr>
        <p:spPr>
          <a:xfrm>
            <a:off x="2717081" y="3066157"/>
            <a:ext cx="1426666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24" name="Text 22"/>
          <p:cNvSpPr/>
          <p:nvPr/>
        </p:nvSpPr>
        <p:spPr>
          <a:xfrm>
            <a:off x="3297064" y="2704207"/>
            <a:ext cx="266700" cy="228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88889"/>
              </a:lnSpc>
              <a:buNone/>
            </a:pPr>
            <a:r>
              <a:rPr lang="en-US" sz="15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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143747" y="2505968"/>
            <a:ext cx="1210568" cy="569714"/>
          </a:xfrm>
          <a:prstGeom prst="rect">
            <a:avLst/>
          </a:prstGeom>
          <a:solidFill>
            <a:srgbClr val="F4F8FF"/>
          </a:solidFill>
          <a:ln/>
        </p:spPr>
      </p:sp>
      <p:sp>
        <p:nvSpPr>
          <p:cNvPr id="26" name="Shape 24"/>
          <p:cNvSpPr/>
          <p:nvPr/>
        </p:nvSpPr>
        <p:spPr>
          <a:xfrm>
            <a:off x="4143747" y="3066157"/>
            <a:ext cx="1210568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27" name="Text 25"/>
          <p:cNvSpPr/>
          <p:nvPr/>
        </p:nvSpPr>
        <p:spPr>
          <a:xfrm>
            <a:off x="4615681" y="2704207"/>
            <a:ext cx="266700" cy="228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88889"/>
              </a:lnSpc>
              <a:buNone/>
            </a:pPr>
            <a:r>
              <a:rPr lang="en-US" sz="15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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354315" y="2505968"/>
            <a:ext cx="1750888" cy="569714"/>
          </a:xfrm>
          <a:prstGeom prst="rect">
            <a:avLst/>
          </a:prstGeom>
          <a:solidFill>
            <a:srgbClr val="F4F8FF"/>
          </a:solidFill>
          <a:ln/>
        </p:spPr>
      </p:sp>
      <p:sp>
        <p:nvSpPr>
          <p:cNvPr id="29" name="Shape 27"/>
          <p:cNvSpPr/>
          <p:nvPr/>
        </p:nvSpPr>
        <p:spPr>
          <a:xfrm>
            <a:off x="5354315" y="3066157"/>
            <a:ext cx="1750888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30" name="Text 28"/>
          <p:cNvSpPr/>
          <p:nvPr/>
        </p:nvSpPr>
        <p:spPr>
          <a:xfrm>
            <a:off x="6096372" y="2704207"/>
            <a:ext cx="266700" cy="228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88889"/>
              </a:lnSpc>
              <a:buNone/>
            </a:pPr>
            <a:r>
              <a:rPr lang="en-US" sz="15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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7105204" y="2505968"/>
            <a:ext cx="1859012" cy="569714"/>
          </a:xfrm>
          <a:prstGeom prst="rect">
            <a:avLst/>
          </a:prstGeom>
          <a:solidFill>
            <a:srgbClr val="F4F8FF"/>
          </a:solidFill>
          <a:ln/>
        </p:spPr>
      </p:sp>
      <p:sp>
        <p:nvSpPr>
          <p:cNvPr id="32" name="Shape 30"/>
          <p:cNvSpPr/>
          <p:nvPr/>
        </p:nvSpPr>
        <p:spPr>
          <a:xfrm>
            <a:off x="7105204" y="3066157"/>
            <a:ext cx="1859012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33" name="Text 31"/>
          <p:cNvSpPr/>
          <p:nvPr/>
        </p:nvSpPr>
        <p:spPr>
          <a:xfrm>
            <a:off x="7901360" y="2704207"/>
            <a:ext cx="266700" cy="228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88889"/>
              </a:lnSpc>
              <a:buNone/>
            </a:pPr>
            <a:r>
              <a:rPr lang="en-US" sz="15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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8964216" y="2505968"/>
            <a:ext cx="778297" cy="569714"/>
          </a:xfrm>
          <a:prstGeom prst="rect">
            <a:avLst/>
          </a:prstGeom>
          <a:solidFill>
            <a:srgbClr val="F4F8FF"/>
          </a:solidFill>
          <a:ln/>
        </p:spPr>
      </p:sp>
      <p:sp>
        <p:nvSpPr>
          <p:cNvPr id="35" name="Shape 33"/>
          <p:cNvSpPr/>
          <p:nvPr/>
        </p:nvSpPr>
        <p:spPr>
          <a:xfrm>
            <a:off x="8964216" y="3066157"/>
            <a:ext cx="778297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36" name="Text 34"/>
          <p:cNvSpPr/>
          <p:nvPr/>
        </p:nvSpPr>
        <p:spPr>
          <a:xfrm>
            <a:off x="9219977" y="2704207"/>
            <a:ext cx="266700" cy="228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88889"/>
              </a:lnSpc>
              <a:buNone/>
            </a:pPr>
            <a:r>
              <a:rPr lang="en-US" sz="15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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9742512" y="2505968"/>
            <a:ext cx="1535088" cy="569714"/>
          </a:xfrm>
          <a:prstGeom prst="rect">
            <a:avLst/>
          </a:prstGeom>
          <a:solidFill>
            <a:srgbClr val="F4F8FF"/>
          </a:solidFill>
          <a:ln/>
        </p:spPr>
      </p:sp>
      <p:sp>
        <p:nvSpPr>
          <p:cNvPr id="38" name="Shape 36"/>
          <p:cNvSpPr/>
          <p:nvPr/>
        </p:nvSpPr>
        <p:spPr>
          <a:xfrm>
            <a:off x="9742512" y="3066157"/>
            <a:ext cx="1535088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39" name="Text 37"/>
          <p:cNvSpPr/>
          <p:nvPr/>
        </p:nvSpPr>
        <p:spPr>
          <a:xfrm>
            <a:off x="9894912" y="2677418"/>
            <a:ext cx="1230288" cy="2553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$$$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914400" y="3666232"/>
            <a:ext cx="1802681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41" name="Text 39"/>
          <p:cNvSpPr/>
          <p:nvPr/>
        </p:nvSpPr>
        <p:spPr>
          <a:xfrm>
            <a:off x="1104900" y="3247132"/>
            <a:ext cx="149788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Brandwatch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2717081" y="3666232"/>
            <a:ext cx="1426666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43" name="Text 41"/>
          <p:cNvSpPr/>
          <p:nvPr/>
        </p:nvSpPr>
        <p:spPr>
          <a:xfrm>
            <a:off x="3297064" y="3289102"/>
            <a:ext cx="266700" cy="228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88889"/>
              </a:lnSpc>
              <a:buNone/>
            </a:pPr>
            <a:r>
              <a:rPr lang="en-US" sz="15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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4143747" y="3666232"/>
            <a:ext cx="1210568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45" name="Text 43"/>
          <p:cNvSpPr/>
          <p:nvPr/>
        </p:nvSpPr>
        <p:spPr>
          <a:xfrm>
            <a:off x="4615681" y="3298031"/>
            <a:ext cx="266700" cy="228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88889"/>
              </a:lnSpc>
              <a:buNone/>
            </a:pPr>
            <a:r>
              <a:rPr lang="en-US" sz="1500" dirty="0">
                <a:solidFill>
                  <a:srgbClr val="EF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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5354315" y="3666232"/>
            <a:ext cx="1750888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47" name="Text 45"/>
          <p:cNvSpPr/>
          <p:nvPr/>
        </p:nvSpPr>
        <p:spPr>
          <a:xfrm>
            <a:off x="6096372" y="3289102"/>
            <a:ext cx="266700" cy="228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88889"/>
              </a:lnSpc>
              <a:buNone/>
            </a:pPr>
            <a:r>
              <a:rPr lang="en-US" sz="15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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7105204" y="3666232"/>
            <a:ext cx="1859012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49" name="Text 47"/>
          <p:cNvSpPr/>
          <p:nvPr/>
        </p:nvSpPr>
        <p:spPr>
          <a:xfrm>
            <a:off x="7901360" y="3298031"/>
            <a:ext cx="266700" cy="228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88889"/>
              </a:lnSpc>
              <a:buNone/>
            </a:pPr>
            <a:r>
              <a:rPr lang="en-US" sz="1500" dirty="0">
                <a:solidFill>
                  <a:srgbClr val="C4D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</a:t>
            </a:r>
            <a:endParaRPr lang="en-US" sz="1500" dirty="0"/>
          </a:p>
        </p:txBody>
      </p:sp>
      <p:sp>
        <p:nvSpPr>
          <p:cNvPr id="50" name="Shape 48"/>
          <p:cNvSpPr/>
          <p:nvPr/>
        </p:nvSpPr>
        <p:spPr>
          <a:xfrm>
            <a:off x="8964216" y="3666232"/>
            <a:ext cx="778297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51" name="Text 49"/>
          <p:cNvSpPr/>
          <p:nvPr/>
        </p:nvSpPr>
        <p:spPr>
          <a:xfrm>
            <a:off x="9219977" y="3289102"/>
            <a:ext cx="266700" cy="228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88889"/>
              </a:lnSpc>
              <a:buNone/>
            </a:pPr>
            <a:r>
              <a:rPr lang="en-US" sz="15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</a:t>
            </a:r>
            <a:endParaRPr lang="en-US" sz="1500" dirty="0"/>
          </a:p>
        </p:txBody>
      </p:sp>
      <p:sp>
        <p:nvSpPr>
          <p:cNvPr id="52" name="Shape 50"/>
          <p:cNvSpPr/>
          <p:nvPr/>
        </p:nvSpPr>
        <p:spPr>
          <a:xfrm>
            <a:off x="9742512" y="3666232"/>
            <a:ext cx="1535088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53" name="Text 51"/>
          <p:cNvSpPr/>
          <p:nvPr/>
        </p:nvSpPr>
        <p:spPr>
          <a:xfrm>
            <a:off x="9894912" y="3247132"/>
            <a:ext cx="12302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$$$$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914400" y="4266307"/>
            <a:ext cx="1802681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55" name="Text 53"/>
          <p:cNvSpPr/>
          <p:nvPr/>
        </p:nvSpPr>
        <p:spPr>
          <a:xfrm>
            <a:off x="1104900" y="3847207"/>
            <a:ext cx="149788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Sprinklr</a:t>
            </a:r>
            <a:endParaRPr lang="en-US" sz="1350" dirty="0"/>
          </a:p>
        </p:txBody>
      </p:sp>
      <p:sp>
        <p:nvSpPr>
          <p:cNvPr id="56" name="Shape 54"/>
          <p:cNvSpPr/>
          <p:nvPr/>
        </p:nvSpPr>
        <p:spPr>
          <a:xfrm>
            <a:off x="2717081" y="4266307"/>
            <a:ext cx="1426666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57" name="Text 55"/>
          <p:cNvSpPr/>
          <p:nvPr/>
        </p:nvSpPr>
        <p:spPr>
          <a:xfrm>
            <a:off x="3297064" y="3898106"/>
            <a:ext cx="266700" cy="228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88889"/>
              </a:lnSpc>
              <a:buNone/>
            </a:pPr>
            <a:r>
              <a:rPr lang="en-US" sz="1500" dirty="0">
                <a:solidFill>
                  <a:srgbClr val="EF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</a:t>
            </a:r>
            <a:endParaRPr lang="en-US" sz="1500" dirty="0"/>
          </a:p>
        </p:txBody>
      </p:sp>
      <p:sp>
        <p:nvSpPr>
          <p:cNvPr id="58" name="Shape 56"/>
          <p:cNvSpPr/>
          <p:nvPr/>
        </p:nvSpPr>
        <p:spPr>
          <a:xfrm>
            <a:off x="4143747" y="4266307"/>
            <a:ext cx="1210568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59" name="Text 57"/>
          <p:cNvSpPr/>
          <p:nvPr/>
        </p:nvSpPr>
        <p:spPr>
          <a:xfrm>
            <a:off x="4615681" y="3898106"/>
            <a:ext cx="266700" cy="228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88889"/>
              </a:lnSpc>
              <a:buNone/>
            </a:pPr>
            <a:r>
              <a:rPr lang="en-US" sz="1500" dirty="0">
                <a:solidFill>
                  <a:srgbClr val="C4D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</a:t>
            </a:r>
            <a:endParaRPr lang="en-US" sz="1500" dirty="0"/>
          </a:p>
        </p:txBody>
      </p:sp>
      <p:sp>
        <p:nvSpPr>
          <p:cNvPr id="60" name="Shape 58"/>
          <p:cNvSpPr/>
          <p:nvPr/>
        </p:nvSpPr>
        <p:spPr>
          <a:xfrm>
            <a:off x="5354315" y="4266307"/>
            <a:ext cx="1750888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61" name="Text 59"/>
          <p:cNvSpPr/>
          <p:nvPr/>
        </p:nvSpPr>
        <p:spPr>
          <a:xfrm>
            <a:off x="6096372" y="3889177"/>
            <a:ext cx="266700" cy="228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88889"/>
              </a:lnSpc>
              <a:buNone/>
            </a:pPr>
            <a:r>
              <a:rPr lang="en-US" sz="15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</a:t>
            </a:r>
            <a:endParaRPr lang="en-US" sz="1500" dirty="0"/>
          </a:p>
        </p:txBody>
      </p:sp>
      <p:sp>
        <p:nvSpPr>
          <p:cNvPr id="62" name="Shape 60"/>
          <p:cNvSpPr/>
          <p:nvPr/>
        </p:nvSpPr>
        <p:spPr>
          <a:xfrm>
            <a:off x="7105204" y="4266307"/>
            <a:ext cx="1859012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63" name="Text 61"/>
          <p:cNvSpPr/>
          <p:nvPr/>
        </p:nvSpPr>
        <p:spPr>
          <a:xfrm>
            <a:off x="7901360" y="3898106"/>
            <a:ext cx="266700" cy="228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88889"/>
              </a:lnSpc>
              <a:buNone/>
            </a:pPr>
            <a:r>
              <a:rPr lang="en-US" sz="1500" dirty="0">
                <a:solidFill>
                  <a:srgbClr val="EF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</a:t>
            </a:r>
            <a:endParaRPr lang="en-US" sz="1500" dirty="0"/>
          </a:p>
        </p:txBody>
      </p:sp>
      <p:sp>
        <p:nvSpPr>
          <p:cNvPr id="64" name="Shape 62"/>
          <p:cNvSpPr/>
          <p:nvPr/>
        </p:nvSpPr>
        <p:spPr>
          <a:xfrm>
            <a:off x="8964216" y="4266307"/>
            <a:ext cx="778297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65" name="Text 63"/>
          <p:cNvSpPr/>
          <p:nvPr/>
        </p:nvSpPr>
        <p:spPr>
          <a:xfrm>
            <a:off x="9219977" y="3889177"/>
            <a:ext cx="266700" cy="228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88889"/>
              </a:lnSpc>
              <a:buNone/>
            </a:pPr>
            <a:r>
              <a:rPr lang="en-US" sz="15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</a:t>
            </a:r>
            <a:endParaRPr lang="en-US" sz="1500" dirty="0"/>
          </a:p>
        </p:txBody>
      </p:sp>
      <p:sp>
        <p:nvSpPr>
          <p:cNvPr id="66" name="Shape 64"/>
          <p:cNvSpPr/>
          <p:nvPr/>
        </p:nvSpPr>
        <p:spPr>
          <a:xfrm>
            <a:off x="9742512" y="4266307"/>
            <a:ext cx="1535088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67" name="Text 65"/>
          <p:cNvSpPr/>
          <p:nvPr/>
        </p:nvSpPr>
        <p:spPr>
          <a:xfrm>
            <a:off x="9894912" y="3847207"/>
            <a:ext cx="12302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$$$$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914400" y="4866382"/>
            <a:ext cx="1802681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69" name="Text 67"/>
          <p:cNvSpPr/>
          <p:nvPr/>
        </p:nvSpPr>
        <p:spPr>
          <a:xfrm>
            <a:off x="1104900" y="4447282"/>
            <a:ext cx="149788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Talkwalker</a:t>
            </a:r>
            <a:endParaRPr lang="en-US" sz="1350" dirty="0"/>
          </a:p>
        </p:txBody>
      </p:sp>
      <p:sp>
        <p:nvSpPr>
          <p:cNvPr id="70" name="Shape 68"/>
          <p:cNvSpPr/>
          <p:nvPr/>
        </p:nvSpPr>
        <p:spPr>
          <a:xfrm>
            <a:off x="2717081" y="4866382"/>
            <a:ext cx="1426666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71" name="Text 69"/>
          <p:cNvSpPr/>
          <p:nvPr/>
        </p:nvSpPr>
        <p:spPr>
          <a:xfrm>
            <a:off x="3297064" y="4489252"/>
            <a:ext cx="266700" cy="228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88889"/>
              </a:lnSpc>
              <a:buNone/>
            </a:pPr>
            <a:r>
              <a:rPr lang="en-US" sz="15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</a:t>
            </a:r>
            <a:endParaRPr lang="en-US" sz="1500" dirty="0"/>
          </a:p>
        </p:txBody>
      </p:sp>
      <p:sp>
        <p:nvSpPr>
          <p:cNvPr id="72" name="Shape 70"/>
          <p:cNvSpPr/>
          <p:nvPr/>
        </p:nvSpPr>
        <p:spPr>
          <a:xfrm>
            <a:off x="4143747" y="4866382"/>
            <a:ext cx="1210568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73" name="Text 71"/>
          <p:cNvSpPr/>
          <p:nvPr/>
        </p:nvSpPr>
        <p:spPr>
          <a:xfrm>
            <a:off x="4615681" y="4498181"/>
            <a:ext cx="266700" cy="228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88889"/>
              </a:lnSpc>
              <a:buNone/>
            </a:pPr>
            <a:r>
              <a:rPr lang="en-US" sz="1500" dirty="0">
                <a:solidFill>
                  <a:srgbClr val="C4D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</a:t>
            </a:r>
            <a:endParaRPr lang="en-US" sz="1500" dirty="0"/>
          </a:p>
        </p:txBody>
      </p:sp>
      <p:sp>
        <p:nvSpPr>
          <p:cNvPr id="74" name="Shape 72"/>
          <p:cNvSpPr/>
          <p:nvPr/>
        </p:nvSpPr>
        <p:spPr>
          <a:xfrm>
            <a:off x="5354315" y="4866382"/>
            <a:ext cx="1750888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75" name="Text 73"/>
          <p:cNvSpPr/>
          <p:nvPr/>
        </p:nvSpPr>
        <p:spPr>
          <a:xfrm>
            <a:off x="6096372" y="4498181"/>
            <a:ext cx="266700" cy="228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88889"/>
              </a:lnSpc>
              <a:buNone/>
            </a:pPr>
            <a:r>
              <a:rPr lang="en-US" sz="1500" dirty="0">
                <a:solidFill>
                  <a:srgbClr val="EF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</a:t>
            </a:r>
            <a:endParaRPr lang="en-US" sz="1500" dirty="0"/>
          </a:p>
        </p:txBody>
      </p:sp>
      <p:sp>
        <p:nvSpPr>
          <p:cNvPr id="76" name="Shape 74"/>
          <p:cNvSpPr/>
          <p:nvPr/>
        </p:nvSpPr>
        <p:spPr>
          <a:xfrm>
            <a:off x="7105204" y="4866382"/>
            <a:ext cx="1859012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77" name="Text 75"/>
          <p:cNvSpPr/>
          <p:nvPr/>
        </p:nvSpPr>
        <p:spPr>
          <a:xfrm>
            <a:off x="7901360" y="4498181"/>
            <a:ext cx="266700" cy="228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88889"/>
              </a:lnSpc>
              <a:buNone/>
            </a:pPr>
            <a:r>
              <a:rPr lang="en-US" sz="1500" dirty="0">
                <a:solidFill>
                  <a:srgbClr val="C4D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</a:t>
            </a:r>
            <a:endParaRPr lang="en-US" sz="1500" dirty="0"/>
          </a:p>
        </p:txBody>
      </p:sp>
      <p:sp>
        <p:nvSpPr>
          <p:cNvPr id="78" name="Shape 76"/>
          <p:cNvSpPr/>
          <p:nvPr/>
        </p:nvSpPr>
        <p:spPr>
          <a:xfrm>
            <a:off x="8964216" y="4866382"/>
            <a:ext cx="778297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79" name="Text 77"/>
          <p:cNvSpPr/>
          <p:nvPr/>
        </p:nvSpPr>
        <p:spPr>
          <a:xfrm>
            <a:off x="9219977" y="4498181"/>
            <a:ext cx="266700" cy="228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88889"/>
              </a:lnSpc>
              <a:buNone/>
            </a:pPr>
            <a:r>
              <a:rPr lang="en-US" sz="1500" dirty="0">
                <a:solidFill>
                  <a:srgbClr val="EF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</a:t>
            </a:r>
            <a:endParaRPr lang="en-US" sz="1500" dirty="0"/>
          </a:p>
        </p:txBody>
      </p:sp>
      <p:sp>
        <p:nvSpPr>
          <p:cNvPr id="80" name="Shape 78"/>
          <p:cNvSpPr/>
          <p:nvPr/>
        </p:nvSpPr>
        <p:spPr>
          <a:xfrm>
            <a:off x="9742512" y="4866382"/>
            <a:ext cx="1535088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81" name="Text 79"/>
          <p:cNvSpPr/>
          <p:nvPr/>
        </p:nvSpPr>
        <p:spPr>
          <a:xfrm>
            <a:off x="9894912" y="4447282"/>
            <a:ext cx="12302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$$$</a:t>
            </a:r>
            <a:endParaRPr lang="en-US" sz="1200" dirty="0"/>
          </a:p>
        </p:txBody>
      </p:sp>
      <p:sp>
        <p:nvSpPr>
          <p:cNvPr id="82" name="Shape 80"/>
          <p:cNvSpPr/>
          <p:nvPr/>
        </p:nvSpPr>
        <p:spPr>
          <a:xfrm>
            <a:off x="914400" y="5466457"/>
            <a:ext cx="1802681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83" name="Text 81"/>
          <p:cNvSpPr/>
          <p:nvPr/>
        </p:nvSpPr>
        <p:spPr>
          <a:xfrm>
            <a:off x="1104900" y="5047357"/>
            <a:ext cx="149788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Meltwater</a:t>
            </a:r>
            <a:endParaRPr lang="en-US" sz="1350" dirty="0"/>
          </a:p>
        </p:txBody>
      </p:sp>
      <p:sp>
        <p:nvSpPr>
          <p:cNvPr id="84" name="Shape 82"/>
          <p:cNvSpPr/>
          <p:nvPr/>
        </p:nvSpPr>
        <p:spPr>
          <a:xfrm>
            <a:off x="2717081" y="5466457"/>
            <a:ext cx="1426666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85" name="Text 83"/>
          <p:cNvSpPr/>
          <p:nvPr/>
        </p:nvSpPr>
        <p:spPr>
          <a:xfrm>
            <a:off x="3297064" y="5098256"/>
            <a:ext cx="266700" cy="228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88889"/>
              </a:lnSpc>
              <a:buNone/>
            </a:pPr>
            <a:r>
              <a:rPr lang="en-US" sz="1500" dirty="0">
                <a:solidFill>
                  <a:srgbClr val="EF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</a:t>
            </a:r>
            <a:endParaRPr lang="en-US" sz="1500" dirty="0"/>
          </a:p>
        </p:txBody>
      </p:sp>
      <p:sp>
        <p:nvSpPr>
          <p:cNvPr id="86" name="Shape 84"/>
          <p:cNvSpPr/>
          <p:nvPr/>
        </p:nvSpPr>
        <p:spPr>
          <a:xfrm>
            <a:off x="4143747" y="5466457"/>
            <a:ext cx="1210568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87" name="Text 85"/>
          <p:cNvSpPr/>
          <p:nvPr/>
        </p:nvSpPr>
        <p:spPr>
          <a:xfrm>
            <a:off x="4615681" y="5098256"/>
            <a:ext cx="266700" cy="228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88889"/>
              </a:lnSpc>
              <a:buNone/>
            </a:pPr>
            <a:r>
              <a:rPr lang="en-US" sz="1500" dirty="0">
                <a:solidFill>
                  <a:srgbClr val="C4D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</a:t>
            </a:r>
            <a:endParaRPr lang="en-US" sz="1500" dirty="0"/>
          </a:p>
        </p:txBody>
      </p:sp>
      <p:sp>
        <p:nvSpPr>
          <p:cNvPr id="88" name="Shape 86"/>
          <p:cNvSpPr/>
          <p:nvPr/>
        </p:nvSpPr>
        <p:spPr>
          <a:xfrm>
            <a:off x="5354315" y="5466457"/>
            <a:ext cx="1750888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89" name="Text 87"/>
          <p:cNvSpPr/>
          <p:nvPr/>
        </p:nvSpPr>
        <p:spPr>
          <a:xfrm>
            <a:off x="6096372" y="5098256"/>
            <a:ext cx="266700" cy="228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88889"/>
              </a:lnSpc>
              <a:buNone/>
            </a:pPr>
            <a:r>
              <a:rPr lang="en-US" sz="1500" dirty="0">
                <a:solidFill>
                  <a:srgbClr val="C4D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</a:t>
            </a:r>
            <a:endParaRPr lang="en-US" sz="1500" dirty="0"/>
          </a:p>
        </p:txBody>
      </p:sp>
      <p:sp>
        <p:nvSpPr>
          <p:cNvPr id="90" name="Shape 88"/>
          <p:cNvSpPr/>
          <p:nvPr/>
        </p:nvSpPr>
        <p:spPr>
          <a:xfrm>
            <a:off x="7105204" y="5466457"/>
            <a:ext cx="1859012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91" name="Text 89"/>
          <p:cNvSpPr/>
          <p:nvPr/>
        </p:nvSpPr>
        <p:spPr>
          <a:xfrm>
            <a:off x="7901360" y="5098256"/>
            <a:ext cx="266700" cy="228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88889"/>
              </a:lnSpc>
              <a:buNone/>
            </a:pPr>
            <a:r>
              <a:rPr lang="en-US" sz="1500" dirty="0">
                <a:solidFill>
                  <a:srgbClr val="EF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</a:t>
            </a:r>
            <a:endParaRPr lang="en-US" sz="1500" dirty="0"/>
          </a:p>
        </p:txBody>
      </p:sp>
      <p:sp>
        <p:nvSpPr>
          <p:cNvPr id="92" name="Shape 90"/>
          <p:cNvSpPr/>
          <p:nvPr/>
        </p:nvSpPr>
        <p:spPr>
          <a:xfrm>
            <a:off x="8964216" y="5466457"/>
            <a:ext cx="778297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93" name="Text 91"/>
          <p:cNvSpPr/>
          <p:nvPr/>
        </p:nvSpPr>
        <p:spPr>
          <a:xfrm>
            <a:off x="9219977" y="5089327"/>
            <a:ext cx="266700" cy="228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88889"/>
              </a:lnSpc>
              <a:buNone/>
            </a:pPr>
            <a:r>
              <a:rPr lang="en-US" sz="15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</a:t>
            </a:r>
            <a:endParaRPr lang="en-US" sz="1500" dirty="0"/>
          </a:p>
        </p:txBody>
      </p:sp>
      <p:sp>
        <p:nvSpPr>
          <p:cNvPr id="94" name="Shape 92"/>
          <p:cNvSpPr/>
          <p:nvPr/>
        </p:nvSpPr>
        <p:spPr>
          <a:xfrm>
            <a:off x="9742512" y="5466457"/>
            <a:ext cx="1535088" cy="9525"/>
          </a:xfrm>
          <a:prstGeom prst="rect">
            <a:avLst/>
          </a:prstGeom>
          <a:solidFill>
            <a:srgbClr val="DBE4F0"/>
          </a:solidFill>
          <a:ln/>
        </p:spPr>
      </p:sp>
      <p:sp>
        <p:nvSpPr>
          <p:cNvPr id="95" name="Text 93"/>
          <p:cNvSpPr/>
          <p:nvPr/>
        </p:nvSpPr>
        <p:spPr>
          <a:xfrm>
            <a:off x="9894912" y="5047357"/>
            <a:ext cx="12302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$$</a:t>
            </a:r>
            <a:endParaRPr lang="en-US" sz="12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2DDEC">
                  <a:alpha val="100000"/>
                </a:srgbClr>
              </a:gs>
              <a:gs pos="100000">
                <a:srgbClr val="E9EFF7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762000"/>
            <a:ext cx="212218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372"/>
              </a:lnSpc>
              <a:buNone/>
            </a:pPr>
            <a:r>
              <a:rPr lang="en-US" sz="1425" spc="314" kern="0" dirty="0">
                <a:solidFill>
                  <a:srgbClr val="B840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APPENDIX · A3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914400" y="1133475"/>
            <a:ext cx="11399520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42"/>
              </a:lnSpc>
              <a:buNone/>
            </a:pPr>
            <a:r>
              <a:rPr lang="en-US" sz="3900" b="1" spc="-78" kern="0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Enterprise seats — monthly detail</a:t>
            </a:r>
            <a:endParaRPr lang="en-US" sz="3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034480"/>
            <a:ext cx="7048500" cy="3619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20100" y="3015555"/>
            <a:ext cx="31432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136"/>
              </a:lnSpc>
              <a:buNone/>
            </a:pPr>
            <a:r>
              <a:rPr lang="en-US" sz="3900" b="1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+7</a:t>
            </a:r>
            <a:endParaRPr lang="en-US" sz="3900" dirty="0"/>
          </a:p>
        </p:txBody>
      </p:sp>
      <p:sp>
        <p:nvSpPr>
          <p:cNvPr id="7" name="Text 4"/>
          <p:cNvSpPr/>
          <p:nvPr/>
        </p:nvSpPr>
        <p:spPr>
          <a:xfrm>
            <a:off x="8420100" y="3644205"/>
            <a:ext cx="2943225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350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new seats in June alone — the steepest month, following the Compare launch in May. 8 of 15 total were free-tier upgrades.</a:t>
            </a:r>
            <a:endParaRPr lang="en-US" sz="135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2DDEC">
                  <a:alpha val="100000"/>
                </a:srgbClr>
              </a:gs>
              <a:gs pos="100000">
                <a:srgbClr val="E9EFF7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762000"/>
            <a:ext cx="212218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372"/>
              </a:lnSpc>
              <a:buNone/>
            </a:pPr>
            <a:r>
              <a:rPr lang="en-US" sz="1425" spc="314" kern="0" dirty="0">
                <a:solidFill>
                  <a:srgbClr val="B840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APPENDIX · A4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914400" y="1190625"/>
            <a:ext cx="11399520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42"/>
              </a:lnSpc>
              <a:buNone/>
            </a:pPr>
            <a:r>
              <a:rPr lang="en-US" sz="3900" b="1" spc="-78" kern="0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shipped vs. what we deferred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914400" y="2129730"/>
            <a:ext cx="532257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58" kern="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V1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81050" y="2505968"/>
            <a:ext cx="4781550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15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Single-metric dashboard with drill-down</a:t>
            </a:r>
            <a:endParaRPr lang="en-US" sz="1500" dirty="0"/>
          </a:p>
          <a:p>
            <a:pPr algn="l" indent="0" marL="0">
              <a:lnSpc>
                <a:spcPct val="124444"/>
              </a:lnSpc>
              <a:buNone/>
            </a:pPr>
            <a:r>
              <a:rPr lang="en-US" sz="15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source tracing on every figure</a:t>
            </a:r>
            <a:endParaRPr lang="en-US" sz="1500" dirty="0"/>
          </a:p>
          <a:p>
            <a:pPr algn="l" indent="0" marL="0">
              <a:lnSpc>
                <a:spcPct val="124444"/>
              </a:lnSpc>
              <a:buNone/>
            </a:pPr>
            <a:r>
              <a:rPr lang="en-US" sz="15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Side-by-side Compare (up to 4 brands)</a:t>
            </a:r>
            <a:endParaRPr lang="en-US" sz="1500" dirty="0"/>
          </a:p>
          <a:p>
            <a:pPr algn="l" indent="0" marL="0">
              <a:lnSpc>
                <a:spcPct val="124444"/>
              </a:lnSpc>
              <a:buNone/>
            </a:pPr>
            <a:r>
              <a:rPr lang="en-US" sz="15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threshold alerts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38900" y="2129730"/>
            <a:ext cx="532257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58" kern="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DEFERRED TO V2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6305550" y="2505968"/>
            <a:ext cx="4781550" cy="2095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15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widget builder — high effort, low early demand</a:t>
            </a:r>
            <a:endParaRPr lang="en-US" sz="1500" dirty="0"/>
          </a:p>
          <a:p>
            <a:pPr algn="l" indent="0" marL="0">
              <a:lnSpc>
                <a:spcPct val="124444"/>
              </a:lnSpc>
              <a:buNone/>
            </a:pPr>
            <a:r>
              <a:rPr lang="en-US" sz="15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range beyond 90 days — live-query cost</a:t>
            </a:r>
            <a:endParaRPr lang="en-US" sz="1500" dirty="0"/>
          </a:p>
          <a:p>
            <a:pPr algn="l" indent="0" marL="0">
              <a:lnSpc>
                <a:spcPct val="124444"/>
              </a:lnSpc>
              <a:buNone/>
            </a:pPr>
            <a:r>
              <a:rPr lang="en-US" sz="15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 PDF export — workaround existed</a:t>
            </a:r>
            <a:endParaRPr lang="en-US" sz="1500" dirty="0"/>
          </a:p>
          <a:p>
            <a:pPr algn="l" indent="0" marL="0">
              <a:lnSpc>
                <a:spcPct val="124444"/>
              </a:lnSpc>
              <a:buNone/>
            </a:pPr>
            <a:r>
              <a:rPr lang="en-US" sz="15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Mobile-native app — responsive web covered the core read</a:t>
            </a:r>
            <a:endParaRPr lang="en-US" sz="15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2DDEC">
                  <a:alpha val="100000"/>
                </a:srgbClr>
              </a:gs>
              <a:gs pos="100000">
                <a:srgbClr val="E9EFF7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1485900"/>
            <a:ext cx="212218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372"/>
              </a:lnSpc>
              <a:buNone/>
            </a:pPr>
            <a:r>
              <a:rPr lang="en-US" sz="1425" spc="314" kern="0" dirty="0">
                <a:solidFill>
                  <a:srgbClr val="B840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APPENDIX · A5</a:t>
            </a:r>
            <a:endParaRPr lang="en-US" sz="1425" dirty="0"/>
          </a:p>
        </p:txBody>
      </p:sp>
      <p:sp>
        <p:nvSpPr>
          <p:cNvPr id="4" name="Shape 2"/>
          <p:cNvSpPr/>
          <p:nvPr/>
        </p:nvSpPr>
        <p:spPr>
          <a:xfrm>
            <a:off x="914400" y="2085975"/>
            <a:ext cx="5320085" cy="1566863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9525">
            <a:solidFill>
              <a:srgbClr val="C4D3E6"/>
            </a:solidFill>
            <a:prstDash val="solid"/>
          </a:ln>
          <a:effectLst>
            <a:outerShdw sx="100000" sy="100000" kx="0" ky="0" algn="bl" rotWithShape="0" blurRad="381000" dist="171450" dir="5400000">
              <a:srgbClr val="141C2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71575" y="2324100"/>
            <a:ext cx="528630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58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REPORTING TIME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1171575" y="2600325"/>
            <a:ext cx="5286308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619"/>
              </a:lnSpc>
              <a:buNone/>
            </a:pPr>
            <a:r>
              <a:rPr lang="en-US" sz="345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ct val="87619"/>
              </a:lnSpc>
              <a:buNone/>
            </a:pPr>
            <a:r>
              <a:rPr lang="en-US" sz="2250" b="1" dirty="0">
                <a:solidFill>
                  <a:srgbClr val="546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→ 1 hr</a:t>
            </a:r>
            <a:endParaRPr lang="en-US" sz="3450" dirty="0"/>
          </a:p>
        </p:txBody>
      </p:sp>
      <p:sp>
        <p:nvSpPr>
          <p:cNvPr id="7" name="Shape 5"/>
          <p:cNvSpPr/>
          <p:nvPr/>
        </p:nvSpPr>
        <p:spPr>
          <a:xfrm>
            <a:off x="1171575" y="3190875"/>
            <a:ext cx="1331640" cy="219075"/>
          </a:xfrm>
          <a:prstGeom prst="roundRect">
            <a:avLst>
              <a:gd name="adj" fmla="val 50000"/>
            </a:avLst>
          </a:prstGeom>
          <a:solidFill>
            <a:srgbClr val="2E7D32">
              <a:alpha val="1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266825" y="3228975"/>
            <a:ext cx="219075" cy="1809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125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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1476375" y="3224213"/>
            <a:ext cx="100779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500"/>
              </a:lnSpc>
              <a:buNone/>
            </a:pPr>
            <a:r>
              <a:rPr lang="en-US" sz="10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8× faster · n=11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14400" y="3881438"/>
            <a:ext cx="5320085" cy="1490663"/>
          </a:xfrm>
          <a:prstGeom prst="roundRect">
            <a:avLst>
              <a:gd name="adj" fmla="val 8946"/>
            </a:avLst>
          </a:prstGeom>
          <a:solidFill>
            <a:srgbClr val="FFFFFF"/>
          </a:solidFill>
          <a:ln w="9525">
            <a:solidFill>
              <a:srgbClr val="C4D3E6"/>
            </a:solidFill>
            <a:prstDash val="solid"/>
          </a:ln>
          <a:effectLst>
            <a:outerShdw sx="100000" sy="100000" kx="0" ky="0" algn="bl" rotWithShape="0" blurRad="381000" dist="171450" dir="5400000">
              <a:srgbClr val="141C28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171575" y="4119562"/>
            <a:ext cx="528630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586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 SUCCESS RATE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1171575" y="4395788"/>
            <a:ext cx="5286308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619"/>
              </a:lnSpc>
              <a:buNone/>
            </a:pPr>
            <a:r>
              <a:rPr lang="en-US" sz="345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</a:t>
            </a:r>
            <a:pPr algn="l" indent="0" marL="0">
              <a:lnSpc>
                <a:spcPct val="87619"/>
              </a:lnSpc>
              <a:buNone/>
            </a:pPr>
            <a:r>
              <a:rPr lang="en-US" sz="2250" b="1" dirty="0">
                <a:solidFill>
                  <a:srgbClr val="546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3450" dirty="0"/>
          </a:p>
        </p:txBody>
      </p:sp>
      <p:sp>
        <p:nvSpPr>
          <p:cNvPr id="13" name="Text 11"/>
          <p:cNvSpPr/>
          <p:nvPr/>
        </p:nvSpPr>
        <p:spPr>
          <a:xfrm>
            <a:off x="1171575" y="4948238"/>
            <a:ext cx="5286308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from 19% · first-click, n=9</a:t>
            </a:r>
            <a:endParaRPr lang="en-US" sz="1125" dirty="0"/>
          </a:p>
        </p:txBody>
      </p:sp>
      <p:sp>
        <p:nvSpPr>
          <p:cNvPr id="14" name="Shape 12"/>
          <p:cNvSpPr/>
          <p:nvPr/>
        </p:nvSpPr>
        <p:spPr>
          <a:xfrm>
            <a:off x="6844085" y="1539329"/>
            <a:ext cx="38100" cy="3779341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15" name="Text 13"/>
          <p:cNvSpPr/>
          <p:nvPr/>
        </p:nvSpPr>
        <p:spPr>
          <a:xfrm>
            <a:off x="7263185" y="1539329"/>
            <a:ext cx="2770540" cy="3055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3300" spc="-33" kern="0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“It </a:t>
            </a:r>
            <a:pPr algn="l" indent="0" marL="0">
              <a:lnSpc>
                <a:spcPct val="106667"/>
              </a:lnSpc>
              <a:buNone/>
            </a:pPr>
            <a:r>
              <a:rPr lang="en-US" sz="3300" spc="-33" kern="0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cut our reporting time from a day to an hour. </a:t>
            </a:r>
            <a:pPr algn="l" indent="0" marL="0">
              <a:lnSpc>
                <a:spcPct val="106667"/>
              </a:lnSpc>
              <a:buNone/>
            </a:pPr>
            <a:r>
              <a:rPr lang="en-US" sz="3300" spc="-33" kern="0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”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7263185" y="4861471"/>
            <a:ext cx="277054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1500" spc="-15" kern="0" dirty="0">
                <a:solidFill>
                  <a:srgbClr val="546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VP of Insights, NetBase</a:t>
            </a:r>
            <a:endParaRPr lang="en-US" sz="15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2DDEC">
                  <a:alpha val="100000"/>
                </a:srgbClr>
              </a:gs>
              <a:gs pos="100000">
                <a:srgbClr val="E9EFF7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1996008"/>
            <a:ext cx="212218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372"/>
              </a:lnSpc>
              <a:buNone/>
            </a:pPr>
            <a:r>
              <a:rPr lang="en-US" sz="1425" spc="314" kern="0" dirty="0">
                <a:solidFill>
                  <a:srgbClr val="B840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APPENDIX · A6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914400" y="2367483"/>
            <a:ext cx="11399520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42"/>
              </a:lnSpc>
              <a:buNone/>
            </a:pPr>
            <a:r>
              <a:rPr lang="en-US" sz="3900" b="1" spc="-78" kern="0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Week-by-week, all fourteen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914400" y="3420889"/>
            <a:ext cx="190500" cy="1905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976D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4900" y="3497089"/>
            <a:ext cx="2400300" cy="28575"/>
          </a:xfrm>
          <a:prstGeom prst="rect">
            <a:avLst/>
          </a:prstGeom>
          <a:solidFill>
            <a:srgbClr val="C4D3E6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820939"/>
            <a:ext cx="255651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WEEKS 1–3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914400" y="4059064"/>
            <a:ext cx="255651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Discover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14400" y="4392439"/>
            <a:ext cx="2213595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410"/>
              </a:lnSpc>
              <a:buNone/>
            </a:pPr>
            <a:r>
              <a:rPr lang="en-US" sz="1275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interviews, competitive teardown, assumption log.</a:t>
            </a:r>
            <a:endParaRPr lang="en-US" sz="1275" dirty="0"/>
          </a:p>
        </p:txBody>
      </p:sp>
      <p:sp>
        <p:nvSpPr>
          <p:cNvPr id="10" name="Shape 8"/>
          <p:cNvSpPr/>
          <p:nvPr/>
        </p:nvSpPr>
        <p:spPr>
          <a:xfrm>
            <a:off x="3505200" y="3420889"/>
            <a:ext cx="190500" cy="1905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976D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95700" y="3497089"/>
            <a:ext cx="2400300" cy="28575"/>
          </a:xfrm>
          <a:prstGeom prst="rect">
            <a:avLst/>
          </a:prstGeom>
          <a:solidFill>
            <a:srgbClr val="C4D3E6"/>
          </a:solidFill>
          <a:ln/>
        </p:spPr>
      </p:sp>
      <p:sp>
        <p:nvSpPr>
          <p:cNvPr id="12" name="Text 10"/>
          <p:cNvSpPr/>
          <p:nvPr/>
        </p:nvSpPr>
        <p:spPr>
          <a:xfrm>
            <a:off x="3505200" y="3820939"/>
            <a:ext cx="255651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WEEKS 4–6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3505200" y="4059064"/>
            <a:ext cx="255651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3505200" y="4392439"/>
            <a:ext cx="2213595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410"/>
              </a:lnSpc>
              <a:buNone/>
            </a:pPr>
            <a:r>
              <a:rPr lang="en-US" sz="1275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IA, job stories, metric hierarchy, first-click test.</a:t>
            </a:r>
            <a:endParaRPr lang="en-US" sz="1275" dirty="0"/>
          </a:p>
        </p:txBody>
      </p:sp>
      <p:sp>
        <p:nvSpPr>
          <p:cNvPr id="15" name="Shape 13"/>
          <p:cNvSpPr/>
          <p:nvPr/>
        </p:nvSpPr>
        <p:spPr>
          <a:xfrm>
            <a:off x="6096000" y="3420889"/>
            <a:ext cx="190500" cy="1905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976D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86500" y="3497089"/>
            <a:ext cx="2400300" cy="28575"/>
          </a:xfrm>
          <a:prstGeom prst="rect">
            <a:avLst/>
          </a:prstGeom>
          <a:solidFill>
            <a:srgbClr val="C4D3E6"/>
          </a:solidFill>
          <a:ln/>
        </p:spPr>
      </p:sp>
      <p:sp>
        <p:nvSpPr>
          <p:cNvPr id="17" name="Text 15"/>
          <p:cNvSpPr/>
          <p:nvPr/>
        </p:nvSpPr>
        <p:spPr>
          <a:xfrm>
            <a:off x="6096000" y="3820939"/>
            <a:ext cx="255651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WEEKS 7–11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6096000" y="4059064"/>
            <a:ext cx="255651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6096000" y="4392439"/>
            <a:ext cx="2213595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410"/>
              </a:lnSpc>
              <a:buNone/>
            </a:pPr>
            <a:r>
              <a:rPr lang="en-US" sz="1275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Wireframes → hi-fi, two Maze rounds, dev spikes.</a:t>
            </a:r>
            <a:endParaRPr lang="en-US" sz="1275" dirty="0"/>
          </a:p>
        </p:txBody>
      </p:sp>
      <p:sp>
        <p:nvSpPr>
          <p:cNvPr id="20" name="Shape 18"/>
          <p:cNvSpPr/>
          <p:nvPr/>
        </p:nvSpPr>
        <p:spPr>
          <a:xfrm>
            <a:off x="8686800" y="3420889"/>
            <a:ext cx="190500" cy="1905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976D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0" y="3820939"/>
            <a:ext cx="255651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WEEKS 12–14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8686800" y="4059064"/>
            <a:ext cx="255651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8686800" y="4392439"/>
            <a:ext cx="2213595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410"/>
              </a:lnSpc>
              <a:buNone/>
            </a:pPr>
            <a:r>
              <a:rPr lang="en-US" sz="1275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handoff, spec, launch support, retro.</a:t>
            </a:r>
            <a:endParaRPr lang="en-US" sz="1275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2DDEC">
                  <a:alpha val="100000"/>
                </a:srgbClr>
              </a:gs>
              <a:gs pos="100000">
                <a:srgbClr val="E9EFF7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762000"/>
            <a:ext cx="212218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372"/>
              </a:lnSpc>
              <a:buNone/>
            </a:pPr>
            <a:r>
              <a:rPr lang="en-US" sz="1425" spc="314" kern="0" dirty="0">
                <a:solidFill>
                  <a:srgbClr val="B840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APPENDIX · A7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914400" y="1133475"/>
            <a:ext cx="11399520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42"/>
              </a:lnSpc>
              <a:buNone/>
            </a:pPr>
            <a:r>
              <a:rPr lang="en-US" sz="3900" b="1" spc="-78" kern="0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What's still open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914400" y="2165524"/>
            <a:ext cx="323850" cy="2857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6667"/>
              </a:lnSpc>
              <a:buNone/>
            </a:pPr>
            <a:r>
              <a:rPr lang="en-US" sz="195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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14400" y="2610743"/>
            <a:ext cx="3576265" cy="278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75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Acquisition unproven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914400" y="2965028"/>
            <a:ext cx="334868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730"/>
              </a:lnSpc>
              <a:buNone/>
            </a:pPr>
            <a:r>
              <a:rPr lang="en-US" sz="1200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research was with existing customers. The net-new prospect read is still an assumption, not a finding.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70350" y="2165524"/>
            <a:ext cx="323850" cy="2857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6667"/>
              </a:lnSpc>
              <a:buNone/>
            </a:pPr>
            <a:r>
              <a:rPr lang="en-US" sz="195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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4470350" y="2610743"/>
            <a:ext cx="3576347" cy="278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75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Live-query cost</a:t>
            </a:r>
            <a:endParaRPr lang="en-US" sz="1575" dirty="0"/>
          </a:p>
        </p:txBody>
      </p:sp>
      <p:sp>
        <p:nvSpPr>
          <p:cNvPr id="10" name="Text 8"/>
          <p:cNvSpPr/>
          <p:nvPr/>
        </p:nvSpPr>
        <p:spPr>
          <a:xfrm>
            <a:off x="4470350" y="2965028"/>
            <a:ext cx="3348762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730"/>
              </a:lnSpc>
              <a:buNone/>
            </a:pPr>
            <a:r>
              <a:rPr lang="en-US" sz="1200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90-second pipeline holds at current load; behavior past 3× traffic hasn't been stress-tested.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26375" y="2165524"/>
            <a:ext cx="323850" cy="2857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6667"/>
              </a:lnSpc>
              <a:buNone/>
            </a:pPr>
            <a:r>
              <a:rPr lang="en-US" sz="195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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8026375" y="2610743"/>
            <a:ext cx="3576347" cy="278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75" b="1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 fatigue</a:t>
            </a:r>
            <a:endParaRPr lang="en-US" sz="1575" dirty="0"/>
          </a:p>
        </p:txBody>
      </p:sp>
      <p:sp>
        <p:nvSpPr>
          <p:cNvPr id="13" name="Text 11"/>
          <p:cNvSpPr/>
          <p:nvPr/>
        </p:nvSpPr>
        <p:spPr>
          <a:xfrm>
            <a:off x="8026375" y="2965028"/>
            <a:ext cx="3348762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730"/>
              </a:lnSpc>
              <a:buNone/>
            </a:pPr>
            <a:r>
              <a:rPr lang="en-US" sz="1200" dirty="0">
                <a:solidFill>
                  <a:srgbClr val="54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alerts are on by default. We haven't yet measured whether teams tune or mute them over time.</a:t>
            </a:r>
            <a:endParaRPr lang="en-US" sz="12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2DDEC">
                  <a:alpha val="100000"/>
                </a:srgbClr>
              </a:gs>
              <a:gs pos="100000">
                <a:srgbClr val="E9EFF7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762000"/>
            <a:ext cx="212218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372"/>
              </a:lnSpc>
              <a:buNone/>
            </a:pPr>
            <a:r>
              <a:rPr lang="en-US" sz="1425" spc="314" kern="0" dirty="0">
                <a:solidFill>
                  <a:srgbClr val="B840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APPENDIX · A8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914400" y="1190625"/>
            <a:ext cx="11399520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542"/>
              </a:lnSpc>
              <a:buNone/>
            </a:pPr>
            <a:r>
              <a:rPr lang="en-US" sz="3900" b="1" spc="-78" kern="0" dirty="0">
                <a:solidFill>
                  <a:srgbClr val="14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 &amp; references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1162050" y="1958280"/>
            <a:ext cx="4461510" cy="842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1500" b="1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Adoption &amp; task metrics </a:t>
            </a:r>
            <a:pPr algn="l" indent="0" marL="0">
              <a:lnSpc>
                <a:spcPct val="124444"/>
              </a:lnSpc>
              <a:buNone/>
            </a:pPr>
            <a:r>
              <a:rPr lang="en-US" sz="15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NetBase internal analytics, Jan–Jun 2019; first-click study, Maze (n=9).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62050" y="2915543"/>
            <a:ext cx="4461510" cy="576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1500" b="1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Reporting-time figures </a:t>
            </a:r>
            <a:pPr algn="l" indent="0" marL="0">
              <a:lnSpc>
                <a:spcPct val="124444"/>
              </a:lnSpc>
              <a:buNone/>
            </a:pPr>
            <a:r>
              <a:rPr lang="en-US" sz="15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self-reported, post-launch analyst survey (n=11).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62050" y="3606105"/>
            <a:ext cx="4461510" cy="842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1500" b="1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matrix </a:t>
            </a:r>
            <a:pPr algn="l" indent="0" marL="0">
              <a:lnSpc>
                <a:spcPct val="124444"/>
              </a:lnSpc>
              <a:buNone/>
            </a:pPr>
            <a:r>
              <a:rPr lang="en-US" sz="15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vendor documentation and hands-on trials, Q1 2019. Feature parity as of teardown date.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62050" y="4563368"/>
            <a:ext cx="4461510" cy="576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1500" b="1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 insights </a:t>
            </a:r>
            <a:pPr algn="l" indent="0" marL="0">
              <a:lnSpc>
                <a:spcPct val="124444"/>
              </a:lnSpc>
              <a:buNone/>
            </a:pPr>
            <a:r>
              <a:rPr lang="en-US" sz="15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Dovetail project “NetBase Discovery”; tags and clips available on request.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62050" y="5253930"/>
            <a:ext cx="4461510" cy="576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1500" b="1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Quotes </a:t>
            </a:r>
            <a:pPr algn="l" indent="0" marL="0">
              <a:lnSpc>
                <a:spcPct val="124444"/>
              </a:lnSpc>
              <a:buNone/>
            </a:pPr>
            <a:r>
              <a:rPr lang="en-US" sz="1500" dirty="0">
                <a:solidFill>
                  <a:srgbClr val="141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used with permission; names retained per participant consent.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92</Slides>
  <Notes>92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9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2026-07-17T19:39:51Z</dcterms:created>
  <dcterms:modified xsi:type="dcterms:W3CDTF">2026-07-17T19:39:51Z</dcterms:modified>
</cp:coreProperties>
</file>